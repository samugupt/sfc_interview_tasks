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6" roundtripDataSignature="AMtx7mh4qpxAWYZSvvbQGZduX1J7rOaI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[0:25]</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 fuel cell turns stored chemical energy straight into electricity — no combustion, no heat engine in the path. These four numbers are the whole deck. The chemistry offers 1.23 volts. You actually get 0.70. That ratio is your efficiency. And everything you did not get comes out as heat — more heat than electricity, as we will see.</a:t>
            </a:r>
            <a:endParaRPr/>
          </a:p>
        </p:txBody>
      </p:sp>
      <p:sp>
        <p:nvSpPr>
          <p:cNvPr id="128" name="Google Shape;128;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2: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[0:40]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One idea on this slide. The membrane is a selective barrier: protons pass through it, electrons cannot. Without that, hydrogen and oxygen simply burn and you get heat. With it, the electrons are forced to take the long way round — out through your load — and that detour is the electricity. The catalyst layers either side host the reactions, and the plates feed and cool the whole thing. One cell gives well under a volt, so hundreds go in series to make a usable bus voltage.</a:t>
            </a:r>
            <a:endParaRPr/>
          </a:p>
        </p:txBody>
      </p:sp>
      <p:sp>
        <p:nvSpPr>
          <p:cNvPr id="166" name="Google Shape;16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3: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[0:30]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 will not read this table. The point is that the electrolyte is the design decision, and everything else follows from it — which ion moves sets the temperature, which sets the materials, the fuel and the application. Look at the two highlighted rows: PEMFC and DMFC share the same polymer membrane. Same physics, different fuel. Those are the two this deck takes, because low temperature means quick start and load following.</a:t>
            </a:r>
            <a:endParaRPr/>
          </a:p>
        </p:txBody>
      </p:sp>
      <p:sp>
        <p:nvSpPr>
          <p:cNvPr id="207" name="Google Shape;20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4: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[0:25]</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Worth pausing here, because layer diagrams leave the impression that a fuel cell is a tidy sandwich. It is not. On the left is a portable methanol module — the ribbed block is the stack, and it is the smallest part of the box. In the middle, solid-oxide cells need what is effectively a furnace. On the right, a hydrogen stack: you can count the cells, and those yellow wires are per-cell voltage taps.</a:t>
            </a:r>
            <a:endParaRPr/>
          </a:p>
        </p:txBody>
      </p:sp>
      <p:sp>
        <p:nvSpPr>
          <p:cNvPr id="306" name="Google Shape;30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[0:40]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Oxidation is loss of electrons, reduction is gain. At the anode each hydrogen molecule gives up two protons and two electrons. The protons cross the membrane; the electrons cannot, so they go around through your load. At the cathode the two recombine with oxygen into water. The important word is deliberately — hydrogen is never burned here. The reaction is split in two on purpose, so the electrons have to do useful work on the way round.</a:t>
            </a:r>
            <a:endParaRPr/>
          </a:p>
        </p:txBody>
      </p:sp>
      <p:sp>
        <p:nvSpPr>
          <p:cNvPr id="327" name="Google Shape;327;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6: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[0:40]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direct-methanol cell is the same cell with a different meal. Same membrane, same cathode, same product water — only the anode changes, and it changes badly. Six electrons per molecule instead of two, much slower kinetics, and a carbon dioxide stream to get rid of. The table shows the consequence: about half the cell voltage and a tenth of the power density. What you buy is a fuel you can pour, instead of a seven-hundred-bar tank.</a:t>
            </a:r>
            <a:endParaRPr/>
          </a:p>
        </p:txBody>
      </p:sp>
      <p:sp>
        <p:nvSpPr>
          <p:cNvPr id="349" name="Google Shape;349;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h404929d835aeeb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h404929d835aeeb3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Four groups of parts. The fuel path: a sealed canister of high-purity methanol, a dosing pump, and a mixing loop. A DMFC cannot run on pure methanol because too much of it would cross the membrane, so the pure fuel is diluted to about one mole per litre, using water recovered from the cathode exhaust. That is why only pure methanol has to be carried and no water tank is needed. The stack turns methanol and air into DC power, CO2 and water. The air pump supplies oxygen. The condenser and separator recover water and vent the CO2. On the electrical side, the stack voltage changes with load, so a DC/DC converter does the CC-CV charging into the battery, and the battery supplies the load. A microcontroller ties it all together.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h404929d835aeeb3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h404929d835aeeb39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is a hybrid. The battery always supplies the load. The fuel cell charges the battery. The controller sits in standby until the battery voltage or state of charge drops below a threshold. It then starts the air pump and fuel dosing, and the stack heats itself to its operating temperature, roughly 60 to 70 degrees for a portable DMFC. While running, the controller keeps the methanol concentration steady, using a concentration sensor or a sensorless estimate from stack behaviour, and water from the cathode is fed back into the loop. The charger performs CC-CV and caps the current at what the stack can deliver. When the charge current tapers below the cut-off, fuel stops and the system goes back to standby.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h404929d835aeeb39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h404929d835aeeb39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CC-CV is two control loops in the DC/DC converter. In the constant-current phase, the current is held at a limit. That limit is the smaller of what the battery accepts and what the stack can deliver at a good operating point. The voltage rises as the battery charges. Once it reaches the chemistry limit, for example 14.4 volts for a 12 volt lead-acid battery, the converter switches to constant voltage and the current falls. Charging ends when the current is below about C/20, with a timer as a backup. For lead-acid the voltage limit is temperature-compensated, a few millivolts per degree per cell, which is why the battery temperature sensor matters. The chart is illustrative, not measured.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h404929d835aeeb3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0" name="Google Shape;500;h404929d835aeeb39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Safety is organised by hazard. Fuel: methanol is flammable, with a flash point around 11 degrees, burns with an almost invisible flame, and is toxic if swallowed or absorbed through the skin. So it stays in sealed, factory-filled canisters with a keyed, self-sealing coupling, and the amount of fuel inside the unit is kept small. Stack: temperature limits, a minimum stack voltage to detect starvation, and concentration control to prevent crossover and hot spots. Frost protection is needed because there is water in the loop. Battery: the CC-CV limits live in the charger, backed by a hardware overvoltage cut-off, a temperature window, a charge timer, and fuses. Control: every fault goes to one safe state, and it is fail safe. The watchdog and the pump enable both need the software to stay alive, so a hung controller stops the fuel. The relevant product safety standard for this class is IEC 62282-5-100.</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7: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 name="Google Shape;52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[0:50]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This is the slide I would spend most time on. Voltage only ever falls, for three different reasons that dominate in three ranges. At low current the reaction is simply slow to start, and that push comes out of your voltage — the loss platinum exists to reduce. In the middle it is just resistance, and that section is a straight line, which is the giveaway that it is Ohm's law. At high current the gas cannot reach the catalyst fast enough and water floods the pores. Power is those two axes multiplied, so it rises, peaks and collapses — and note we sit left of the peak, giving up power density to buy efficiency and stack life.</a:t>
            </a:r>
            <a:endParaRPr/>
          </a:p>
        </p:txBody>
      </p:sp>
      <p:sp>
        <p:nvSpPr>
          <p:cNvPr id="530" name="Google Shape;53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8: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[0:40]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Three multiplications and one division. Area gives current: two hundred square centimetres at one amp per square centimetre is two hundred amps. Cell count gives voltage: four hundred cells at 0.70 volts is two hundred and eighty. Multiply, and the stack makes fifty-six kilowatts. Efficiency is then not a separate topic — it is the cell voltage divided by 1.48, which is 47 per cent. And the part people miss is on the right: sixty-three kilowatts leave as heat, at only sixty to eighty degrees. That means a physically large radiator.</a:t>
            </a:r>
            <a:endParaRPr/>
          </a:p>
        </p:txBody>
      </p:sp>
      <p:sp>
        <p:nvSpPr>
          <p:cNvPr id="552" name="Google Shape;55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9: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[0:40]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Two corrections to the naive picture. First, gross is not net — the air compressor alone takes several kilowatts and scales with pressure, so fifty-six becomes about forty-seven by the time the load sees it. Quoting stack power without naming the auxiliary load overstates a system badly. Second, this is where my software background connects. The controller sits entirely on the low-power side of an isolation boundary: it measures the energy path and commands the converters and contactors, but hundreds of amps never pass through it.</a:t>
            </a:r>
            <a:endParaRPr/>
          </a:p>
        </p:txBody>
      </p:sp>
      <p:sp>
        <p:nvSpPr>
          <p:cNvPr id="599" name="Google Shape;599;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0: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6" name="Google Shape;65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[0:40]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Two corrections to the naive picture. First, gross is not net — the air compressor alone takes several kilowatts and scales with pressure, so fifty-six becomes about forty-seven by the time the load sees it. Quoting stack power without naming the auxiliary load overstates a system badly. Second, this is where my software background connects. The controller sits entirely on the low-power side of an isolation boundary: it measures the energy path and commands the converters and contactors, but hundreds of amps never pass through it.</a:t>
            </a:r>
            <a:endParaRPr/>
          </a:p>
        </p:txBody>
      </p:sp>
      <p:sp>
        <p:nvSpPr>
          <p:cNvPr id="657" name="Google Shape;65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11: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9" name="Google Shape;71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[0:25]</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 not sell this slide. The grey line under each card is the more interesting half — it is what separates someone who read a brochure from someone who thought about the system. The efficiency is real, but it falls as you load the stack. Zero emissions is true, but only at the tailpipe.</a:t>
            </a:r>
            <a:endParaRPr/>
          </a:p>
        </p:txBody>
      </p:sp>
      <p:sp>
        <p:nvSpPr>
          <p:cNvPr id="720" name="Google Shape;720;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2: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4" name="Google Shape;76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[0:25]</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Group these rather than reading them. Four of the eight are about hydrogen the fuel rather than the fuel cell — carbon intensity, storage, cost, infrastructure — and those are the ones currently holding the technology back. The other four are genuinely electrochemical. And I would end on the honest comparison: for a short-range car a battery wins, and saying so is what makes the rest credible.</a:t>
            </a:r>
            <a:endParaRPr/>
          </a:p>
        </p:txBody>
      </p:sp>
      <p:sp>
        <p:nvSpPr>
          <p:cNvPr id="765" name="Google Shape;765;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3: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0" name="Google Shape;81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[0:20]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pattern is the payload here, not the six examples. High utilisation, a predictable route or site, and one concentrated fuelling node. If a duty cycle has all three, a fuel cell makes sense. If it has none, it does not — and that single test explains both the successes on this slide and the passenger-car disappointment.</a:t>
            </a:r>
            <a:endParaRPr/>
          </a:p>
        </p:txBody>
      </p:sp>
      <p:sp>
        <p:nvSpPr>
          <p:cNvPr id="811" name="Google Shape;81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14: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7" name="Google Shape;857;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[0:20]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pattern is the payload here, not the six examples. High utilisation, a predictable route or site, and one concentrated fuelling node. If a duty cycle has all three, a fuel cell makes sense. If it has none, it does not — and that single test explains both the successes on this slide and the passenger-car disappointment.</a:t>
            </a:r>
            <a:endParaRPr/>
          </a:p>
        </p:txBody>
      </p:sp>
      <p:sp>
        <p:nvSpPr>
          <p:cNvPr id="858" name="Google Shape;858;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9:notes"/>
          <p:cNvSpPr/>
          <p:nvPr>
            <p:ph idx="2" type="sldImg"/>
          </p:nvPr>
        </p:nvSpPr>
        <p:spPr>
          <a:xfrm>
            <a:off x="-6"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[0:30]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To close on the position rather than the technology. A fuel cell is a converter, not a source — hydrogen stores the energy and the cell releases it. It competes with an engine or a diesel generator, not with a battery. And it wins on a narrow, identifiable set of duty cycles. Hydrogen belongs where direct electrification is difficult, and being precise about where it does not belong is what makes everything else credible.</a:t>
            </a:r>
            <a:endParaRPr/>
          </a:p>
        </p:txBody>
      </p:sp>
      <p:sp>
        <p:nvSpPr>
          <p:cNvPr id="896" name="Google Shape;896;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2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3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23"/>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23"/>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23"/>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34"/>
          <p:cNvSpPr txBox="1"/>
          <p:nvPr>
            <p:ph type="ctrTitle"/>
          </p:nvPr>
        </p:nvSpPr>
        <p:spPr>
          <a:xfrm>
            <a:off x="514352" y="1597819"/>
            <a:ext cx="5829300" cy="11025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34"/>
          <p:cNvSpPr txBox="1"/>
          <p:nvPr>
            <p:ph idx="1" type="subTitle"/>
          </p:nvPr>
        </p:nvSpPr>
        <p:spPr>
          <a:xfrm>
            <a:off x="1028704" y="2914650"/>
            <a:ext cx="4800600" cy="131460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63" name="Google Shape;63;p34"/>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34"/>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34"/>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35"/>
          <p:cNvSpPr txBox="1"/>
          <p:nvPr>
            <p:ph type="title"/>
          </p:nvPr>
        </p:nvSpPr>
        <p:spPr>
          <a:xfrm>
            <a:off x="342901"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35"/>
          <p:cNvSpPr txBox="1"/>
          <p:nvPr>
            <p:ph idx="1" type="body"/>
          </p:nvPr>
        </p:nvSpPr>
        <p:spPr>
          <a:xfrm>
            <a:off x="342901" y="1200150"/>
            <a:ext cx="6172200" cy="33945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69" name="Google Shape;69;p35"/>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35"/>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35"/>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36"/>
          <p:cNvSpPr txBox="1"/>
          <p:nvPr>
            <p:ph type="title"/>
          </p:nvPr>
        </p:nvSpPr>
        <p:spPr>
          <a:xfrm>
            <a:off x="541737" y="3305175"/>
            <a:ext cx="5829300" cy="10215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36"/>
          <p:cNvSpPr txBox="1"/>
          <p:nvPr>
            <p:ph idx="1" type="body"/>
          </p:nvPr>
        </p:nvSpPr>
        <p:spPr>
          <a:xfrm>
            <a:off x="541737" y="2180035"/>
            <a:ext cx="5829300" cy="11253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75" name="Google Shape;75;p36"/>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36"/>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36"/>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37"/>
          <p:cNvSpPr txBox="1"/>
          <p:nvPr>
            <p:ph type="title"/>
          </p:nvPr>
        </p:nvSpPr>
        <p:spPr>
          <a:xfrm>
            <a:off x="342901"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37"/>
          <p:cNvSpPr txBox="1"/>
          <p:nvPr>
            <p:ph idx="1" type="body"/>
          </p:nvPr>
        </p:nvSpPr>
        <p:spPr>
          <a:xfrm>
            <a:off x="342901"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81" name="Google Shape;81;p37"/>
          <p:cNvSpPr txBox="1"/>
          <p:nvPr>
            <p:ph idx="2" type="body"/>
          </p:nvPr>
        </p:nvSpPr>
        <p:spPr>
          <a:xfrm>
            <a:off x="3486164"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82" name="Google Shape;82;p37"/>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37"/>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37"/>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38"/>
          <p:cNvSpPr txBox="1"/>
          <p:nvPr>
            <p:ph type="title"/>
          </p:nvPr>
        </p:nvSpPr>
        <p:spPr>
          <a:xfrm>
            <a:off x="342901"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38"/>
          <p:cNvSpPr txBox="1"/>
          <p:nvPr>
            <p:ph idx="1" type="body"/>
          </p:nvPr>
        </p:nvSpPr>
        <p:spPr>
          <a:xfrm>
            <a:off x="342901" y="1151335"/>
            <a:ext cx="3030000" cy="4800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88" name="Google Shape;88;p38"/>
          <p:cNvSpPr txBox="1"/>
          <p:nvPr>
            <p:ph idx="2" type="body"/>
          </p:nvPr>
        </p:nvSpPr>
        <p:spPr>
          <a:xfrm>
            <a:off x="342901" y="1631156"/>
            <a:ext cx="3030000" cy="2963400"/>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89" name="Google Shape;89;p38"/>
          <p:cNvSpPr txBox="1"/>
          <p:nvPr>
            <p:ph idx="3" type="body"/>
          </p:nvPr>
        </p:nvSpPr>
        <p:spPr>
          <a:xfrm>
            <a:off x="3483783" y="1151335"/>
            <a:ext cx="3031500" cy="4800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90" name="Google Shape;90;p38"/>
          <p:cNvSpPr txBox="1"/>
          <p:nvPr>
            <p:ph idx="4" type="body"/>
          </p:nvPr>
        </p:nvSpPr>
        <p:spPr>
          <a:xfrm>
            <a:off x="3483783" y="1631156"/>
            <a:ext cx="3031500" cy="2963400"/>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91" name="Google Shape;91;p38"/>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38"/>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38"/>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39"/>
          <p:cNvSpPr txBox="1"/>
          <p:nvPr>
            <p:ph type="title"/>
          </p:nvPr>
        </p:nvSpPr>
        <p:spPr>
          <a:xfrm>
            <a:off x="342901"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39"/>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39"/>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 name="Google Shape;98;p39"/>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40"/>
          <p:cNvSpPr txBox="1"/>
          <p:nvPr>
            <p:ph type="title"/>
          </p:nvPr>
        </p:nvSpPr>
        <p:spPr>
          <a:xfrm>
            <a:off x="342901" y="204788"/>
            <a:ext cx="2256300" cy="8718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40"/>
          <p:cNvSpPr txBox="1"/>
          <p:nvPr>
            <p:ph idx="1" type="body"/>
          </p:nvPr>
        </p:nvSpPr>
        <p:spPr>
          <a:xfrm>
            <a:off x="2681298" y="204788"/>
            <a:ext cx="3833700" cy="4389900"/>
          </a:xfrm>
          <a:prstGeom prst="rect">
            <a:avLst/>
          </a:prstGeom>
          <a:noFill/>
          <a:ln>
            <a:noFill/>
          </a:ln>
        </p:spPr>
        <p:txBody>
          <a:bodyPr anchorCtr="0" anchor="t" bIns="34275" lIns="68575" spcFirstLastPara="1" rIns="68575" wrap="square" tIns="34275">
            <a:norm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02" name="Google Shape;102;p40"/>
          <p:cNvSpPr txBox="1"/>
          <p:nvPr>
            <p:ph idx="2" type="body"/>
          </p:nvPr>
        </p:nvSpPr>
        <p:spPr>
          <a:xfrm>
            <a:off x="342901" y="1076325"/>
            <a:ext cx="2256300" cy="35184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03" name="Google Shape;103;p40"/>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40"/>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40"/>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41"/>
          <p:cNvSpPr txBox="1"/>
          <p:nvPr>
            <p:ph type="title"/>
          </p:nvPr>
        </p:nvSpPr>
        <p:spPr>
          <a:xfrm>
            <a:off x="1344222" y="3600450"/>
            <a:ext cx="4114800" cy="425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41"/>
          <p:cNvSpPr/>
          <p:nvPr>
            <p:ph idx="2" type="pic"/>
          </p:nvPr>
        </p:nvSpPr>
        <p:spPr>
          <a:xfrm>
            <a:off x="1344222" y="459581"/>
            <a:ext cx="4114800" cy="3086100"/>
          </a:xfrm>
          <a:prstGeom prst="rect">
            <a:avLst/>
          </a:prstGeom>
          <a:noFill/>
          <a:ln>
            <a:noFill/>
          </a:ln>
        </p:spPr>
      </p:sp>
      <p:sp>
        <p:nvSpPr>
          <p:cNvPr id="109" name="Google Shape;109;p41"/>
          <p:cNvSpPr txBox="1"/>
          <p:nvPr>
            <p:ph idx="1" type="body"/>
          </p:nvPr>
        </p:nvSpPr>
        <p:spPr>
          <a:xfrm>
            <a:off x="1344222" y="4025504"/>
            <a:ext cx="4114800" cy="6036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10" name="Google Shape;110;p41"/>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41"/>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2" name="Google Shape;112;p41"/>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42"/>
          <p:cNvSpPr txBox="1"/>
          <p:nvPr>
            <p:ph type="title"/>
          </p:nvPr>
        </p:nvSpPr>
        <p:spPr>
          <a:xfrm>
            <a:off x="342901"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42"/>
          <p:cNvSpPr txBox="1"/>
          <p:nvPr>
            <p:ph idx="1" type="body"/>
          </p:nvPr>
        </p:nvSpPr>
        <p:spPr>
          <a:xfrm rot="5400000">
            <a:off x="1731777" y="-188700"/>
            <a:ext cx="3394500" cy="61722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16" name="Google Shape;116;p42"/>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42"/>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42"/>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43"/>
          <p:cNvSpPr txBox="1"/>
          <p:nvPr>
            <p:ph type="title"/>
          </p:nvPr>
        </p:nvSpPr>
        <p:spPr>
          <a:xfrm rot="5400000">
            <a:off x="3549177" y="1628729"/>
            <a:ext cx="4388700" cy="15432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43"/>
          <p:cNvSpPr txBox="1"/>
          <p:nvPr>
            <p:ph idx="1" type="body"/>
          </p:nvPr>
        </p:nvSpPr>
        <p:spPr>
          <a:xfrm rot="5400000">
            <a:off x="405920" y="142828"/>
            <a:ext cx="4388700" cy="45150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22" name="Google Shape;122;p43"/>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43"/>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43"/>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22"/>
          <p:cNvSpPr txBox="1"/>
          <p:nvPr>
            <p:ph type="title"/>
          </p:nvPr>
        </p:nvSpPr>
        <p:spPr>
          <a:xfrm>
            <a:off x="342901" y="205978"/>
            <a:ext cx="6172200" cy="857400"/>
          </a:xfrm>
          <a:prstGeom prst="rect">
            <a:avLst/>
          </a:prstGeom>
          <a:noFill/>
          <a:ln>
            <a:noFill/>
          </a:ln>
        </p:spPr>
        <p:txBody>
          <a:bodyPr anchorCtr="0" anchor="ctr" bIns="34275" lIns="68575" spcFirstLastPara="1" rIns="68575" wrap="square" tIns="34275">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22"/>
          <p:cNvSpPr txBox="1"/>
          <p:nvPr>
            <p:ph idx="1" type="body"/>
          </p:nvPr>
        </p:nvSpPr>
        <p:spPr>
          <a:xfrm>
            <a:off x="342901" y="1200150"/>
            <a:ext cx="6172200" cy="33945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22"/>
          <p:cNvSpPr txBox="1"/>
          <p:nvPr>
            <p:ph idx="10" type="dt"/>
          </p:nvPr>
        </p:nvSpPr>
        <p:spPr>
          <a:xfrm>
            <a:off x="342901" y="4767263"/>
            <a:ext cx="16002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4" name="Google Shape;54;p22"/>
          <p:cNvSpPr txBox="1"/>
          <p:nvPr>
            <p:ph idx="11" type="ftr"/>
          </p:nvPr>
        </p:nvSpPr>
        <p:spPr>
          <a:xfrm>
            <a:off x="2343160" y="4767263"/>
            <a:ext cx="21717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5" name="Google Shape;55;p22"/>
          <p:cNvSpPr txBox="1"/>
          <p:nvPr>
            <p:ph idx="12" type="sldNum"/>
          </p:nvPr>
        </p:nvSpPr>
        <p:spPr>
          <a:xfrm>
            <a:off x="4914920" y="4767263"/>
            <a:ext cx="16002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7.png"/><Relationship Id="rId6" Type="http://schemas.openxmlformats.org/officeDocument/2006/relationships/image" Target="../media/image24.png"/><Relationship Id="rId7" Type="http://schemas.openxmlformats.org/officeDocument/2006/relationships/image" Target="../media/image9.png"/><Relationship Id="rId8"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25.png"/><Relationship Id="rId10" Type="http://schemas.openxmlformats.org/officeDocument/2006/relationships/image" Target="../media/image28.png"/><Relationship Id="rId9"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13.png"/><Relationship Id="rId8"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27.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30"/>
        </a:solidFill>
      </p:bgPr>
    </p:bg>
    <p:spTree>
      <p:nvGrpSpPr>
        <p:cNvPr id="129" name="Shape 129"/>
        <p:cNvGrpSpPr/>
        <p:nvPr/>
      </p:nvGrpSpPr>
      <p:grpSpPr>
        <a:xfrm>
          <a:off x="0" y="0"/>
          <a:ext cx="0" cy="0"/>
          <a:chOff x="0" y="0"/>
          <a:chExt cx="0" cy="0"/>
        </a:xfrm>
      </p:grpSpPr>
      <p:sp>
        <p:nvSpPr>
          <p:cNvPr id="130" name="Google Shape;130;p1"/>
          <p:cNvSpPr/>
          <p:nvPr/>
        </p:nvSpPr>
        <p:spPr>
          <a:xfrm>
            <a:off x="0" y="0"/>
            <a:ext cx="9144000" cy="5143500"/>
          </a:xfrm>
          <a:prstGeom prst="rect">
            <a:avLst/>
          </a:prstGeom>
          <a:solidFill>
            <a:srgbClr val="0A253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1" name="Google Shape;131;p1"/>
          <p:cNvSpPr txBox="1"/>
          <p:nvPr/>
        </p:nvSpPr>
        <p:spPr>
          <a:xfrm>
            <a:off x="342901" y="891540"/>
            <a:ext cx="6583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FUEL CELL TECHNOLOGY</a:t>
            </a:r>
            <a:endParaRPr b="0" i="0" sz="1100" u="none" cap="none" strike="noStrike">
              <a:solidFill>
                <a:srgbClr val="000000"/>
              </a:solidFill>
              <a:latin typeface="Arial"/>
              <a:ea typeface="Arial"/>
              <a:cs typeface="Arial"/>
              <a:sym typeface="Arial"/>
            </a:endParaRPr>
          </a:p>
        </p:txBody>
      </p:sp>
      <p:sp>
        <p:nvSpPr>
          <p:cNvPr id="132" name="Google Shape;132;p1"/>
          <p:cNvSpPr txBox="1"/>
          <p:nvPr/>
        </p:nvSpPr>
        <p:spPr>
          <a:xfrm>
            <a:off x="342901" y="1124712"/>
            <a:ext cx="7955400" cy="68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3000"/>
              <a:buFont typeface="Arial"/>
              <a:buNone/>
            </a:pPr>
            <a:r>
              <a:rPr b="1" i="0" lang="en" sz="3000" u="none" cap="none" strike="noStrike">
                <a:solidFill>
                  <a:srgbClr val="FFFFFF"/>
                </a:solidFill>
                <a:latin typeface="Arial"/>
                <a:ea typeface="Arial"/>
                <a:cs typeface="Arial"/>
                <a:sym typeface="Arial"/>
              </a:rPr>
              <a:t>Fuel Cells</a:t>
            </a:r>
            <a:endParaRPr b="0" i="0" sz="1100" u="none" cap="none" strike="noStrike">
              <a:solidFill>
                <a:srgbClr val="000000"/>
              </a:solidFill>
              <a:latin typeface="Arial"/>
              <a:ea typeface="Arial"/>
              <a:cs typeface="Arial"/>
              <a:sym typeface="Arial"/>
            </a:endParaRPr>
          </a:p>
        </p:txBody>
      </p:sp>
      <p:sp>
        <p:nvSpPr>
          <p:cNvPr id="133" name="Google Shape;133;p1"/>
          <p:cNvSpPr txBox="1"/>
          <p:nvPr/>
        </p:nvSpPr>
        <p:spPr>
          <a:xfrm>
            <a:off x="342901" y="1796796"/>
            <a:ext cx="6995400" cy="2331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9FB6C0"/>
                </a:solidFill>
                <a:latin typeface="Arial"/>
                <a:ea typeface="Arial"/>
                <a:cs typeface="Arial"/>
                <a:sym typeface="Arial"/>
              </a:rPr>
              <a:t>How they work, what they produce, and where they belong — the low-temperature cells, PEMFC and DMFC.</a:t>
            </a:r>
            <a:endParaRPr b="0" i="0" sz="1100" u="none" cap="none" strike="noStrike">
              <a:solidFill>
                <a:srgbClr val="000000"/>
              </a:solidFill>
              <a:latin typeface="Arial"/>
              <a:ea typeface="Arial"/>
              <a:cs typeface="Arial"/>
              <a:sym typeface="Arial"/>
            </a:endParaRPr>
          </a:p>
        </p:txBody>
      </p:sp>
      <p:sp>
        <p:nvSpPr>
          <p:cNvPr id="134" name="Google Shape;134;p1"/>
          <p:cNvSpPr/>
          <p:nvPr/>
        </p:nvSpPr>
        <p:spPr>
          <a:xfrm>
            <a:off x="377192" y="2331720"/>
            <a:ext cx="1960200" cy="1111200"/>
          </a:xfrm>
          <a:prstGeom prst="roundRect">
            <a:avLst>
              <a:gd fmla="val 4320"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5" name="Google Shape;135;p1"/>
          <p:cNvSpPr txBox="1"/>
          <p:nvPr/>
        </p:nvSpPr>
        <p:spPr>
          <a:xfrm>
            <a:off x="493778" y="2414016"/>
            <a:ext cx="15090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C77A12"/>
                </a:solidFill>
                <a:latin typeface="Arial"/>
                <a:ea typeface="Arial"/>
                <a:cs typeface="Arial"/>
                <a:sym typeface="Arial"/>
              </a:rPr>
              <a:t>1.23 V</a:t>
            </a:r>
            <a:endParaRPr b="0" i="0" sz="1100" u="none" cap="none" strike="noStrike">
              <a:solidFill>
                <a:srgbClr val="000000"/>
              </a:solidFill>
              <a:latin typeface="Arial"/>
              <a:ea typeface="Arial"/>
              <a:cs typeface="Arial"/>
              <a:sym typeface="Arial"/>
            </a:endParaRPr>
          </a:p>
        </p:txBody>
      </p:sp>
      <p:sp>
        <p:nvSpPr>
          <p:cNvPr id="136" name="Google Shape;136;p1"/>
          <p:cNvSpPr txBox="1"/>
          <p:nvPr/>
        </p:nvSpPr>
        <p:spPr>
          <a:xfrm>
            <a:off x="493778" y="2798064"/>
            <a:ext cx="17271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the ceiling</a:t>
            </a:r>
            <a:endParaRPr b="0" i="0" sz="1100" u="none" cap="none" strike="noStrike">
              <a:solidFill>
                <a:srgbClr val="000000"/>
              </a:solidFill>
              <a:latin typeface="Arial"/>
              <a:ea typeface="Arial"/>
              <a:cs typeface="Arial"/>
              <a:sym typeface="Arial"/>
            </a:endParaRPr>
          </a:p>
        </p:txBody>
      </p:sp>
      <p:sp>
        <p:nvSpPr>
          <p:cNvPr id="137" name="Google Shape;137;p1"/>
          <p:cNvSpPr txBox="1"/>
          <p:nvPr/>
        </p:nvSpPr>
        <p:spPr>
          <a:xfrm>
            <a:off x="493778" y="2976372"/>
            <a:ext cx="17271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8CA6B2"/>
                </a:solidFill>
                <a:latin typeface="Arial"/>
                <a:ea typeface="Arial"/>
                <a:cs typeface="Arial"/>
                <a:sym typeface="Arial"/>
              </a:rPr>
              <a:t>the most the chemistry</a:t>
            </a:r>
            <a:endParaRPr b="0" i="0" sz="1100" u="none" cap="none" strike="noStrike">
              <a:solidFill>
                <a:srgbClr val="000000"/>
              </a:solidFill>
              <a:latin typeface="Arial"/>
              <a:ea typeface="Arial"/>
              <a:cs typeface="Arial"/>
              <a:sym typeface="Arial"/>
            </a:endParaRPr>
          </a:p>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8CA6B2"/>
                </a:solidFill>
                <a:latin typeface="Arial"/>
                <a:ea typeface="Arial"/>
                <a:cs typeface="Arial"/>
                <a:sym typeface="Arial"/>
              </a:rPr>
              <a:t>can ever give</a:t>
            </a:r>
            <a:endParaRPr b="0" i="0" sz="1100" u="none" cap="none" strike="noStrike">
              <a:solidFill>
                <a:srgbClr val="000000"/>
              </a:solidFill>
              <a:latin typeface="Arial"/>
              <a:ea typeface="Arial"/>
              <a:cs typeface="Arial"/>
              <a:sym typeface="Arial"/>
            </a:endParaRPr>
          </a:p>
        </p:txBody>
      </p:sp>
      <p:sp>
        <p:nvSpPr>
          <p:cNvPr id="138" name="Google Shape;138;p1"/>
          <p:cNvSpPr/>
          <p:nvPr/>
        </p:nvSpPr>
        <p:spPr>
          <a:xfrm>
            <a:off x="2543162" y="2331720"/>
            <a:ext cx="1960200" cy="1111200"/>
          </a:xfrm>
          <a:prstGeom prst="roundRect">
            <a:avLst>
              <a:gd fmla="val 4320"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9" name="Google Shape;139;p1"/>
          <p:cNvSpPr txBox="1"/>
          <p:nvPr/>
        </p:nvSpPr>
        <p:spPr>
          <a:xfrm>
            <a:off x="2659749" y="2414016"/>
            <a:ext cx="15090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C77A12"/>
                </a:solidFill>
                <a:latin typeface="Arial"/>
                <a:ea typeface="Arial"/>
                <a:cs typeface="Arial"/>
                <a:sym typeface="Arial"/>
              </a:rPr>
              <a:t>0.70 V</a:t>
            </a:r>
            <a:endParaRPr b="0" i="0" sz="1100" u="none" cap="none" strike="noStrike">
              <a:solidFill>
                <a:srgbClr val="000000"/>
              </a:solidFill>
              <a:latin typeface="Arial"/>
              <a:ea typeface="Arial"/>
              <a:cs typeface="Arial"/>
              <a:sym typeface="Arial"/>
            </a:endParaRPr>
          </a:p>
        </p:txBody>
      </p:sp>
      <p:sp>
        <p:nvSpPr>
          <p:cNvPr id="140" name="Google Shape;140;p1"/>
          <p:cNvSpPr txBox="1"/>
          <p:nvPr/>
        </p:nvSpPr>
        <p:spPr>
          <a:xfrm>
            <a:off x="2659749" y="2798064"/>
            <a:ext cx="17271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what you get</a:t>
            </a:r>
            <a:endParaRPr b="0" i="0" sz="1100" u="none" cap="none" strike="noStrike">
              <a:solidFill>
                <a:srgbClr val="000000"/>
              </a:solidFill>
              <a:latin typeface="Arial"/>
              <a:ea typeface="Arial"/>
              <a:cs typeface="Arial"/>
              <a:sym typeface="Arial"/>
            </a:endParaRPr>
          </a:p>
        </p:txBody>
      </p:sp>
      <p:sp>
        <p:nvSpPr>
          <p:cNvPr id="141" name="Google Shape;141;p1"/>
          <p:cNvSpPr txBox="1"/>
          <p:nvPr/>
        </p:nvSpPr>
        <p:spPr>
          <a:xfrm>
            <a:off x="2659749" y="2976372"/>
            <a:ext cx="17271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8CA6B2"/>
                </a:solidFill>
                <a:latin typeface="Arial"/>
                <a:ea typeface="Arial"/>
                <a:cs typeface="Arial"/>
                <a:sym typeface="Arial"/>
              </a:rPr>
              <a:t>loaded, at the design</a:t>
            </a:r>
            <a:endParaRPr b="0" i="0" sz="1100" u="none" cap="none" strike="noStrike">
              <a:solidFill>
                <a:srgbClr val="000000"/>
              </a:solidFill>
              <a:latin typeface="Arial"/>
              <a:ea typeface="Arial"/>
              <a:cs typeface="Arial"/>
              <a:sym typeface="Arial"/>
            </a:endParaRPr>
          </a:p>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8CA6B2"/>
                </a:solidFill>
                <a:latin typeface="Arial"/>
                <a:ea typeface="Arial"/>
                <a:cs typeface="Arial"/>
                <a:sym typeface="Arial"/>
              </a:rPr>
              <a:t>operating point</a:t>
            </a:r>
            <a:endParaRPr b="0" i="0" sz="1100" u="none" cap="none" strike="noStrike">
              <a:solidFill>
                <a:srgbClr val="000000"/>
              </a:solidFill>
              <a:latin typeface="Arial"/>
              <a:ea typeface="Arial"/>
              <a:cs typeface="Arial"/>
              <a:sym typeface="Arial"/>
            </a:endParaRPr>
          </a:p>
        </p:txBody>
      </p:sp>
      <p:sp>
        <p:nvSpPr>
          <p:cNvPr id="142" name="Google Shape;142;p1"/>
          <p:cNvSpPr/>
          <p:nvPr/>
        </p:nvSpPr>
        <p:spPr>
          <a:xfrm>
            <a:off x="4709134" y="2331720"/>
            <a:ext cx="1960200" cy="1111200"/>
          </a:xfrm>
          <a:prstGeom prst="roundRect">
            <a:avLst>
              <a:gd fmla="val 4320"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3" name="Google Shape;143;p1"/>
          <p:cNvSpPr txBox="1"/>
          <p:nvPr/>
        </p:nvSpPr>
        <p:spPr>
          <a:xfrm>
            <a:off x="4825720" y="2414016"/>
            <a:ext cx="15090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C77A12"/>
                </a:solidFill>
                <a:latin typeface="Arial"/>
                <a:ea typeface="Arial"/>
                <a:cs typeface="Arial"/>
                <a:sym typeface="Arial"/>
              </a:rPr>
              <a:t>47 %</a:t>
            </a:r>
            <a:endParaRPr b="0" i="0" sz="1100" u="none" cap="none" strike="noStrike">
              <a:solidFill>
                <a:srgbClr val="000000"/>
              </a:solidFill>
              <a:latin typeface="Arial"/>
              <a:ea typeface="Arial"/>
              <a:cs typeface="Arial"/>
              <a:sym typeface="Arial"/>
            </a:endParaRPr>
          </a:p>
        </p:txBody>
      </p:sp>
      <p:sp>
        <p:nvSpPr>
          <p:cNvPr id="144" name="Google Shape;144;p1"/>
          <p:cNvSpPr txBox="1"/>
          <p:nvPr/>
        </p:nvSpPr>
        <p:spPr>
          <a:xfrm>
            <a:off x="4825720" y="2798064"/>
            <a:ext cx="17271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efficiency</a:t>
            </a:r>
            <a:endParaRPr b="0" i="0" sz="1100" u="none" cap="none" strike="noStrike">
              <a:solidFill>
                <a:srgbClr val="000000"/>
              </a:solidFill>
              <a:latin typeface="Arial"/>
              <a:ea typeface="Arial"/>
              <a:cs typeface="Arial"/>
              <a:sym typeface="Arial"/>
            </a:endParaRPr>
          </a:p>
        </p:txBody>
      </p:sp>
      <p:sp>
        <p:nvSpPr>
          <p:cNvPr id="145" name="Google Shape;145;p1"/>
          <p:cNvSpPr txBox="1"/>
          <p:nvPr/>
        </p:nvSpPr>
        <p:spPr>
          <a:xfrm>
            <a:off x="4825720" y="2976372"/>
            <a:ext cx="17271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8CA6B2"/>
                </a:solidFill>
                <a:latin typeface="Arial"/>
                <a:ea typeface="Arial"/>
                <a:cs typeface="Arial"/>
                <a:sym typeface="Arial"/>
              </a:rPr>
              <a:t>and it is simply</a:t>
            </a:r>
            <a:endParaRPr b="0" i="0" sz="1100" u="none" cap="none" strike="noStrike">
              <a:solidFill>
                <a:srgbClr val="000000"/>
              </a:solidFill>
              <a:latin typeface="Arial"/>
              <a:ea typeface="Arial"/>
              <a:cs typeface="Arial"/>
              <a:sym typeface="Arial"/>
            </a:endParaRPr>
          </a:p>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8CA6B2"/>
                </a:solidFill>
                <a:latin typeface="Arial"/>
                <a:ea typeface="Arial"/>
                <a:cs typeface="Arial"/>
                <a:sym typeface="Arial"/>
              </a:rPr>
              <a:t>those two divided</a:t>
            </a:r>
            <a:endParaRPr b="0" i="0" sz="1100" u="none" cap="none" strike="noStrike">
              <a:solidFill>
                <a:srgbClr val="000000"/>
              </a:solidFill>
              <a:latin typeface="Arial"/>
              <a:ea typeface="Arial"/>
              <a:cs typeface="Arial"/>
              <a:sym typeface="Arial"/>
            </a:endParaRPr>
          </a:p>
        </p:txBody>
      </p:sp>
      <p:sp>
        <p:nvSpPr>
          <p:cNvPr id="146" name="Google Shape;146;p1"/>
          <p:cNvSpPr/>
          <p:nvPr/>
        </p:nvSpPr>
        <p:spPr>
          <a:xfrm>
            <a:off x="6875104" y="2331720"/>
            <a:ext cx="1960200" cy="1111200"/>
          </a:xfrm>
          <a:prstGeom prst="roundRect">
            <a:avLst>
              <a:gd fmla="val 4320"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7" name="Google Shape;147;p1"/>
          <p:cNvSpPr txBox="1"/>
          <p:nvPr/>
        </p:nvSpPr>
        <p:spPr>
          <a:xfrm>
            <a:off x="6991691" y="2414016"/>
            <a:ext cx="15090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C77A12"/>
                </a:solidFill>
                <a:latin typeface="Arial"/>
                <a:ea typeface="Arial"/>
                <a:cs typeface="Arial"/>
                <a:sym typeface="Arial"/>
              </a:rPr>
              <a:t>63 kW</a:t>
            </a:r>
            <a:endParaRPr b="0" i="0" sz="1100" u="none" cap="none" strike="noStrike">
              <a:solidFill>
                <a:srgbClr val="000000"/>
              </a:solidFill>
              <a:latin typeface="Arial"/>
              <a:ea typeface="Arial"/>
              <a:cs typeface="Arial"/>
              <a:sym typeface="Arial"/>
            </a:endParaRPr>
          </a:p>
        </p:txBody>
      </p:sp>
      <p:sp>
        <p:nvSpPr>
          <p:cNvPr id="148" name="Google Shape;148;p1"/>
          <p:cNvSpPr txBox="1"/>
          <p:nvPr/>
        </p:nvSpPr>
        <p:spPr>
          <a:xfrm>
            <a:off x="6991691" y="2798064"/>
            <a:ext cx="17271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of heat</a:t>
            </a:r>
            <a:endParaRPr b="0" i="0" sz="1100" u="none" cap="none" strike="noStrike">
              <a:solidFill>
                <a:srgbClr val="000000"/>
              </a:solidFill>
              <a:latin typeface="Arial"/>
              <a:ea typeface="Arial"/>
              <a:cs typeface="Arial"/>
              <a:sym typeface="Arial"/>
            </a:endParaRPr>
          </a:p>
        </p:txBody>
      </p:sp>
      <p:sp>
        <p:nvSpPr>
          <p:cNvPr id="149" name="Google Shape;149;p1"/>
          <p:cNvSpPr txBox="1"/>
          <p:nvPr/>
        </p:nvSpPr>
        <p:spPr>
          <a:xfrm>
            <a:off x="6991691" y="2976372"/>
            <a:ext cx="17271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8CA6B2"/>
                </a:solidFill>
                <a:latin typeface="Arial"/>
                <a:ea typeface="Arial"/>
                <a:cs typeface="Arial"/>
                <a:sym typeface="Arial"/>
              </a:rPr>
              <a:t>from a stack making</a:t>
            </a:r>
            <a:endParaRPr b="0" i="0" sz="1100" u="none" cap="none" strike="noStrike">
              <a:solidFill>
                <a:srgbClr val="000000"/>
              </a:solidFill>
              <a:latin typeface="Arial"/>
              <a:ea typeface="Arial"/>
              <a:cs typeface="Arial"/>
              <a:sym typeface="Arial"/>
            </a:endParaRPr>
          </a:p>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8CA6B2"/>
                </a:solidFill>
                <a:latin typeface="Arial"/>
                <a:ea typeface="Arial"/>
                <a:cs typeface="Arial"/>
                <a:sym typeface="Arial"/>
              </a:rPr>
              <a:t>56 kW of electricity</a:t>
            </a:r>
            <a:endParaRPr b="0" i="0" sz="1100" u="none" cap="none" strike="noStrike">
              <a:solidFill>
                <a:srgbClr val="000000"/>
              </a:solidFill>
              <a:latin typeface="Arial"/>
              <a:ea typeface="Arial"/>
              <a:cs typeface="Arial"/>
              <a:sym typeface="Arial"/>
            </a:endParaRPr>
          </a:p>
        </p:txBody>
      </p:sp>
      <p:sp>
        <p:nvSpPr>
          <p:cNvPr id="150" name="Google Shape;150;p1"/>
          <p:cNvSpPr txBox="1"/>
          <p:nvPr/>
        </p:nvSpPr>
        <p:spPr>
          <a:xfrm>
            <a:off x="342901" y="3566160"/>
            <a:ext cx="83895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WHAT THIS COVERS</a:t>
            </a:r>
            <a:endParaRPr b="0" i="0" sz="1100" u="none" cap="none" strike="noStrike">
              <a:solidFill>
                <a:srgbClr val="000000"/>
              </a:solidFill>
              <a:latin typeface="Arial"/>
              <a:ea typeface="Arial"/>
              <a:cs typeface="Arial"/>
              <a:sym typeface="Arial"/>
            </a:endParaRPr>
          </a:p>
        </p:txBody>
      </p:sp>
      <p:sp>
        <p:nvSpPr>
          <p:cNvPr id="151" name="Google Shape;151;p1"/>
          <p:cNvSpPr txBox="1"/>
          <p:nvPr/>
        </p:nvSpPr>
        <p:spPr>
          <a:xfrm>
            <a:off x="342901" y="3749039"/>
            <a:ext cx="7545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7E97A2"/>
                </a:solidFill>
                <a:latin typeface="Arial"/>
                <a:ea typeface="Arial"/>
                <a:cs typeface="Arial"/>
                <a:sym typeface="Arial"/>
              </a:rPr>
              <a:t>1 – 4</a:t>
            </a:r>
            <a:endParaRPr b="0" i="0" sz="1100" u="none" cap="none" strike="noStrike">
              <a:solidFill>
                <a:srgbClr val="000000"/>
              </a:solidFill>
              <a:latin typeface="Arial"/>
              <a:ea typeface="Arial"/>
              <a:cs typeface="Arial"/>
              <a:sym typeface="Arial"/>
            </a:endParaRPr>
          </a:p>
        </p:txBody>
      </p:sp>
      <p:sp>
        <p:nvSpPr>
          <p:cNvPr id="152" name="Google Shape;152;p1"/>
          <p:cNvSpPr txBox="1"/>
          <p:nvPr/>
        </p:nvSpPr>
        <p:spPr>
          <a:xfrm>
            <a:off x="1097285" y="3749039"/>
            <a:ext cx="74067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9FB6C0"/>
                </a:solidFill>
                <a:latin typeface="Arial"/>
                <a:ea typeface="Arial"/>
                <a:cs typeface="Arial"/>
                <a:sym typeface="Arial"/>
              </a:rPr>
              <a:t>What a fuel cell is, the main types, and what they look like</a:t>
            </a:r>
            <a:endParaRPr b="0" i="0" sz="1100" u="none" cap="none" strike="noStrike">
              <a:solidFill>
                <a:srgbClr val="000000"/>
              </a:solidFill>
              <a:latin typeface="Arial"/>
              <a:ea typeface="Arial"/>
              <a:cs typeface="Arial"/>
              <a:sym typeface="Arial"/>
            </a:endParaRPr>
          </a:p>
        </p:txBody>
      </p:sp>
      <p:sp>
        <p:nvSpPr>
          <p:cNvPr id="153" name="Google Shape;153;p1"/>
          <p:cNvSpPr txBox="1"/>
          <p:nvPr/>
        </p:nvSpPr>
        <p:spPr>
          <a:xfrm>
            <a:off x="342901" y="3945635"/>
            <a:ext cx="7545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7E97A2"/>
                </a:solidFill>
                <a:latin typeface="Arial"/>
                <a:ea typeface="Arial"/>
                <a:cs typeface="Arial"/>
                <a:sym typeface="Arial"/>
              </a:rPr>
              <a:t>5 – 6</a:t>
            </a:r>
            <a:endParaRPr b="0" i="0" sz="1100" u="none" cap="none" strike="noStrike">
              <a:solidFill>
                <a:srgbClr val="000000"/>
              </a:solidFill>
              <a:latin typeface="Arial"/>
              <a:ea typeface="Arial"/>
              <a:cs typeface="Arial"/>
              <a:sym typeface="Arial"/>
            </a:endParaRPr>
          </a:p>
        </p:txBody>
      </p:sp>
      <p:sp>
        <p:nvSpPr>
          <p:cNvPr id="154" name="Google Shape;154;p1"/>
          <p:cNvSpPr txBox="1"/>
          <p:nvPr/>
        </p:nvSpPr>
        <p:spPr>
          <a:xfrm>
            <a:off x="1097285" y="3945635"/>
            <a:ext cx="74067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9FB6C0"/>
                </a:solidFill>
                <a:latin typeface="Arial"/>
                <a:ea typeface="Arial"/>
                <a:cs typeface="Arial"/>
                <a:sym typeface="Arial"/>
              </a:rPr>
              <a:t>How a PEMFC works, the direct-methanol variant, and how to choose</a:t>
            </a:r>
            <a:endParaRPr b="0" i="0" sz="1100" u="none" cap="none" strike="noStrike">
              <a:solidFill>
                <a:srgbClr val="000000"/>
              </a:solidFill>
              <a:latin typeface="Arial"/>
              <a:ea typeface="Arial"/>
              <a:cs typeface="Arial"/>
              <a:sym typeface="Arial"/>
            </a:endParaRPr>
          </a:p>
        </p:txBody>
      </p:sp>
      <p:sp>
        <p:nvSpPr>
          <p:cNvPr id="155" name="Google Shape;155;p1"/>
          <p:cNvSpPr txBox="1"/>
          <p:nvPr/>
        </p:nvSpPr>
        <p:spPr>
          <a:xfrm>
            <a:off x="342901" y="4142231"/>
            <a:ext cx="7545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7E97A2"/>
                </a:solidFill>
                <a:latin typeface="Arial"/>
                <a:ea typeface="Arial"/>
                <a:cs typeface="Arial"/>
                <a:sym typeface="Arial"/>
              </a:rPr>
              <a:t>7 – 8</a:t>
            </a:r>
            <a:endParaRPr b="0" i="0" sz="1100" u="none" cap="none" strike="noStrike">
              <a:solidFill>
                <a:srgbClr val="000000"/>
              </a:solidFill>
              <a:latin typeface="Arial"/>
              <a:ea typeface="Arial"/>
              <a:cs typeface="Arial"/>
              <a:sym typeface="Arial"/>
            </a:endParaRPr>
          </a:p>
        </p:txBody>
      </p:sp>
      <p:sp>
        <p:nvSpPr>
          <p:cNvPr id="156" name="Google Shape;156;p1"/>
          <p:cNvSpPr txBox="1"/>
          <p:nvPr/>
        </p:nvSpPr>
        <p:spPr>
          <a:xfrm>
            <a:off x="1088537" y="4142231"/>
            <a:ext cx="74067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9FB6C0"/>
                </a:solidFill>
                <a:latin typeface="Arial"/>
                <a:ea typeface="Arial"/>
                <a:cs typeface="Arial"/>
                <a:sym typeface="Arial"/>
              </a:rPr>
              <a:t>The polarisation curve, and the numbers it produces</a:t>
            </a:r>
            <a:endParaRPr b="0" i="0" sz="1100" u="none" cap="none" strike="noStrike">
              <a:solidFill>
                <a:srgbClr val="000000"/>
              </a:solidFill>
              <a:latin typeface="Arial"/>
              <a:ea typeface="Arial"/>
              <a:cs typeface="Arial"/>
              <a:sym typeface="Arial"/>
            </a:endParaRPr>
          </a:p>
        </p:txBody>
      </p:sp>
      <p:sp>
        <p:nvSpPr>
          <p:cNvPr id="157" name="Google Shape;157;p1"/>
          <p:cNvSpPr txBox="1"/>
          <p:nvPr/>
        </p:nvSpPr>
        <p:spPr>
          <a:xfrm>
            <a:off x="342901" y="4338827"/>
            <a:ext cx="7545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7E97A2"/>
                </a:solidFill>
                <a:latin typeface="Arial"/>
                <a:ea typeface="Arial"/>
                <a:cs typeface="Arial"/>
                <a:sym typeface="Arial"/>
              </a:rPr>
              <a:t>9 – 10</a:t>
            </a:r>
            <a:endParaRPr b="0" i="0" sz="1100" u="none" cap="none" strike="noStrike">
              <a:solidFill>
                <a:srgbClr val="000000"/>
              </a:solidFill>
              <a:latin typeface="Arial"/>
              <a:ea typeface="Arial"/>
              <a:cs typeface="Arial"/>
              <a:sym typeface="Arial"/>
            </a:endParaRPr>
          </a:p>
        </p:txBody>
      </p:sp>
      <p:sp>
        <p:nvSpPr>
          <p:cNvPr id="158" name="Google Shape;158;p1"/>
          <p:cNvSpPr txBox="1"/>
          <p:nvPr/>
        </p:nvSpPr>
        <p:spPr>
          <a:xfrm>
            <a:off x="1088537" y="4338827"/>
            <a:ext cx="74067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9FB6C0"/>
                </a:solidFill>
                <a:latin typeface="Arial"/>
                <a:ea typeface="Arial"/>
                <a:cs typeface="Arial"/>
                <a:sym typeface="Arial"/>
              </a:rPr>
              <a:t>The system around the stack, and where the technology belongs, embedded part of (µC)</a:t>
            </a:r>
            <a:endParaRPr b="0" i="0" sz="1100" u="none" cap="none" strike="noStrike">
              <a:solidFill>
                <a:srgbClr val="000000"/>
              </a:solidFill>
              <a:latin typeface="Arial"/>
              <a:ea typeface="Arial"/>
              <a:cs typeface="Arial"/>
              <a:sym typeface="Arial"/>
            </a:endParaRPr>
          </a:p>
        </p:txBody>
      </p:sp>
      <p:sp>
        <p:nvSpPr>
          <p:cNvPr id="159" name="Google Shape;159;p1"/>
          <p:cNvSpPr txBox="1"/>
          <p:nvPr/>
        </p:nvSpPr>
        <p:spPr>
          <a:xfrm>
            <a:off x="329100" y="4535424"/>
            <a:ext cx="7545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7E97A2"/>
                </a:solidFill>
                <a:latin typeface="Arial"/>
                <a:ea typeface="Arial"/>
                <a:cs typeface="Arial"/>
                <a:sym typeface="Arial"/>
              </a:rPr>
              <a:t>11 – 14</a:t>
            </a:r>
            <a:endParaRPr b="0" i="0" sz="1100" u="none" cap="none" strike="noStrike">
              <a:solidFill>
                <a:srgbClr val="000000"/>
              </a:solidFill>
              <a:latin typeface="Arial"/>
              <a:ea typeface="Arial"/>
              <a:cs typeface="Arial"/>
              <a:sym typeface="Arial"/>
            </a:endParaRPr>
          </a:p>
        </p:txBody>
      </p:sp>
      <p:sp>
        <p:nvSpPr>
          <p:cNvPr id="160" name="Google Shape;160;p1"/>
          <p:cNvSpPr txBox="1"/>
          <p:nvPr/>
        </p:nvSpPr>
        <p:spPr>
          <a:xfrm>
            <a:off x="329100" y="4732020"/>
            <a:ext cx="7545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7E97A2"/>
                </a:solidFill>
                <a:latin typeface="Arial"/>
                <a:ea typeface="Arial"/>
                <a:cs typeface="Arial"/>
                <a:sym typeface="Arial"/>
              </a:rPr>
              <a:t>15 – 18</a:t>
            </a:r>
            <a:endParaRPr b="0" i="0" sz="1100" u="none" cap="none" strike="noStrike">
              <a:solidFill>
                <a:srgbClr val="000000"/>
              </a:solidFill>
              <a:latin typeface="Arial"/>
              <a:ea typeface="Arial"/>
              <a:cs typeface="Arial"/>
              <a:sym typeface="Arial"/>
            </a:endParaRPr>
          </a:p>
        </p:txBody>
      </p:sp>
      <p:sp>
        <p:nvSpPr>
          <p:cNvPr id="161" name="Google Shape;161;p1"/>
          <p:cNvSpPr txBox="1"/>
          <p:nvPr/>
        </p:nvSpPr>
        <p:spPr>
          <a:xfrm>
            <a:off x="1092230" y="4535424"/>
            <a:ext cx="74067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9FB6C0"/>
                </a:solidFill>
                <a:latin typeface="Arial"/>
                <a:ea typeface="Arial"/>
                <a:cs typeface="Arial"/>
                <a:sym typeface="Arial"/>
              </a:rPr>
              <a:t>Advantages, Drawbacks and Applications with future scope</a:t>
            </a:r>
            <a:endParaRPr b="0" i="0" sz="1100" u="none" cap="none" strike="noStrike">
              <a:solidFill>
                <a:srgbClr val="000000"/>
              </a:solidFill>
              <a:latin typeface="Arial"/>
              <a:ea typeface="Arial"/>
              <a:cs typeface="Arial"/>
              <a:sym typeface="Arial"/>
            </a:endParaRPr>
          </a:p>
        </p:txBody>
      </p:sp>
      <p:sp>
        <p:nvSpPr>
          <p:cNvPr id="162" name="Google Shape;162;p1"/>
          <p:cNvSpPr txBox="1"/>
          <p:nvPr/>
        </p:nvSpPr>
        <p:spPr>
          <a:xfrm>
            <a:off x="1092230" y="4732020"/>
            <a:ext cx="74067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9FB6C0"/>
                </a:solidFill>
                <a:latin typeface="Arial"/>
                <a:ea typeface="Arial"/>
                <a:cs typeface="Arial"/>
                <a:sym typeface="Arial"/>
              </a:rPr>
              <a:t>The methanol system: components, operation, CC-CV charging and safety</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01 · FOUNDATIONS</a:t>
            </a:r>
            <a:endParaRPr b="0" i="0" sz="1100" u="none" cap="none" strike="noStrike">
              <a:solidFill>
                <a:srgbClr val="000000"/>
              </a:solidFill>
              <a:latin typeface="Arial"/>
              <a:ea typeface="Arial"/>
              <a:cs typeface="Arial"/>
              <a:sym typeface="Arial"/>
            </a:endParaRPr>
          </a:p>
        </p:txBody>
      </p:sp>
      <p:sp>
        <p:nvSpPr>
          <p:cNvPr id="169" name="Google Shape;169;p2"/>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What is inside a fuel cell</a:t>
            </a:r>
            <a:endParaRPr b="0" i="0" sz="1100" u="none" cap="none" strike="noStrike">
              <a:solidFill>
                <a:srgbClr val="000000"/>
              </a:solidFill>
              <a:latin typeface="Arial"/>
              <a:ea typeface="Arial"/>
              <a:cs typeface="Arial"/>
              <a:sym typeface="Arial"/>
            </a:endParaRPr>
          </a:p>
        </p:txBody>
      </p:sp>
      <p:sp>
        <p:nvSpPr>
          <p:cNvPr id="170" name="Google Shape;170;p2"/>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A layered device. The membrane passes protons and blocks electrons — that one asymmetry is what makes a current.</a:t>
            </a:r>
            <a:endParaRPr b="0" i="0" sz="1100" u="none" cap="none" strike="noStrike">
              <a:solidFill>
                <a:srgbClr val="000000"/>
              </a:solidFill>
              <a:latin typeface="Arial"/>
              <a:ea typeface="Arial"/>
              <a:cs typeface="Arial"/>
              <a:sym typeface="Arial"/>
            </a:endParaRPr>
          </a:p>
        </p:txBody>
      </p:sp>
      <p:sp>
        <p:nvSpPr>
          <p:cNvPr id="171" name="Google Shape;171;p2"/>
          <p:cNvSpPr/>
          <p:nvPr/>
        </p:nvSpPr>
        <p:spPr>
          <a:xfrm>
            <a:off x="1405895" y="1385316"/>
            <a:ext cx="857400" cy="891600"/>
          </a:xfrm>
          <a:prstGeom prst="roundRect">
            <a:avLst>
              <a:gd fmla="val 4000" name="adj"/>
            </a:avLst>
          </a:prstGeom>
          <a:solidFill>
            <a:srgbClr val="FFFFFF"/>
          </a:solidFill>
          <a:ln cap="flat" cmpd="sng" w="16675">
            <a:solidFill>
              <a:srgbClr val="5A6B7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2" name="Google Shape;172;p2"/>
          <p:cNvSpPr txBox="1"/>
          <p:nvPr/>
        </p:nvSpPr>
        <p:spPr>
          <a:xfrm>
            <a:off x="1440185" y="1385316"/>
            <a:ext cx="788700" cy="8916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5A6B75"/>
                </a:solidFill>
                <a:latin typeface="Arial"/>
                <a:ea typeface="Arial"/>
                <a:cs typeface="Arial"/>
                <a:sym typeface="Arial"/>
              </a:rPr>
              <a:t>Flow</a:t>
            </a:r>
            <a:endParaRPr b="0" i="0" sz="1100" u="none" cap="none" strike="noStrike">
              <a:solidFill>
                <a:srgbClr val="000000"/>
              </a:solidFill>
              <a:latin typeface="Arial"/>
              <a:ea typeface="Arial"/>
              <a:cs typeface="Arial"/>
              <a:sym typeface="Arial"/>
            </a:endParaRPr>
          </a:p>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5A6B75"/>
                </a:solidFill>
                <a:latin typeface="Arial"/>
                <a:ea typeface="Arial"/>
                <a:cs typeface="Arial"/>
                <a:sym typeface="Arial"/>
              </a:rPr>
              <a:t>plate</a:t>
            </a:r>
            <a:endParaRPr b="0" i="0" sz="1100" u="none" cap="none" strike="noStrike">
              <a:solidFill>
                <a:srgbClr val="000000"/>
              </a:solidFill>
              <a:latin typeface="Arial"/>
              <a:ea typeface="Arial"/>
              <a:cs typeface="Arial"/>
              <a:sym typeface="Arial"/>
            </a:endParaRPr>
          </a:p>
        </p:txBody>
      </p:sp>
      <p:sp>
        <p:nvSpPr>
          <p:cNvPr id="173" name="Google Shape;173;p2"/>
          <p:cNvSpPr/>
          <p:nvPr/>
        </p:nvSpPr>
        <p:spPr>
          <a:xfrm>
            <a:off x="2331730" y="1385316"/>
            <a:ext cx="685800" cy="891600"/>
          </a:xfrm>
          <a:prstGeom prst="roundRect">
            <a:avLst>
              <a:gd fmla="val 5000" name="adj"/>
            </a:avLst>
          </a:prstGeom>
          <a:solidFill>
            <a:srgbClr val="FFFFFF"/>
          </a:solidFill>
          <a:ln cap="flat" cmpd="sng" w="16675">
            <a:solidFill>
              <a:srgbClr val="1F6F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4" name="Google Shape;174;p2"/>
          <p:cNvSpPr txBox="1"/>
          <p:nvPr/>
        </p:nvSpPr>
        <p:spPr>
          <a:xfrm>
            <a:off x="2366019" y="1385316"/>
            <a:ext cx="617100" cy="8916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1F6FA8"/>
                </a:solidFill>
                <a:latin typeface="Arial"/>
                <a:ea typeface="Arial"/>
                <a:cs typeface="Arial"/>
                <a:sym typeface="Arial"/>
              </a:rPr>
              <a:t>GDL</a:t>
            </a:r>
            <a:endParaRPr b="0" i="0" sz="1100" u="none" cap="none" strike="noStrike">
              <a:solidFill>
                <a:srgbClr val="000000"/>
              </a:solidFill>
              <a:latin typeface="Arial"/>
              <a:ea typeface="Arial"/>
              <a:cs typeface="Arial"/>
              <a:sym typeface="Arial"/>
            </a:endParaRPr>
          </a:p>
        </p:txBody>
      </p:sp>
      <p:sp>
        <p:nvSpPr>
          <p:cNvPr id="175" name="Google Shape;175;p2"/>
          <p:cNvSpPr/>
          <p:nvPr/>
        </p:nvSpPr>
        <p:spPr>
          <a:xfrm>
            <a:off x="3086113" y="1385316"/>
            <a:ext cx="768300" cy="891600"/>
          </a:xfrm>
          <a:prstGeom prst="roundRect">
            <a:avLst>
              <a:gd fmla="val 4464" name="adj"/>
            </a:avLst>
          </a:prstGeom>
          <a:solidFill>
            <a:srgbClr val="FFFFFF"/>
          </a:solidFill>
          <a:ln cap="flat" cmpd="sng" w="16675">
            <a:solidFill>
              <a:srgbClr val="C77A1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6" name="Google Shape;176;p2"/>
          <p:cNvSpPr txBox="1"/>
          <p:nvPr/>
        </p:nvSpPr>
        <p:spPr>
          <a:xfrm>
            <a:off x="3120403" y="1385316"/>
            <a:ext cx="699600" cy="8916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Catalyst</a:t>
            </a:r>
            <a:endParaRPr b="0" i="0" sz="1100" u="none" cap="none" strike="noStrike">
              <a:solidFill>
                <a:srgbClr val="000000"/>
              </a:solidFill>
              <a:latin typeface="Arial"/>
              <a:ea typeface="Arial"/>
              <a:cs typeface="Arial"/>
              <a:sym typeface="Arial"/>
            </a:endParaRPr>
          </a:p>
        </p:txBody>
      </p:sp>
      <p:sp>
        <p:nvSpPr>
          <p:cNvPr id="177" name="Google Shape;177;p2"/>
          <p:cNvSpPr/>
          <p:nvPr/>
        </p:nvSpPr>
        <p:spPr>
          <a:xfrm>
            <a:off x="3922792" y="1385316"/>
            <a:ext cx="1028700" cy="891600"/>
          </a:xfrm>
          <a:prstGeom prst="roundRect">
            <a:avLst>
              <a:gd fmla="val 3846" name="adj"/>
            </a:avLst>
          </a:prstGeom>
          <a:solidFill>
            <a:srgbClr val="E6F2F3"/>
          </a:solidFill>
          <a:ln cap="flat" cmpd="sng" w="16675">
            <a:solidFill>
              <a:srgbClr val="0E7C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8" name="Google Shape;178;p2"/>
          <p:cNvSpPr txBox="1"/>
          <p:nvPr/>
        </p:nvSpPr>
        <p:spPr>
          <a:xfrm>
            <a:off x="3957082" y="1385316"/>
            <a:ext cx="960000" cy="8916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0E7C86"/>
                </a:solidFill>
                <a:latin typeface="Arial"/>
                <a:ea typeface="Arial"/>
                <a:cs typeface="Arial"/>
                <a:sym typeface="Arial"/>
              </a:rPr>
              <a:t>Membrane</a:t>
            </a:r>
            <a:endParaRPr b="0" i="0" sz="1100" u="none" cap="none" strike="noStrike">
              <a:solidFill>
                <a:srgbClr val="000000"/>
              </a:solidFill>
              <a:latin typeface="Arial"/>
              <a:ea typeface="Arial"/>
              <a:cs typeface="Arial"/>
              <a:sym typeface="Arial"/>
            </a:endParaRPr>
          </a:p>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0E7C86"/>
                </a:solidFill>
                <a:latin typeface="Arial"/>
                <a:ea typeface="Arial"/>
                <a:cs typeface="Arial"/>
                <a:sym typeface="Arial"/>
              </a:rPr>
              <a:t>(PEM)</a:t>
            </a:r>
            <a:endParaRPr b="0" i="0" sz="1100" u="none" cap="none" strike="noStrike">
              <a:solidFill>
                <a:srgbClr val="000000"/>
              </a:solidFill>
              <a:latin typeface="Arial"/>
              <a:ea typeface="Arial"/>
              <a:cs typeface="Arial"/>
              <a:sym typeface="Arial"/>
            </a:endParaRPr>
          </a:p>
        </p:txBody>
      </p:sp>
      <p:sp>
        <p:nvSpPr>
          <p:cNvPr id="179" name="Google Shape;179;p2"/>
          <p:cNvSpPr/>
          <p:nvPr/>
        </p:nvSpPr>
        <p:spPr>
          <a:xfrm>
            <a:off x="5020077" y="1385316"/>
            <a:ext cx="768300" cy="891600"/>
          </a:xfrm>
          <a:prstGeom prst="roundRect">
            <a:avLst>
              <a:gd fmla="val 4464" name="adj"/>
            </a:avLst>
          </a:prstGeom>
          <a:solidFill>
            <a:srgbClr val="FFFFFF"/>
          </a:solidFill>
          <a:ln cap="flat" cmpd="sng" w="16675">
            <a:solidFill>
              <a:srgbClr val="C77A1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0" name="Google Shape;180;p2"/>
          <p:cNvSpPr txBox="1"/>
          <p:nvPr/>
        </p:nvSpPr>
        <p:spPr>
          <a:xfrm>
            <a:off x="5054367" y="1385316"/>
            <a:ext cx="699600" cy="8916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Catalyst</a:t>
            </a:r>
            <a:endParaRPr b="0" i="0" sz="1100" u="none" cap="none" strike="noStrike">
              <a:solidFill>
                <a:srgbClr val="000000"/>
              </a:solidFill>
              <a:latin typeface="Arial"/>
              <a:ea typeface="Arial"/>
              <a:cs typeface="Arial"/>
              <a:sym typeface="Arial"/>
            </a:endParaRPr>
          </a:p>
        </p:txBody>
      </p:sp>
      <p:sp>
        <p:nvSpPr>
          <p:cNvPr id="181" name="Google Shape;181;p2"/>
          <p:cNvSpPr/>
          <p:nvPr/>
        </p:nvSpPr>
        <p:spPr>
          <a:xfrm>
            <a:off x="5856756" y="1385316"/>
            <a:ext cx="685800" cy="891600"/>
          </a:xfrm>
          <a:prstGeom prst="roundRect">
            <a:avLst>
              <a:gd fmla="val 5000" name="adj"/>
            </a:avLst>
          </a:prstGeom>
          <a:solidFill>
            <a:srgbClr val="FFFFFF"/>
          </a:solidFill>
          <a:ln cap="flat" cmpd="sng" w="16675">
            <a:solidFill>
              <a:srgbClr val="1F6F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2" name="Google Shape;182;p2"/>
          <p:cNvSpPr txBox="1"/>
          <p:nvPr/>
        </p:nvSpPr>
        <p:spPr>
          <a:xfrm>
            <a:off x="5891046" y="1385316"/>
            <a:ext cx="617100" cy="8916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1F6FA8"/>
                </a:solidFill>
                <a:latin typeface="Arial"/>
                <a:ea typeface="Arial"/>
                <a:cs typeface="Arial"/>
                <a:sym typeface="Arial"/>
              </a:rPr>
              <a:t>GDL</a:t>
            </a:r>
            <a:endParaRPr b="0" i="0" sz="1100" u="none" cap="none" strike="noStrike">
              <a:solidFill>
                <a:srgbClr val="000000"/>
              </a:solidFill>
              <a:latin typeface="Arial"/>
              <a:ea typeface="Arial"/>
              <a:cs typeface="Arial"/>
              <a:sym typeface="Arial"/>
            </a:endParaRPr>
          </a:p>
        </p:txBody>
      </p:sp>
      <p:sp>
        <p:nvSpPr>
          <p:cNvPr id="183" name="Google Shape;183;p2"/>
          <p:cNvSpPr/>
          <p:nvPr/>
        </p:nvSpPr>
        <p:spPr>
          <a:xfrm>
            <a:off x="6611139" y="1385316"/>
            <a:ext cx="857400" cy="891600"/>
          </a:xfrm>
          <a:prstGeom prst="roundRect">
            <a:avLst>
              <a:gd fmla="val 4000" name="adj"/>
            </a:avLst>
          </a:prstGeom>
          <a:solidFill>
            <a:srgbClr val="FFFFFF"/>
          </a:solidFill>
          <a:ln cap="flat" cmpd="sng" w="16675">
            <a:solidFill>
              <a:srgbClr val="5A6B7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4" name="Google Shape;184;p2"/>
          <p:cNvSpPr txBox="1"/>
          <p:nvPr/>
        </p:nvSpPr>
        <p:spPr>
          <a:xfrm>
            <a:off x="6645429" y="1385316"/>
            <a:ext cx="788700" cy="8916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5A6B75"/>
                </a:solidFill>
                <a:latin typeface="Arial"/>
                <a:ea typeface="Arial"/>
                <a:cs typeface="Arial"/>
                <a:sym typeface="Arial"/>
              </a:rPr>
              <a:t>Flow</a:t>
            </a:r>
            <a:endParaRPr b="0" i="0" sz="1100" u="none" cap="none" strike="noStrike">
              <a:solidFill>
                <a:srgbClr val="000000"/>
              </a:solidFill>
              <a:latin typeface="Arial"/>
              <a:ea typeface="Arial"/>
              <a:cs typeface="Arial"/>
              <a:sym typeface="Arial"/>
            </a:endParaRPr>
          </a:p>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5A6B75"/>
                </a:solidFill>
                <a:latin typeface="Arial"/>
                <a:ea typeface="Arial"/>
                <a:cs typeface="Arial"/>
                <a:sym typeface="Arial"/>
              </a:rPr>
              <a:t>plate</a:t>
            </a:r>
            <a:endParaRPr b="0" i="0" sz="1100" u="none" cap="none" strike="noStrike">
              <a:solidFill>
                <a:srgbClr val="000000"/>
              </a:solidFill>
              <a:latin typeface="Arial"/>
              <a:ea typeface="Arial"/>
              <a:cs typeface="Arial"/>
              <a:sym typeface="Arial"/>
            </a:endParaRPr>
          </a:p>
        </p:txBody>
      </p:sp>
      <p:sp>
        <p:nvSpPr>
          <p:cNvPr id="185" name="Google Shape;185;p2"/>
          <p:cNvSpPr txBox="1"/>
          <p:nvPr/>
        </p:nvSpPr>
        <p:spPr>
          <a:xfrm>
            <a:off x="342901" y="1591056"/>
            <a:ext cx="891600" cy="3291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ANODE</a:t>
            </a:r>
            <a:endParaRPr b="0" i="0" sz="1100" u="none" cap="none" strike="noStrike">
              <a:solidFill>
                <a:srgbClr val="000000"/>
              </a:solidFill>
              <a:latin typeface="Arial"/>
              <a:ea typeface="Arial"/>
              <a:cs typeface="Arial"/>
              <a:sym typeface="Arial"/>
            </a:endParaRPr>
          </a:p>
          <a:p>
            <a:pPr indent="0" lvl="0" marL="0" marR="0" rtl="0" algn="ctr">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H₂ in</a:t>
            </a:r>
            <a:endParaRPr b="0" i="0" sz="1100" u="none" cap="none" strike="noStrike">
              <a:solidFill>
                <a:srgbClr val="000000"/>
              </a:solidFill>
              <a:latin typeface="Arial"/>
              <a:ea typeface="Arial"/>
              <a:cs typeface="Arial"/>
              <a:sym typeface="Arial"/>
            </a:endParaRPr>
          </a:p>
        </p:txBody>
      </p:sp>
      <p:sp>
        <p:nvSpPr>
          <p:cNvPr id="186" name="Google Shape;186;p2"/>
          <p:cNvSpPr txBox="1"/>
          <p:nvPr/>
        </p:nvSpPr>
        <p:spPr>
          <a:xfrm>
            <a:off x="7749572" y="1591056"/>
            <a:ext cx="980700" cy="3291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800"/>
              <a:buFont typeface="Arial"/>
              <a:buNone/>
            </a:pPr>
            <a:r>
              <a:rPr b="1" i="0" lang="en" sz="800" u="none" cap="none" strike="noStrike">
                <a:solidFill>
                  <a:srgbClr val="1F6FA8"/>
                </a:solidFill>
                <a:latin typeface="Arial"/>
                <a:ea typeface="Arial"/>
                <a:cs typeface="Arial"/>
                <a:sym typeface="Arial"/>
              </a:rPr>
              <a:t>CATHODE</a:t>
            </a:r>
            <a:endParaRPr b="0" i="0" sz="1100" u="none" cap="none" strike="noStrike">
              <a:solidFill>
                <a:srgbClr val="000000"/>
              </a:solidFill>
              <a:latin typeface="Arial"/>
              <a:ea typeface="Arial"/>
              <a:cs typeface="Arial"/>
              <a:sym typeface="Arial"/>
            </a:endParaRPr>
          </a:p>
          <a:p>
            <a:pPr indent="0" lvl="0" marL="0" marR="0" rtl="0" algn="ctr">
              <a:lnSpc>
                <a:spcPct val="101666"/>
              </a:lnSpc>
              <a:spcBef>
                <a:spcPts val="0"/>
              </a:spcBef>
              <a:spcAft>
                <a:spcPts val="0"/>
              </a:spcAft>
              <a:buClr>
                <a:srgbClr val="000000"/>
              </a:buClr>
              <a:buSzPts val="800"/>
              <a:buFont typeface="Arial"/>
              <a:buNone/>
            </a:pPr>
            <a:r>
              <a:rPr b="1" i="0" lang="en" sz="800" u="none" cap="none" strike="noStrike">
                <a:solidFill>
                  <a:srgbClr val="1F6FA8"/>
                </a:solidFill>
                <a:latin typeface="Arial"/>
                <a:ea typeface="Arial"/>
                <a:cs typeface="Arial"/>
                <a:sym typeface="Arial"/>
              </a:rPr>
              <a:t>air in</a:t>
            </a:r>
            <a:endParaRPr b="0" i="0" sz="1100" u="none" cap="none" strike="noStrike">
              <a:solidFill>
                <a:srgbClr val="000000"/>
              </a:solidFill>
              <a:latin typeface="Arial"/>
              <a:ea typeface="Arial"/>
              <a:cs typeface="Arial"/>
              <a:sym typeface="Arial"/>
            </a:endParaRPr>
          </a:p>
        </p:txBody>
      </p:sp>
      <p:cxnSp>
        <p:nvCxnSpPr>
          <p:cNvPr id="187" name="Google Shape;187;p2"/>
          <p:cNvCxnSpPr/>
          <p:nvPr/>
        </p:nvCxnSpPr>
        <p:spPr>
          <a:xfrm>
            <a:off x="3737625" y="2414016"/>
            <a:ext cx="1474500" cy="0"/>
          </a:xfrm>
          <a:prstGeom prst="straightConnector1">
            <a:avLst/>
          </a:prstGeom>
          <a:noFill/>
          <a:ln cap="flat" cmpd="sng" w="16675">
            <a:solidFill>
              <a:srgbClr val="0E7C86"/>
            </a:solidFill>
            <a:prstDash val="solid"/>
            <a:round/>
            <a:headEnd len="sm" w="sm" type="none"/>
            <a:tailEnd len="med" w="med" type="triangle"/>
          </a:ln>
          <a:effectLst>
            <a:outerShdw blurRad="30000" rotWithShape="0" dir="5400000" dist="15000">
              <a:srgbClr val="000000">
                <a:alpha val="38039"/>
              </a:srgbClr>
            </a:outerShdw>
          </a:effectLst>
        </p:spPr>
      </p:cxnSp>
      <p:sp>
        <p:nvSpPr>
          <p:cNvPr id="188" name="Google Shape;188;p2"/>
          <p:cNvSpPr txBox="1"/>
          <p:nvPr/>
        </p:nvSpPr>
        <p:spPr>
          <a:xfrm>
            <a:off x="3291854" y="2441448"/>
            <a:ext cx="2366100" cy="1647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0E7C86"/>
                </a:solidFill>
                <a:latin typeface="Arial"/>
                <a:ea typeface="Arial"/>
                <a:cs typeface="Arial"/>
                <a:sym typeface="Arial"/>
              </a:rPr>
              <a:t>H+  through the membrane</a:t>
            </a:r>
            <a:endParaRPr b="0" i="0" sz="1100" u="none" cap="none" strike="noStrike">
              <a:solidFill>
                <a:srgbClr val="000000"/>
              </a:solidFill>
              <a:latin typeface="Arial"/>
              <a:ea typeface="Arial"/>
              <a:cs typeface="Arial"/>
              <a:sym typeface="Arial"/>
            </a:endParaRPr>
          </a:p>
        </p:txBody>
      </p:sp>
      <p:cxnSp>
        <p:nvCxnSpPr>
          <p:cNvPr id="189" name="Google Shape;189;p2"/>
          <p:cNvCxnSpPr/>
          <p:nvPr/>
        </p:nvCxnSpPr>
        <p:spPr>
          <a:xfrm rot="10800000">
            <a:off x="3552459" y="1330416"/>
            <a:ext cx="0" cy="54900"/>
          </a:xfrm>
          <a:prstGeom prst="straightConnector1">
            <a:avLst/>
          </a:prstGeom>
          <a:noFill/>
          <a:ln cap="flat" cmpd="sng" w="14300">
            <a:solidFill>
              <a:srgbClr val="C77A12"/>
            </a:solidFill>
            <a:prstDash val="solid"/>
            <a:round/>
            <a:headEnd len="sm" w="sm" type="none"/>
            <a:tailEnd len="sm" w="sm" type="none"/>
          </a:ln>
          <a:effectLst>
            <a:outerShdw blurRad="30000" rotWithShape="0" dir="5400000" dist="15000">
              <a:srgbClr val="000000">
                <a:alpha val="38039"/>
              </a:srgbClr>
            </a:outerShdw>
          </a:effectLst>
        </p:spPr>
      </p:cxnSp>
      <p:cxnSp>
        <p:nvCxnSpPr>
          <p:cNvPr id="190" name="Google Shape;190;p2"/>
          <p:cNvCxnSpPr/>
          <p:nvPr/>
        </p:nvCxnSpPr>
        <p:spPr>
          <a:xfrm>
            <a:off x="3552459" y="1330452"/>
            <a:ext cx="1968300" cy="0"/>
          </a:xfrm>
          <a:prstGeom prst="straightConnector1">
            <a:avLst/>
          </a:prstGeom>
          <a:noFill/>
          <a:ln cap="flat" cmpd="sng" w="14300">
            <a:solidFill>
              <a:srgbClr val="C77A12"/>
            </a:solidFill>
            <a:prstDash val="solid"/>
            <a:round/>
            <a:headEnd len="sm" w="sm" type="none"/>
            <a:tailEnd len="sm" w="sm" type="none"/>
          </a:ln>
          <a:effectLst>
            <a:outerShdw blurRad="30000" rotWithShape="0" dir="5400000" dist="15000">
              <a:srgbClr val="000000">
                <a:alpha val="38039"/>
              </a:srgbClr>
            </a:outerShdw>
          </a:effectLst>
        </p:spPr>
      </p:cxnSp>
      <p:cxnSp>
        <p:nvCxnSpPr>
          <p:cNvPr id="191" name="Google Shape;191;p2"/>
          <p:cNvCxnSpPr/>
          <p:nvPr/>
        </p:nvCxnSpPr>
        <p:spPr>
          <a:xfrm>
            <a:off x="5520713" y="1330452"/>
            <a:ext cx="0" cy="54900"/>
          </a:xfrm>
          <a:prstGeom prst="straightConnector1">
            <a:avLst/>
          </a:prstGeom>
          <a:noFill/>
          <a:ln cap="flat" cmpd="sng" w="14300">
            <a:solidFill>
              <a:srgbClr val="C77A12"/>
            </a:solidFill>
            <a:prstDash val="solid"/>
            <a:round/>
            <a:headEnd len="sm" w="sm" type="none"/>
            <a:tailEnd len="sm" w="sm" type="none"/>
          </a:ln>
          <a:effectLst>
            <a:outerShdw blurRad="30000" rotWithShape="0" dir="5400000" dist="15000">
              <a:srgbClr val="000000">
                <a:alpha val="38039"/>
              </a:srgbClr>
            </a:outerShdw>
          </a:effectLst>
        </p:spPr>
      </p:cxnSp>
      <p:sp>
        <p:nvSpPr>
          <p:cNvPr id="192" name="Google Shape;192;p2"/>
          <p:cNvSpPr txBox="1"/>
          <p:nvPr/>
        </p:nvSpPr>
        <p:spPr>
          <a:xfrm>
            <a:off x="3737625" y="1152144"/>
            <a:ext cx="1577400" cy="1647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e-  around the outside</a:t>
            </a:r>
            <a:endParaRPr b="0" i="0" sz="1100" u="none" cap="none" strike="noStrike">
              <a:solidFill>
                <a:srgbClr val="000000"/>
              </a:solidFill>
              <a:latin typeface="Arial"/>
              <a:ea typeface="Arial"/>
              <a:cs typeface="Arial"/>
              <a:sym typeface="Arial"/>
            </a:endParaRPr>
          </a:p>
        </p:txBody>
      </p:sp>
      <p:sp>
        <p:nvSpPr>
          <p:cNvPr id="193" name="Google Shape;193;p2"/>
          <p:cNvSpPr/>
          <p:nvPr/>
        </p:nvSpPr>
        <p:spPr>
          <a:xfrm>
            <a:off x="377192" y="2825496"/>
            <a:ext cx="2659500" cy="918900"/>
          </a:xfrm>
          <a:prstGeom prst="roundRect">
            <a:avLst>
              <a:gd fmla="val 5223" name="adj"/>
            </a:avLst>
          </a:prstGeom>
          <a:solidFill>
            <a:srgbClr val="E6F2F3"/>
          </a:solidFill>
          <a:ln cap="flat" cmpd="sng" w="9525">
            <a:solidFill>
              <a:srgbClr val="C2DE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94" name="Google Shape;194;p2"/>
          <p:cNvSpPr txBox="1"/>
          <p:nvPr/>
        </p:nvSpPr>
        <p:spPr>
          <a:xfrm>
            <a:off x="493778" y="2946197"/>
            <a:ext cx="24261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0E7C86"/>
                </a:solidFill>
                <a:latin typeface="Arial"/>
                <a:ea typeface="Arial"/>
                <a:cs typeface="Arial"/>
                <a:sym typeface="Arial"/>
              </a:rPr>
              <a:t>Membrane</a:t>
            </a:r>
            <a:endParaRPr b="0" i="0" sz="1100" u="none" cap="none" strike="noStrike">
              <a:solidFill>
                <a:srgbClr val="000000"/>
              </a:solidFill>
              <a:latin typeface="Arial"/>
              <a:ea typeface="Arial"/>
              <a:cs typeface="Arial"/>
              <a:sym typeface="Arial"/>
            </a:endParaRPr>
          </a:p>
        </p:txBody>
      </p:sp>
      <p:sp>
        <p:nvSpPr>
          <p:cNvPr id="195" name="Google Shape;195;p2"/>
          <p:cNvSpPr txBox="1"/>
          <p:nvPr/>
        </p:nvSpPr>
        <p:spPr>
          <a:xfrm>
            <a:off x="493778" y="3127838"/>
            <a:ext cx="2426100" cy="301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Conducts protons, blocks electrons. It forces them out through your load — that detour is the electricity.</a:t>
            </a:r>
            <a:endParaRPr b="0" i="0" sz="1100" u="none" cap="none" strike="noStrike">
              <a:solidFill>
                <a:srgbClr val="000000"/>
              </a:solidFill>
              <a:latin typeface="Arial"/>
              <a:ea typeface="Arial"/>
              <a:cs typeface="Arial"/>
              <a:sym typeface="Arial"/>
            </a:endParaRPr>
          </a:p>
        </p:txBody>
      </p:sp>
      <p:sp>
        <p:nvSpPr>
          <p:cNvPr id="196" name="Google Shape;196;p2"/>
          <p:cNvSpPr/>
          <p:nvPr/>
        </p:nvSpPr>
        <p:spPr>
          <a:xfrm>
            <a:off x="3242338" y="2825496"/>
            <a:ext cx="2659500" cy="918900"/>
          </a:xfrm>
          <a:prstGeom prst="roundRect">
            <a:avLst>
              <a:gd fmla="val 5223" name="adj"/>
            </a:avLst>
          </a:prstGeom>
          <a:solidFill>
            <a:srgbClr val="FDF3E3"/>
          </a:solidFill>
          <a:ln cap="flat" cmpd="sng" w="9525">
            <a:solidFill>
              <a:srgbClr val="F0D7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97" name="Google Shape;197;p2"/>
          <p:cNvSpPr txBox="1"/>
          <p:nvPr/>
        </p:nvSpPr>
        <p:spPr>
          <a:xfrm>
            <a:off x="3358925" y="2946197"/>
            <a:ext cx="24261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C77A12"/>
                </a:solidFill>
                <a:latin typeface="Arial"/>
                <a:ea typeface="Arial"/>
                <a:cs typeface="Arial"/>
                <a:sym typeface="Arial"/>
              </a:rPr>
              <a:t>Catalyst layers</a:t>
            </a:r>
            <a:endParaRPr b="0" i="0" sz="1100" u="none" cap="none" strike="noStrike">
              <a:solidFill>
                <a:srgbClr val="000000"/>
              </a:solidFill>
              <a:latin typeface="Arial"/>
              <a:ea typeface="Arial"/>
              <a:cs typeface="Arial"/>
              <a:sym typeface="Arial"/>
            </a:endParaRPr>
          </a:p>
        </p:txBody>
      </p:sp>
      <p:sp>
        <p:nvSpPr>
          <p:cNvPr id="198" name="Google Shape;198;p2"/>
          <p:cNvSpPr txBox="1"/>
          <p:nvPr/>
        </p:nvSpPr>
        <p:spPr>
          <a:xfrm>
            <a:off x="3358925" y="3127838"/>
            <a:ext cx="2426100" cy="301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Split hydrogen at the anode, reduce oxygen at the cathode. This is where the platinum is.</a:t>
            </a:r>
            <a:endParaRPr b="0" i="0" sz="1100" u="none" cap="none" strike="noStrike">
              <a:solidFill>
                <a:srgbClr val="000000"/>
              </a:solidFill>
              <a:latin typeface="Arial"/>
              <a:ea typeface="Arial"/>
              <a:cs typeface="Arial"/>
              <a:sym typeface="Arial"/>
            </a:endParaRPr>
          </a:p>
        </p:txBody>
      </p:sp>
      <p:sp>
        <p:nvSpPr>
          <p:cNvPr id="199" name="Google Shape;199;p2"/>
          <p:cNvSpPr/>
          <p:nvPr/>
        </p:nvSpPr>
        <p:spPr>
          <a:xfrm>
            <a:off x="6107485" y="2825496"/>
            <a:ext cx="2659500" cy="918900"/>
          </a:xfrm>
          <a:prstGeom prst="roundRect">
            <a:avLst>
              <a:gd fmla="val 5223" name="adj"/>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0" name="Google Shape;200;p2"/>
          <p:cNvSpPr txBox="1"/>
          <p:nvPr/>
        </p:nvSpPr>
        <p:spPr>
          <a:xfrm>
            <a:off x="6224072" y="2946197"/>
            <a:ext cx="24261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14303F"/>
                </a:solidFill>
                <a:latin typeface="Arial"/>
                <a:ea typeface="Arial"/>
                <a:cs typeface="Arial"/>
                <a:sym typeface="Arial"/>
              </a:rPr>
              <a:t>GDLs and flow plates</a:t>
            </a:r>
            <a:endParaRPr b="0" i="0" sz="1100" u="none" cap="none" strike="noStrike">
              <a:solidFill>
                <a:srgbClr val="000000"/>
              </a:solidFill>
              <a:latin typeface="Arial"/>
              <a:ea typeface="Arial"/>
              <a:cs typeface="Arial"/>
              <a:sym typeface="Arial"/>
            </a:endParaRPr>
          </a:p>
        </p:txBody>
      </p:sp>
      <p:sp>
        <p:nvSpPr>
          <p:cNvPr id="201" name="Google Shape;201;p2"/>
          <p:cNvSpPr txBox="1"/>
          <p:nvPr/>
        </p:nvSpPr>
        <p:spPr>
          <a:xfrm>
            <a:off x="6224072" y="3127838"/>
            <a:ext cx="2426100" cy="301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Gas Diffusion Layer spread the gas, conduct electrons, carry coolant, and move product water out.</a:t>
            </a:r>
            <a:endParaRPr b="0" i="0" sz="1100" u="none" cap="none" strike="noStrike">
              <a:solidFill>
                <a:srgbClr val="000000"/>
              </a:solidFill>
              <a:latin typeface="Arial"/>
              <a:ea typeface="Arial"/>
              <a:cs typeface="Arial"/>
              <a:sym typeface="Arial"/>
            </a:endParaRPr>
          </a:p>
        </p:txBody>
      </p:sp>
      <p:sp>
        <p:nvSpPr>
          <p:cNvPr id="202" name="Google Shape;202;p2"/>
          <p:cNvSpPr txBox="1"/>
          <p:nvPr/>
        </p:nvSpPr>
        <p:spPr>
          <a:xfrm>
            <a:off x="342901" y="3909060"/>
            <a:ext cx="83895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Hundreds of these in series make a stack — one cell gives well under a volt, so the stack is what produces a usable bus voltage.</a:t>
            </a:r>
            <a:endParaRPr b="0" i="0" sz="1100" u="none" cap="none" strike="noStrike">
              <a:solidFill>
                <a:srgbClr val="000000"/>
              </a:solidFill>
              <a:latin typeface="Arial"/>
              <a:ea typeface="Arial"/>
              <a:cs typeface="Arial"/>
              <a:sym typeface="Arial"/>
            </a:endParaRPr>
          </a:p>
        </p:txBody>
      </p:sp>
      <p:sp>
        <p:nvSpPr>
          <p:cNvPr id="203" name="Google Shape;203;p2"/>
          <p:cNvSpPr txBox="1"/>
          <p:nvPr/>
        </p:nvSpPr>
        <p:spPr>
          <a:xfrm>
            <a:off x="342901" y="4169664"/>
            <a:ext cx="83895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5A6B75"/>
                </a:solidFill>
                <a:latin typeface="Arial"/>
                <a:ea typeface="Arial"/>
                <a:cs typeface="Arial"/>
                <a:sym typeface="Arial"/>
              </a:rPr>
              <a:t>The mental model: a thin wet ion conductor between two porous reactive layers. Everything else feeds it, cools it, or collects its current.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01 · FOUNDATIONS</a:t>
            </a:r>
            <a:endParaRPr b="0" i="0" sz="1100" u="none" cap="none" strike="noStrike">
              <a:solidFill>
                <a:srgbClr val="000000"/>
              </a:solidFill>
              <a:latin typeface="Arial"/>
              <a:ea typeface="Arial"/>
              <a:cs typeface="Arial"/>
              <a:sym typeface="Arial"/>
            </a:endParaRPr>
          </a:p>
        </p:txBody>
      </p:sp>
      <p:sp>
        <p:nvSpPr>
          <p:cNvPr id="210" name="Google Shape;210;p3"/>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Six types — the electrolyte decides</a:t>
            </a:r>
            <a:endParaRPr b="0" i="0" sz="1100" u="none" cap="none" strike="noStrike">
              <a:solidFill>
                <a:srgbClr val="000000"/>
              </a:solidFill>
              <a:latin typeface="Arial"/>
              <a:ea typeface="Arial"/>
              <a:cs typeface="Arial"/>
              <a:sym typeface="Arial"/>
            </a:endParaRPr>
          </a:p>
        </p:txBody>
      </p:sp>
      <p:sp>
        <p:nvSpPr>
          <p:cNvPr id="211" name="Google Shape;211;p3"/>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Which ion moves sets the temperature, which sets the materials, the fuel, and the application.</a:t>
            </a:r>
            <a:endParaRPr b="0" i="0" sz="1100" u="none" cap="none" strike="noStrike">
              <a:solidFill>
                <a:srgbClr val="000000"/>
              </a:solidFill>
              <a:latin typeface="Arial"/>
              <a:ea typeface="Arial"/>
              <a:cs typeface="Arial"/>
              <a:sym typeface="Arial"/>
            </a:endParaRPr>
          </a:p>
        </p:txBody>
      </p:sp>
      <p:sp>
        <p:nvSpPr>
          <p:cNvPr id="212" name="Google Shape;212;p3"/>
          <p:cNvSpPr/>
          <p:nvPr/>
        </p:nvSpPr>
        <p:spPr>
          <a:xfrm>
            <a:off x="377192" y="1234440"/>
            <a:ext cx="1680300" cy="260700"/>
          </a:xfrm>
          <a:prstGeom prst="rect">
            <a:avLst/>
          </a:prstGeom>
          <a:solidFill>
            <a:srgbClr val="1430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3" name="Google Shape;213;p3"/>
          <p:cNvSpPr txBox="1"/>
          <p:nvPr/>
        </p:nvSpPr>
        <p:spPr>
          <a:xfrm>
            <a:off x="432056" y="1234440"/>
            <a:ext cx="1570500" cy="2607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Full name</a:t>
            </a:r>
            <a:endParaRPr b="0" i="0" sz="1100" u="none" cap="none" strike="noStrike">
              <a:solidFill>
                <a:srgbClr val="000000"/>
              </a:solidFill>
              <a:latin typeface="Arial"/>
              <a:ea typeface="Arial"/>
              <a:cs typeface="Arial"/>
              <a:sym typeface="Arial"/>
            </a:endParaRPr>
          </a:p>
        </p:txBody>
      </p:sp>
      <p:sp>
        <p:nvSpPr>
          <p:cNvPr id="214" name="Google Shape;214;p3"/>
          <p:cNvSpPr/>
          <p:nvPr/>
        </p:nvSpPr>
        <p:spPr>
          <a:xfrm>
            <a:off x="2057408" y="1234440"/>
            <a:ext cx="582900" cy="260700"/>
          </a:xfrm>
          <a:prstGeom prst="rect">
            <a:avLst/>
          </a:prstGeom>
          <a:solidFill>
            <a:srgbClr val="1430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5" name="Google Shape;215;p3"/>
          <p:cNvSpPr txBox="1"/>
          <p:nvPr/>
        </p:nvSpPr>
        <p:spPr>
          <a:xfrm>
            <a:off x="2112273" y="1234440"/>
            <a:ext cx="473100" cy="2607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Abbr.</a:t>
            </a:r>
            <a:endParaRPr b="0" i="0" sz="1100" u="none" cap="none" strike="noStrike">
              <a:solidFill>
                <a:srgbClr val="000000"/>
              </a:solidFill>
              <a:latin typeface="Arial"/>
              <a:ea typeface="Arial"/>
              <a:cs typeface="Arial"/>
              <a:sym typeface="Arial"/>
            </a:endParaRPr>
          </a:p>
        </p:txBody>
      </p:sp>
      <p:sp>
        <p:nvSpPr>
          <p:cNvPr id="216" name="Google Shape;216;p3"/>
          <p:cNvSpPr/>
          <p:nvPr/>
        </p:nvSpPr>
        <p:spPr>
          <a:xfrm>
            <a:off x="2640341" y="1234440"/>
            <a:ext cx="1886100" cy="260700"/>
          </a:xfrm>
          <a:prstGeom prst="rect">
            <a:avLst/>
          </a:prstGeom>
          <a:solidFill>
            <a:srgbClr val="1430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7" name="Google Shape;217;p3"/>
          <p:cNvSpPr txBox="1"/>
          <p:nvPr/>
        </p:nvSpPr>
        <p:spPr>
          <a:xfrm>
            <a:off x="2695205" y="1234440"/>
            <a:ext cx="1776300" cy="2607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Electrolyte · ion</a:t>
            </a:r>
            <a:endParaRPr b="0" i="0" sz="1100" u="none" cap="none" strike="noStrike">
              <a:solidFill>
                <a:srgbClr val="000000"/>
              </a:solidFill>
              <a:latin typeface="Arial"/>
              <a:ea typeface="Arial"/>
              <a:cs typeface="Arial"/>
              <a:sym typeface="Arial"/>
            </a:endParaRPr>
          </a:p>
        </p:txBody>
      </p:sp>
      <p:sp>
        <p:nvSpPr>
          <p:cNvPr id="218" name="Google Shape;218;p3"/>
          <p:cNvSpPr/>
          <p:nvPr/>
        </p:nvSpPr>
        <p:spPr>
          <a:xfrm>
            <a:off x="4526299" y="1234440"/>
            <a:ext cx="1062900" cy="260700"/>
          </a:xfrm>
          <a:prstGeom prst="rect">
            <a:avLst/>
          </a:prstGeom>
          <a:solidFill>
            <a:srgbClr val="1430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9" name="Google Shape;219;p3"/>
          <p:cNvSpPr txBox="1"/>
          <p:nvPr/>
        </p:nvSpPr>
        <p:spPr>
          <a:xfrm>
            <a:off x="4581163" y="1234440"/>
            <a:ext cx="953400" cy="2607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Temperature</a:t>
            </a:r>
            <a:endParaRPr b="0" i="0" sz="1100" u="none" cap="none" strike="noStrike">
              <a:solidFill>
                <a:srgbClr val="000000"/>
              </a:solidFill>
              <a:latin typeface="Arial"/>
              <a:ea typeface="Arial"/>
              <a:cs typeface="Arial"/>
              <a:sym typeface="Arial"/>
            </a:endParaRPr>
          </a:p>
        </p:txBody>
      </p:sp>
      <p:sp>
        <p:nvSpPr>
          <p:cNvPr id="220" name="Google Shape;220;p3"/>
          <p:cNvSpPr/>
          <p:nvPr/>
        </p:nvSpPr>
        <p:spPr>
          <a:xfrm>
            <a:off x="5589293" y="1234440"/>
            <a:ext cx="1440300" cy="260700"/>
          </a:xfrm>
          <a:prstGeom prst="rect">
            <a:avLst/>
          </a:prstGeom>
          <a:solidFill>
            <a:srgbClr val="1430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1" name="Google Shape;221;p3"/>
          <p:cNvSpPr txBox="1"/>
          <p:nvPr/>
        </p:nvSpPr>
        <p:spPr>
          <a:xfrm>
            <a:off x="5644157" y="1234440"/>
            <a:ext cx="1330500" cy="2607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Fuel</a:t>
            </a:r>
            <a:endParaRPr b="0" i="0" sz="1100" u="none" cap="none" strike="noStrike">
              <a:solidFill>
                <a:srgbClr val="000000"/>
              </a:solidFill>
              <a:latin typeface="Arial"/>
              <a:ea typeface="Arial"/>
              <a:cs typeface="Arial"/>
              <a:sym typeface="Arial"/>
            </a:endParaRPr>
          </a:p>
        </p:txBody>
      </p:sp>
      <p:sp>
        <p:nvSpPr>
          <p:cNvPr id="222" name="Google Shape;222;p3"/>
          <p:cNvSpPr/>
          <p:nvPr/>
        </p:nvSpPr>
        <p:spPr>
          <a:xfrm>
            <a:off x="7029479" y="1234440"/>
            <a:ext cx="1737300" cy="260700"/>
          </a:xfrm>
          <a:prstGeom prst="rect">
            <a:avLst/>
          </a:prstGeom>
          <a:solidFill>
            <a:srgbClr val="1430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3" name="Google Shape;223;p3"/>
          <p:cNvSpPr txBox="1"/>
          <p:nvPr/>
        </p:nvSpPr>
        <p:spPr>
          <a:xfrm>
            <a:off x="7084343" y="1234440"/>
            <a:ext cx="1627800" cy="2607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Where it is used</a:t>
            </a:r>
            <a:endParaRPr b="0" i="0" sz="1100" u="none" cap="none" strike="noStrike">
              <a:solidFill>
                <a:srgbClr val="000000"/>
              </a:solidFill>
              <a:latin typeface="Arial"/>
              <a:ea typeface="Arial"/>
              <a:cs typeface="Arial"/>
              <a:sym typeface="Arial"/>
            </a:endParaRPr>
          </a:p>
        </p:txBody>
      </p:sp>
      <p:sp>
        <p:nvSpPr>
          <p:cNvPr id="224" name="Google Shape;224;p3"/>
          <p:cNvSpPr/>
          <p:nvPr/>
        </p:nvSpPr>
        <p:spPr>
          <a:xfrm>
            <a:off x="377192" y="1495044"/>
            <a:ext cx="16803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5" name="Google Shape;225;p3"/>
          <p:cNvSpPr txBox="1"/>
          <p:nvPr/>
        </p:nvSpPr>
        <p:spPr>
          <a:xfrm>
            <a:off x="432056" y="1495044"/>
            <a:ext cx="157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0E7C86"/>
                </a:solidFill>
                <a:latin typeface="Arial"/>
                <a:ea typeface="Arial"/>
                <a:cs typeface="Arial"/>
                <a:sym typeface="Arial"/>
              </a:rPr>
              <a:t>Proton Exchange Membrane</a:t>
            </a:r>
            <a:endParaRPr b="0" i="0" sz="1100" u="none" cap="none" strike="noStrike">
              <a:solidFill>
                <a:srgbClr val="000000"/>
              </a:solidFill>
              <a:latin typeface="Arial"/>
              <a:ea typeface="Arial"/>
              <a:cs typeface="Arial"/>
              <a:sym typeface="Arial"/>
            </a:endParaRPr>
          </a:p>
        </p:txBody>
      </p:sp>
      <p:sp>
        <p:nvSpPr>
          <p:cNvPr id="226" name="Google Shape;226;p3"/>
          <p:cNvSpPr/>
          <p:nvPr/>
        </p:nvSpPr>
        <p:spPr>
          <a:xfrm>
            <a:off x="2057408" y="1495044"/>
            <a:ext cx="5829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7" name="Google Shape;227;p3"/>
          <p:cNvSpPr txBox="1"/>
          <p:nvPr/>
        </p:nvSpPr>
        <p:spPr>
          <a:xfrm>
            <a:off x="2112273" y="1495044"/>
            <a:ext cx="4731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PEMFC</a:t>
            </a:r>
            <a:endParaRPr b="0" i="0" sz="1100" u="none" cap="none" strike="noStrike">
              <a:solidFill>
                <a:srgbClr val="000000"/>
              </a:solidFill>
              <a:latin typeface="Arial"/>
              <a:ea typeface="Arial"/>
              <a:cs typeface="Arial"/>
              <a:sym typeface="Arial"/>
            </a:endParaRPr>
          </a:p>
        </p:txBody>
      </p:sp>
      <p:sp>
        <p:nvSpPr>
          <p:cNvPr id="228" name="Google Shape;228;p3"/>
          <p:cNvSpPr/>
          <p:nvPr/>
        </p:nvSpPr>
        <p:spPr>
          <a:xfrm>
            <a:off x="2640341" y="1495044"/>
            <a:ext cx="18861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9" name="Google Shape;229;p3"/>
          <p:cNvSpPr txBox="1"/>
          <p:nvPr/>
        </p:nvSpPr>
        <p:spPr>
          <a:xfrm>
            <a:off x="2695205" y="1495044"/>
            <a:ext cx="17763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Polymer · H+</a:t>
            </a:r>
            <a:endParaRPr b="0" i="0" sz="1100" u="none" cap="none" strike="noStrike">
              <a:solidFill>
                <a:srgbClr val="000000"/>
              </a:solidFill>
              <a:latin typeface="Arial"/>
              <a:ea typeface="Arial"/>
              <a:cs typeface="Arial"/>
              <a:sym typeface="Arial"/>
            </a:endParaRPr>
          </a:p>
        </p:txBody>
      </p:sp>
      <p:sp>
        <p:nvSpPr>
          <p:cNvPr id="230" name="Google Shape;230;p3"/>
          <p:cNvSpPr/>
          <p:nvPr/>
        </p:nvSpPr>
        <p:spPr>
          <a:xfrm>
            <a:off x="4526299" y="1495044"/>
            <a:ext cx="10629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1" name="Google Shape;231;p3"/>
          <p:cNvSpPr txBox="1"/>
          <p:nvPr/>
        </p:nvSpPr>
        <p:spPr>
          <a:xfrm>
            <a:off x="4581163" y="1495044"/>
            <a:ext cx="9534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60 – 80 °C</a:t>
            </a:r>
            <a:endParaRPr b="0" i="0" sz="1100" u="none" cap="none" strike="noStrike">
              <a:solidFill>
                <a:srgbClr val="000000"/>
              </a:solidFill>
              <a:latin typeface="Arial"/>
              <a:ea typeface="Arial"/>
              <a:cs typeface="Arial"/>
              <a:sym typeface="Arial"/>
            </a:endParaRPr>
          </a:p>
        </p:txBody>
      </p:sp>
      <p:sp>
        <p:nvSpPr>
          <p:cNvPr id="232" name="Google Shape;232;p3"/>
          <p:cNvSpPr/>
          <p:nvPr/>
        </p:nvSpPr>
        <p:spPr>
          <a:xfrm>
            <a:off x="5589293" y="1495044"/>
            <a:ext cx="14403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3" name="Google Shape;233;p3"/>
          <p:cNvSpPr txBox="1"/>
          <p:nvPr/>
        </p:nvSpPr>
        <p:spPr>
          <a:xfrm>
            <a:off x="5644157" y="1495044"/>
            <a:ext cx="133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Pure H₂</a:t>
            </a:r>
            <a:endParaRPr b="0" i="0" sz="1100" u="none" cap="none" strike="noStrike">
              <a:solidFill>
                <a:srgbClr val="000000"/>
              </a:solidFill>
              <a:latin typeface="Arial"/>
              <a:ea typeface="Arial"/>
              <a:cs typeface="Arial"/>
              <a:sym typeface="Arial"/>
            </a:endParaRPr>
          </a:p>
        </p:txBody>
      </p:sp>
      <p:sp>
        <p:nvSpPr>
          <p:cNvPr id="234" name="Google Shape;234;p3"/>
          <p:cNvSpPr/>
          <p:nvPr/>
        </p:nvSpPr>
        <p:spPr>
          <a:xfrm>
            <a:off x="7029479" y="1495044"/>
            <a:ext cx="17373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5" name="Google Shape;235;p3"/>
          <p:cNvSpPr txBox="1"/>
          <p:nvPr/>
        </p:nvSpPr>
        <p:spPr>
          <a:xfrm>
            <a:off x="7084343" y="1495044"/>
            <a:ext cx="16278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Transport, backup — fast start</a:t>
            </a:r>
            <a:endParaRPr b="0" i="0" sz="1100" u="none" cap="none" strike="noStrike">
              <a:solidFill>
                <a:srgbClr val="000000"/>
              </a:solidFill>
              <a:latin typeface="Arial"/>
              <a:ea typeface="Arial"/>
              <a:cs typeface="Arial"/>
              <a:sym typeface="Arial"/>
            </a:endParaRPr>
          </a:p>
        </p:txBody>
      </p:sp>
      <p:sp>
        <p:nvSpPr>
          <p:cNvPr id="236" name="Google Shape;236;p3"/>
          <p:cNvSpPr/>
          <p:nvPr/>
        </p:nvSpPr>
        <p:spPr>
          <a:xfrm>
            <a:off x="377192" y="1783080"/>
            <a:ext cx="16803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7" name="Google Shape;237;p3"/>
          <p:cNvSpPr txBox="1"/>
          <p:nvPr/>
        </p:nvSpPr>
        <p:spPr>
          <a:xfrm>
            <a:off x="432056" y="1783080"/>
            <a:ext cx="157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14303F"/>
                </a:solidFill>
                <a:latin typeface="Arial"/>
                <a:ea typeface="Arial"/>
                <a:cs typeface="Arial"/>
                <a:sym typeface="Arial"/>
              </a:rPr>
              <a:t>Alkaline</a:t>
            </a:r>
            <a:endParaRPr b="0" i="0" sz="1100" u="none" cap="none" strike="noStrike">
              <a:solidFill>
                <a:srgbClr val="000000"/>
              </a:solidFill>
              <a:latin typeface="Arial"/>
              <a:ea typeface="Arial"/>
              <a:cs typeface="Arial"/>
              <a:sym typeface="Arial"/>
            </a:endParaRPr>
          </a:p>
        </p:txBody>
      </p:sp>
      <p:sp>
        <p:nvSpPr>
          <p:cNvPr id="238" name="Google Shape;238;p3"/>
          <p:cNvSpPr/>
          <p:nvPr/>
        </p:nvSpPr>
        <p:spPr>
          <a:xfrm>
            <a:off x="2057408" y="1783080"/>
            <a:ext cx="5829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9" name="Google Shape;239;p3"/>
          <p:cNvSpPr txBox="1"/>
          <p:nvPr/>
        </p:nvSpPr>
        <p:spPr>
          <a:xfrm>
            <a:off x="2112273" y="1783080"/>
            <a:ext cx="4731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AFC</a:t>
            </a:r>
            <a:endParaRPr b="0" i="0" sz="1100" u="none" cap="none" strike="noStrike">
              <a:solidFill>
                <a:srgbClr val="000000"/>
              </a:solidFill>
              <a:latin typeface="Arial"/>
              <a:ea typeface="Arial"/>
              <a:cs typeface="Arial"/>
              <a:sym typeface="Arial"/>
            </a:endParaRPr>
          </a:p>
        </p:txBody>
      </p:sp>
      <p:sp>
        <p:nvSpPr>
          <p:cNvPr id="240" name="Google Shape;240;p3"/>
          <p:cNvSpPr/>
          <p:nvPr/>
        </p:nvSpPr>
        <p:spPr>
          <a:xfrm>
            <a:off x="2640341" y="1783080"/>
            <a:ext cx="18861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1" name="Google Shape;241;p3"/>
          <p:cNvSpPr txBox="1"/>
          <p:nvPr/>
        </p:nvSpPr>
        <p:spPr>
          <a:xfrm>
            <a:off x="2695205" y="1783080"/>
            <a:ext cx="17763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KOH · OH-</a:t>
            </a:r>
            <a:endParaRPr b="0" i="0" sz="1100" u="none" cap="none" strike="noStrike">
              <a:solidFill>
                <a:srgbClr val="000000"/>
              </a:solidFill>
              <a:latin typeface="Arial"/>
              <a:ea typeface="Arial"/>
              <a:cs typeface="Arial"/>
              <a:sym typeface="Arial"/>
            </a:endParaRPr>
          </a:p>
        </p:txBody>
      </p:sp>
      <p:sp>
        <p:nvSpPr>
          <p:cNvPr id="242" name="Google Shape;242;p3"/>
          <p:cNvSpPr/>
          <p:nvPr/>
        </p:nvSpPr>
        <p:spPr>
          <a:xfrm>
            <a:off x="4526299" y="1783080"/>
            <a:ext cx="10629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3" name="Google Shape;243;p3"/>
          <p:cNvSpPr txBox="1"/>
          <p:nvPr/>
        </p:nvSpPr>
        <p:spPr>
          <a:xfrm>
            <a:off x="4581163" y="1783080"/>
            <a:ext cx="9534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&lt; 100 °C</a:t>
            </a:r>
            <a:endParaRPr b="0" i="0" sz="1100" u="none" cap="none" strike="noStrike">
              <a:solidFill>
                <a:srgbClr val="000000"/>
              </a:solidFill>
              <a:latin typeface="Arial"/>
              <a:ea typeface="Arial"/>
              <a:cs typeface="Arial"/>
              <a:sym typeface="Arial"/>
            </a:endParaRPr>
          </a:p>
        </p:txBody>
      </p:sp>
      <p:sp>
        <p:nvSpPr>
          <p:cNvPr id="244" name="Google Shape;244;p3"/>
          <p:cNvSpPr/>
          <p:nvPr/>
        </p:nvSpPr>
        <p:spPr>
          <a:xfrm>
            <a:off x="5589293" y="1783080"/>
            <a:ext cx="14403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5" name="Google Shape;245;p3"/>
          <p:cNvSpPr txBox="1"/>
          <p:nvPr/>
        </p:nvSpPr>
        <p:spPr>
          <a:xfrm>
            <a:off x="5644157" y="1783080"/>
            <a:ext cx="133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Pure H₂</a:t>
            </a:r>
            <a:endParaRPr b="0" i="0" sz="1100" u="none" cap="none" strike="noStrike">
              <a:solidFill>
                <a:srgbClr val="000000"/>
              </a:solidFill>
              <a:latin typeface="Arial"/>
              <a:ea typeface="Arial"/>
              <a:cs typeface="Arial"/>
              <a:sym typeface="Arial"/>
            </a:endParaRPr>
          </a:p>
        </p:txBody>
      </p:sp>
      <p:sp>
        <p:nvSpPr>
          <p:cNvPr id="246" name="Google Shape;246;p3"/>
          <p:cNvSpPr/>
          <p:nvPr/>
        </p:nvSpPr>
        <p:spPr>
          <a:xfrm>
            <a:off x="7029479" y="1783080"/>
            <a:ext cx="17373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7" name="Google Shape;247;p3"/>
          <p:cNvSpPr txBox="1"/>
          <p:nvPr/>
        </p:nvSpPr>
        <p:spPr>
          <a:xfrm>
            <a:off x="7084343" y="1783080"/>
            <a:ext cx="16278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Space, specialist</a:t>
            </a:r>
            <a:endParaRPr b="0" i="0" sz="1100" u="none" cap="none" strike="noStrike">
              <a:solidFill>
                <a:srgbClr val="000000"/>
              </a:solidFill>
              <a:latin typeface="Arial"/>
              <a:ea typeface="Arial"/>
              <a:cs typeface="Arial"/>
              <a:sym typeface="Arial"/>
            </a:endParaRPr>
          </a:p>
        </p:txBody>
      </p:sp>
      <p:sp>
        <p:nvSpPr>
          <p:cNvPr id="248" name="Google Shape;248;p3"/>
          <p:cNvSpPr/>
          <p:nvPr/>
        </p:nvSpPr>
        <p:spPr>
          <a:xfrm>
            <a:off x="377192" y="2071116"/>
            <a:ext cx="16803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9" name="Google Shape;249;p3"/>
          <p:cNvSpPr txBox="1"/>
          <p:nvPr/>
        </p:nvSpPr>
        <p:spPr>
          <a:xfrm>
            <a:off x="432056" y="2071116"/>
            <a:ext cx="157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14303F"/>
                </a:solidFill>
                <a:latin typeface="Arial"/>
                <a:ea typeface="Arial"/>
                <a:cs typeface="Arial"/>
                <a:sym typeface="Arial"/>
              </a:rPr>
              <a:t>Phosphoric Acid</a:t>
            </a:r>
            <a:endParaRPr b="0" i="0" sz="1100" u="none" cap="none" strike="noStrike">
              <a:solidFill>
                <a:srgbClr val="000000"/>
              </a:solidFill>
              <a:latin typeface="Arial"/>
              <a:ea typeface="Arial"/>
              <a:cs typeface="Arial"/>
              <a:sym typeface="Arial"/>
            </a:endParaRPr>
          </a:p>
        </p:txBody>
      </p:sp>
      <p:sp>
        <p:nvSpPr>
          <p:cNvPr id="250" name="Google Shape;250;p3"/>
          <p:cNvSpPr/>
          <p:nvPr/>
        </p:nvSpPr>
        <p:spPr>
          <a:xfrm>
            <a:off x="2057408" y="2071116"/>
            <a:ext cx="5829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1" name="Google Shape;251;p3"/>
          <p:cNvSpPr txBox="1"/>
          <p:nvPr/>
        </p:nvSpPr>
        <p:spPr>
          <a:xfrm>
            <a:off x="2112273" y="2071116"/>
            <a:ext cx="4731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PAFC</a:t>
            </a:r>
            <a:endParaRPr b="0" i="0" sz="1100" u="none" cap="none" strike="noStrike">
              <a:solidFill>
                <a:srgbClr val="000000"/>
              </a:solidFill>
              <a:latin typeface="Arial"/>
              <a:ea typeface="Arial"/>
              <a:cs typeface="Arial"/>
              <a:sym typeface="Arial"/>
            </a:endParaRPr>
          </a:p>
        </p:txBody>
      </p:sp>
      <p:sp>
        <p:nvSpPr>
          <p:cNvPr id="252" name="Google Shape;252;p3"/>
          <p:cNvSpPr/>
          <p:nvPr/>
        </p:nvSpPr>
        <p:spPr>
          <a:xfrm>
            <a:off x="2640341" y="2071116"/>
            <a:ext cx="18861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3" name="Google Shape;253;p3"/>
          <p:cNvSpPr txBox="1"/>
          <p:nvPr/>
        </p:nvSpPr>
        <p:spPr>
          <a:xfrm>
            <a:off x="2695205" y="2071116"/>
            <a:ext cx="17763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Phosphoric acid · H+</a:t>
            </a:r>
            <a:endParaRPr b="0" i="0" sz="1100" u="none" cap="none" strike="noStrike">
              <a:solidFill>
                <a:srgbClr val="000000"/>
              </a:solidFill>
              <a:latin typeface="Arial"/>
              <a:ea typeface="Arial"/>
              <a:cs typeface="Arial"/>
              <a:sym typeface="Arial"/>
            </a:endParaRPr>
          </a:p>
        </p:txBody>
      </p:sp>
      <p:sp>
        <p:nvSpPr>
          <p:cNvPr id="254" name="Google Shape;254;p3"/>
          <p:cNvSpPr/>
          <p:nvPr/>
        </p:nvSpPr>
        <p:spPr>
          <a:xfrm>
            <a:off x="4526299" y="2071116"/>
            <a:ext cx="10629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5" name="Google Shape;255;p3"/>
          <p:cNvSpPr txBox="1"/>
          <p:nvPr/>
        </p:nvSpPr>
        <p:spPr>
          <a:xfrm>
            <a:off x="4581163" y="2071116"/>
            <a:ext cx="9534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 200 °C</a:t>
            </a:r>
            <a:endParaRPr b="0" i="0" sz="1100" u="none" cap="none" strike="noStrike">
              <a:solidFill>
                <a:srgbClr val="000000"/>
              </a:solidFill>
              <a:latin typeface="Arial"/>
              <a:ea typeface="Arial"/>
              <a:cs typeface="Arial"/>
              <a:sym typeface="Arial"/>
            </a:endParaRPr>
          </a:p>
        </p:txBody>
      </p:sp>
      <p:sp>
        <p:nvSpPr>
          <p:cNvPr id="256" name="Google Shape;256;p3"/>
          <p:cNvSpPr/>
          <p:nvPr/>
        </p:nvSpPr>
        <p:spPr>
          <a:xfrm>
            <a:off x="5589293" y="2071116"/>
            <a:ext cx="14403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7" name="Google Shape;257;p3"/>
          <p:cNvSpPr txBox="1"/>
          <p:nvPr/>
        </p:nvSpPr>
        <p:spPr>
          <a:xfrm>
            <a:off x="5644157" y="2071116"/>
            <a:ext cx="133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Reformed H₂</a:t>
            </a:r>
            <a:endParaRPr b="0" i="0" sz="1100" u="none" cap="none" strike="noStrike">
              <a:solidFill>
                <a:srgbClr val="000000"/>
              </a:solidFill>
              <a:latin typeface="Arial"/>
              <a:ea typeface="Arial"/>
              <a:cs typeface="Arial"/>
              <a:sym typeface="Arial"/>
            </a:endParaRPr>
          </a:p>
        </p:txBody>
      </p:sp>
      <p:sp>
        <p:nvSpPr>
          <p:cNvPr id="258" name="Google Shape;258;p3"/>
          <p:cNvSpPr/>
          <p:nvPr/>
        </p:nvSpPr>
        <p:spPr>
          <a:xfrm>
            <a:off x="7029479" y="2071116"/>
            <a:ext cx="17373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9" name="Google Shape;259;p3"/>
          <p:cNvSpPr txBox="1"/>
          <p:nvPr/>
        </p:nvSpPr>
        <p:spPr>
          <a:xfrm>
            <a:off x="7084343" y="2071116"/>
            <a:ext cx="16278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Mature stationary CHP</a:t>
            </a:r>
            <a:endParaRPr b="0" i="0" sz="1100" u="none" cap="none" strike="noStrike">
              <a:solidFill>
                <a:srgbClr val="000000"/>
              </a:solidFill>
              <a:latin typeface="Arial"/>
              <a:ea typeface="Arial"/>
              <a:cs typeface="Arial"/>
              <a:sym typeface="Arial"/>
            </a:endParaRPr>
          </a:p>
        </p:txBody>
      </p:sp>
      <p:sp>
        <p:nvSpPr>
          <p:cNvPr id="260" name="Google Shape;260;p3"/>
          <p:cNvSpPr/>
          <p:nvPr/>
        </p:nvSpPr>
        <p:spPr>
          <a:xfrm>
            <a:off x="377192" y="2359152"/>
            <a:ext cx="16803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1" name="Google Shape;261;p3"/>
          <p:cNvSpPr txBox="1"/>
          <p:nvPr/>
        </p:nvSpPr>
        <p:spPr>
          <a:xfrm>
            <a:off x="432056" y="2359152"/>
            <a:ext cx="157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14303F"/>
                </a:solidFill>
                <a:latin typeface="Arial"/>
                <a:ea typeface="Arial"/>
                <a:cs typeface="Arial"/>
                <a:sym typeface="Arial"/>
              </a:rPr>
              <a:t>Molten Carbonate</a:t>
            </a:r>
            <a:endParaRPr b="0" i="0" sz="1100" u="none" cap="none" strike="noStrike">
              <a:solidFill>
                <a:srgbClr val="000000"/>
              </a:solidFill>
              <a:latin typeface="Arial"/>
              <a:ea typeface="Arial"/>
              <a:cs typeface="Arial"/>
              <a:sym typeface="Arial"/>
            </a:endParaRPr>
          </a:p>
        </p:txBody>
      </p:sp>
      <p:sp>
        <p:nvSpPr>
          <p:cNvPr id="262" name="Google Shape;262;p3"/>
          <p:cNvSpPr/>
          <p:nvPr/>
        </p:nvSpPr>
        <p:spPr>
          <a:xfrm>
            <a:off x="2057408" y="2359152"/>
            <a:ext cx="5829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3" name="Google Shape;263;p3"/>
          <p:cNvSpPr txBox="1"/>
          <p:nvPr/>
        </p:nvSpPr>
        <p:spPr>
          <a:xfrm>
            <a:off x="2112273" y="2359152"/>
            <a:ext cx="4731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MCFC</a:t>
            </a:r>
            <a:endParaRPr b="0" i="0" sz="1100" u="none" cap="none" strike="noStrike">
              <a:solidFill>
                <a:srgbClr val="000000"/>
              </a:solidFill>
              <a:latin typeface="Arial"/>
              <a:ea typeface="Arial"/>
              <a:cs typeface="Arial"/>
              <a:sym typeface="Arial"/>
            </a:endParaRPr>
          </a:p>
        </p:txBody>
      </p:sp>
      <p:sp>
        <p:nvSpPr>
          <p:cNvPr id="264" name="Google Shape;264;p3"/>
          <p:cNvSpPr/>
          <p:nvPr/>
        </p:nvSpPr>
        <p:spPr>
          <a:xfrm>
            <a:off x="2640341" y="2359152"/>
            <a:ext cx="18861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5" name="Google Shape;265;p3"/>
          <p:cNvSpPr txBox="1"/>
          <p:nvPr/>
        </p:nvSpPr>
        <p:spPr>
          <a:xfrm>
            <a:off x="2695205" y="2359152"/>
            <a:ext cx="17763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Molten carbonate · CO₃²-</a:t>
            </a:r>
            <a:endParaRPr b="0" i="0" sz="1100" u="none" cap="none" strike="noStrike">
              <a:solidFill>
                <a:srgbClr val="000000"/>
              </a:solidFill>
              <a:latin typeface="Arial"/>
              <a:ea typeface="Arial"/>
              <a:cs typeface="Arial"/>
              <a:sym typeface="Arial"/>
            </a:endParaRPr>
          </a:p>
        </p:txBody>
      </p:sp>
      <p:sp>
        <p:nvSpPr>
          <p:cNvPr id="266" name="Google Shape;266;p3"/>
          <p:cNvSpPr/>
          <p:nvPr/>
        </p:nvSpPr>
        <p:spPr>
          <a:xfrm>
            <a:off x="4526299" y="2359152"/>
            <a:ext cx="10629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7" name="Google Shape;267;p3"/>
          <p:cNvSpPr txBox="1"/>
          <p:nvPr/>
        </p:nvSpPr>
        <p:spPr>
          <a:xfrm>
            <a:off x="4581163" y="2359152"/>
            <a:ext cx="9534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 650 °C</a:t>
            </a:r>
            <a:endParaRPr b="0" i="0" sz="1100" u="none" cap="none" strike="noStrike">
              <a:solidFill>
                <a:srgbClr val="000000"/>
              </a:solidFill>
              <a:latin typeface="Arial"/>
              <a:ea typeface="Arial"/>
              <a:cs typeface="Arial"/>
              <a:sym typeface="Arial"/>
            </a:endParaRPr>
          </a:p>
        </p:txBody>
      </p:sp>
      <p:sp>
        <p:nvSpPr>
          <p:cNvPr id="268" name="Google Shape;268;p3"/>
          <p:cNvSpPr/>
          <p:nvPr/>
        </p:nvSpPr>
        <p:spPr>
          <a:xfrm>
            <a:off x="5589293" y="2359152"/>
            <a:ext cx="14403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9" name="Google Shape;269;p3"/>
          <p:cNvSpPr txBox="1"/>
          <p:nvPr/>
        </p:nvSpPr>
        <p:spPr>
          <a:xfrm>
            <a:off x="5644157" y="2359152"/>
            <a:ext cx="133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H₂ · gas · biogas</a:t>
            </a:r>
            <a:endParaRPr b="0" i="0" sz="1100" u="none" cap="none" strike="noStrike">
              <a:solidFill>
                <a:srgbClr val="000000"/>
              </a:solidFill>
              <a:latin typeface="Arial"/>
              <a:ea typeface="Arial"/>
              <a:cs typeface="Arial"/>
              <a:sym typeface="Arial"/>
            </a:endParaRPr>
          </a:p>
        </p:txBody>
      </p:sp>
      <p:sp>
        <p:nvSpPr>
          <p:cNvPr id="270" name="Google Shape;270;p3"/>
          <p:cNvSpPr/>
          <p:nvPr/>
        </p:nvSpPr>
        <p:spPr>
          <a:xfrm>
            <a:off x="7029479" y="2359152"/>
            <a:ext cx="1737300" cy="2880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1" name="Google Shape;271;p3"/>
          <p:cNvSpPr txBox="1"/>
          <p:nvPr/>
        </p:nvSpPr>
        <p:spPr>
          <a:xfrm>
            <a:off x="7084343" y="2359152"/>
            <a:ext cx="16278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Large stationary power</a:t>
            </a:r>
            <a:endParaRPr b="0" i="0" sz="1100" u="none" cap="none" strike="noStrike">
              <a:solidFill>
                <a:srgbClr val="000000"/>
              </a:solidFill>
              <a:latin typeface="Arial"/>
              <a:ea typeface="Arial"/>
              <a:cs typeface="Arial"/>
              <a:sym typeface="Arial"/>
            </a:endParaRPr>
          </a:p>
        </p:txBody>
      </p:sp>
      <p:sp>
        <p:nvSpPr>
          <p:cNvPr id="272" name="Google Shape;272;p3"/>
          <p:cNvSpPr/>
          <p:nvPr/>
        </p:nvSpPr>
        <p:spPr>
          <a:xfrm>
            <a:off x="377192" y="2647188"/>
            <a:ext cx="16803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3" name="Google Shape;273;p3"/>
          <p:cNvSpPr txBox="1"/>
          <p:nvPr/>
        </p:nvSpPr>
        <p:spPr>
          <a:xfrm>
            <a:off x="432056" y="2647188"/>
            <a:ext cx="157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14303F"/>
                </a:solidFill>
                <a:latin typeface="Arial"/>
                <a:ea typeface="Arial"/>
                <a:cs typeface="Arial"/>
                <a:sym typeface="Arial"/>
              </a:rPr>
              <a:t>Solid Oxide</a:t>
            </a:r>
            <a:endParaRPr b="0" i="0" sz="1100" u="none" cap="none" strike="noStrike">
              <a:solidFill>
                <a:srgbClr val="000000"/>
              </a:solidFill>
              <a:latin typeface="Arial"/>
              <a:ea typeface="Arial"/>
              <a:cs typeface="Arial"/>
              <a:sym typeface="Arial"/>
            </a:endParaRPr>
          </a:p>
        </p:txBody>
      </p:sp>
      <p:sp>
        <p:nvSpPr>
          <p:cNvPr id="274" name="Google Shape;274;p3"/>
          <p:cNvSpPr/>
          <p:nvPr/>
        </p:nvSpPr>
        <p:spPr>
          <a:xfrm>
            <a:off x="2057408" y="2647188"/>
            <a:ext cx="5829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5" name="Google Shape;275;p3"/>
          <p:cNvSpPr txBox="1"/>
          <p:nvPr/>
        </p:nvSpPr>
        <p:spPr>
          <a:xfrm>
            <a:off x="2112273" y="2647188"/>
            <a:ext cx="4731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SOFC</a:t>
            </a:r>
            <a:endParaRPr b="0" i="0" sz="1100" u="none" cap="none" strike="noStrike">
              <a:solidFill>
                <a:srgbClr val="000000"/>
              </a:solidFill>
              <a:latin typeface="Arial"/>
              <a:ea typeface="Arial"/>
              <a:cs typeface="Arial"/>
              <a:sym typeface="Arial"/>
            </a:endParaRPr>
          </a:p>
        </p:txBody>
      </p:sp>
      <p:sp>
        <p:nvSpPr>
          <p:cNvPr id="276" name="Google Shape;276;p3"/>
          <p:cNvSpPr/>
          <p:nvPr/>
        </p:nvSpPr>
        <p:spPr>
          <a:xfrm>
            <a:off x="2640341" y="2647188"/>
            <a:ext cx="18861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7" name="Google Shape;277;p3"/>
          <p:cNvSpPr txBox="1"/>
          <p:nvPr/>
        </p:nvSpPr>
        <p:spPr>
          <a:xfrm>
            <a:off x="2695205" y="2647188"/>
            <a:ext cx="17763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Ceramic oxide · O²-</a:t>
            </a:r>
            <a:endParaRPr b="0" i="0" sz="1100" u="none" cap="none" strike="noStrike">
              <a:solidFill>
                <a:srgbClr val="000000"/>
              </a:solidFill>
              <a:latin typeface="Arial"/>
              <a:ea typeface="Arial"/>
              <a:cs typeface="Arial"/>
              <a:sym typeface="Arial"/>
            </a:endParaRPr>
          </a:p>
        </p:txBody>
      </p:sp>
      <p:sp>
        <p:nvSpPr>
          <p:cNvPr id="278" name="Google Shape;278;p3"/>
          <p:cNvSpPr/>
          <p:nvPr/>
        </p:nvSpPr>
        <p:spPr>
          <a:xfrm>
            <a:off x="4526299" y="2647188"/>
            <a:ext cx="10629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9" name="Google Shape;279;p3"/>
          <p:cNvSpPr txBox="1"/>
          <p:nvPr/>
        </p:nvSpPr>
        <p:spPr>
          <a:xfrm>
            <a:off x="4581163" y="2647188"/>
            <a:ext cx="9534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500 – 1000 °C</a:t>
            </a:r>
            <a:endParaRPr b="0" i="0" sz="1100" u="none" cap="none" strike="noStrike">
              <a:solidFill>
                <a:srgbClr val="000000"/>
              </a:solidFill>
              <a:latin typeface="Arial"/>
              <a:ea typeface="Arial"/>
              <a:cs typeface="Arial"/>
              <a:sym typeface="Arial"/>
            </a:endParaRPr>
          </a:p>
        </p:txBody>
      </p:sp>
      <p:sp>
        <p:nvSpPr>
          <p:cNvPr id="280" name="Google Shape;280;p3"/>
          <p:cNvSpPr/>
          <p:nvPr/>
        </p:nvSpPr>
        <p:spPr>
          <a:xfrm>
            <a:off x="5589293" y="2647188"/>
            <a:ext cx="14403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1" name="Google Shape;281;p3"/>
          <p:cNvSpPr txBox="1"/>
          <p:nvPr/>
        </p:nvSpPr>
        <p:spPr>
          <a:xfrm>
            <a:off x="5644157" y="2647188"/>
            <a:ext cx="133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H₂ · CO · hydrocarbons</a:t>
            </a:r>
            <a:endParaRPr b="0" i="0" sz="1100" u="none" cap="none" strike="noStrike">
              <a:solidFill>
                <a:srgbClr val="000000"/>
              </a:solidFill>
              <a:latin typeface="Arial"/>
              <a:ea typeface="Arial"/>
              <a:cs typeface="Arial"/>
              <a:sym typeface="Arial"/>
            </a:endParaRPr>
          </a:p>
        </p:txBody>
      </p:sp>
      <p:sp>
        <p:nvSpPr>
          <p:cNvPr id="282" name="Google Shape;282;p3"/>
          <p:cNvSpPr/>
          <p:nvPr/>
        </p:nvSpPr>
        <p:spPr>
          <a:xfrm>
            <a:off x="7029479" y="2647188"/>
            <a:ext cx="1737300" cy="2880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3" name="Google Shape;283;p3"/>
          <p:cNvSpPr txBox="1"/>
          <p:nvPr/>
        </p:nvSpPr>
        <p:spPr>
          <a:xfrm>
            <a:off x="7084343" y="2647188"/>
            <a:ext cx="16278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High-efficiency stationary</a:t>
            </a:r>
            <a:endParaRPr b="0" i="0" sz="1100" u="none" cap="none" strike="noStrike">
              <a:solidFill>
                <a:srgbClr val="000000"/>
              </a:solidFill>
              <a:latin typeface="Arial"/>
              <a:ea typeface="Arial"/>
              <a:cs typeface="Arial"/>
              <a:sym typeface="Arial"/>
            </a:endParaRPr>
          </a:p>
        </p:txBody>
      </p:sp>
      <p:sp>
        <p:nvSpPr>
          <p:cNvPr id="284" name="Google Shape;284;p3"/>
          <p:cNvSpPr/>
          <p:nvPr/>
        </p:nvSpPr>
        <p:spPr>
          <a:xfrm>
            <a:off x="377192" y="2935224"/>
            <a:ext cx="16803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5" name="Google Shape;285;p3"/>
          <p:cNvSpPr txBox="1"/>
          <p:nvPr/>
        </p:nvSpPr>
        <p:spPr>
          <a:xfrm>
            <a:off x="432056" y="2935224"/>
            <a:ext cx="157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0E7C86"/>
                </a:solidFill>
                <a:latin typeface="Arial"/>
                <a:ea typeface="Arial"/>
                <a:cs typeface="Arial"/>
                <a:sym typeface="Arial"/>
              </a:rPr>
              <a:t>Direct Methanol</a:t>
            </a:r>
            <a:endParaRPr b="0" i="0" sz="1100" u="none" cap="none" strike="noStrike">
              <a:solidFill>
                <a:srgbClr val="000000"/>
              </a:solidFill>
              <a:latin typeface="Arial"/>
              <a:ea typeface="Arial"/>
              <a:cs typeface="Arial"/>
              <a:sym typeface="Arial"/>
            </a:endParaRPr>
          </a:p>
        </p:txBody>
      </p:sp>
      <p:sp>
        <p:nvSpPr>
          <p:cNvPr id="286" name="Google Shape;286;p3"/>
          <p:cNvSpPr/>
          <p:nvPr/>
        </p:nvSpPr>
        <p:spPr>
          <a:xfrm>
            <a:off x="2057408" y="2935224"/>
            <a:ext cx="5829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7" name="Google Shape;287;p3"/>
          <p:cNvSpPr txBox="1"/>
          <p:nvPr/>
        </p:nvSpPr>
        <p:spPr>
          <a:xfrm>
            <a:off x="2112273" y="2935224"/>
            <a:ext cx="4731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DMFC</a:t>
            </a:r>
            <a:endParaRPr b="0" i="0" sz="1100" u="none" cap="none" strike="noStrike">
              <a:solidFill>
                <a:srgbClr val="000000"/>
              </a:solidFill>
              <a:latin typeface="Arial"/>
              <a:ea typeface="Arial"/>
              <a:cs typeface="Arial"/>
              <a:sym typeface="Arial"/>
            </a:endParaRPr>
          </a:p>
        </p:txBody>
      </p:sp>
      <p:sp>
        <p:nvSpPr>
          <p:cNvPr id="288" name="Google Shape;288;p3"/>
          <p:cNvSpPr/>
          <p:nvPr/>
        </p:nvSpPr>
        <p:spPr>
          <a:xfrm>
            <a:off x="2640341" y="2935224"/>
            <a:ext cx="18861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9" name="Google Shape;289;p3"/>
          <p:cNvSpPr txBox="1"/>
          <p:nvPr/>
        </p:nvSpPr>
        <p:spPr>
          <a:xfrm>
            <a:off x="2695205" y="2935224"/>
            <a:ext cx="17763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Polymer · H+</a:t>
            </a:r>
            <a:endParaRPr b="0" i="0" sz="1100" u="none" cap="none" strike="noStrike">
              <a:solidFill>
                <a:srgbClr val="000000"/>
              </a:solidFill>
              <a:latin typeface="Arial"/>
              <a:ea typeface="Arial"/>
              <a:cs typeface="Arial"/>
              <a:sym typeface="Arial"/>
            </a:endParaRPr>
          </a:p>
        </p:txBody>
      </p:sp>
      <p:sp>
        <p:nvSpPr>
          <p:cNvPr id="290" name="Google Shape;290;p3"/>
          <p:cNvSpPr/>
          <p:nvPr/>
        </p:nvSpPr>
        <p:spPr>
          <a:xfrm>
            <a:off x="4526299" y="2935224"/>
            <a:ext cx="10629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1" name="Google Shape;291;p3"/>
          <p:cNvSpPr txBox="1"/>
          <p:nvPr/>
        </p:nvSpPr>
        <p:spPr>
          <a:xfrm>
            <a:off x="4581163" y="2935224"/>
            <a:ext cx="9534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60 – 130 °C</a:t>
            </a:r>
            <a:endParaRPr b="0" i="0" sz="1100" u="none" cap="none" strike="noStrike">
              <a:solidFill>
                <a:srgbClr val="000000"/>
              </a:solidFill>
              <a:latin typeface="Arial"/>
              <a:ea typeface="Arial"/>
              <a:cs typeface="Arial"/>
              <a:sym typeface="Arial"/>
            </a:endParaRPr>
          </a:p>
        </p:txBody>
      </p:sp>
      <p:sp>
        <p:nvSpPr>
          <p:cNvPr id="292" name="Google Shape;292;p3"/>
          <p:cNvSpPr/>
          <p:nvPr/>
        </p:nvSpPr>
        <p:spPr>
          <a:xfrm>
            <a:off x="5589293" y="2935224"/>
            <a:ext cx="14403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3" name="Google Shape;293;p3"/>
          <p:cNvSpPr txBox="1"/>
          <p:nvPr/>
        </p:nvSpPr>
        <p:spPr>
          <a:xfrm>
            <a:off x="5644157" y="2935224"/>
            <a:ext cx="13305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Methanol + water</a:t>
            </a:r>
            <a:endParaRPr b="0" i="0" sz="1100" u="none" cap="none" strike="noStrike">
              <a:solidFill>
                <a:srgbClr val="000000"/>
              </a:solidFill>
              <a:latin typeface="Arial"/>
              <a:ea typeface="Arial"/>
              <a:cs typeface="Arial"/>
              <a:sym typeface="Arial"/>
            </a:endParaRPr>
          </a:p>
        </p:txBody>
      </p:sp>
      <p:sp>
        <p:nvSpPr>
          <p:cNvPr id="294" name="Google Shape;294;p3"/>
          <p:cNvSpPr/>
          <p:nvPr/>
        </p:nvSpPr>
        <p:spPr>
          <a:xfrm>
            <a:off x="7029479" y="2935224"/>
            <a:ext cx="1737300" cy="288000"/>
          </a:xfrm>
          <a:prstGeom prst="rect">
            <a:avLst/>
          </a:prstGeom>
          <a:solidFill>
            <a:srgbClr val="E6F2F3"/>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5" name="Google Shape;295;p3"/>
          <p:cNvSpPr txBox="1"/>
          <p:nvPr/>
        </p:nvSpPr>
        <p:spPr>
          <a:xfrm>
            <a:off x="7084343" y="2935224"/>
            <a:ext cx="1627800" cy="288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0E7C86"/>
                </a:solidFill>
                <a:latin typeface="Arial"/>
                <a:ea typeface="Arial"/>
                <a:cs typeface="Arial"/>
                <a:sym typeface="Arial"/>
              </a:rPr>
              <a:t>Portable, low power, long runtime</a:t>
            </a:r>
            <a:endParaRPr b="0" i="0" sz="1100" u="none" cap="none" strike="noStrike">
              <a:solidFill>
                <a:srgbClr val="000000"/>
              </a:solidFill>
              <a:latin typeface="Arial"/>
              <a:ea typeface="Arial"/>
              <a:cs typeface="Arial"/>
              <a:sym typeface="Arial"/>
            </a:endParaRPr>
          </a:p>
        </p:txBody>
      </p:sp>
      <p:sp>
        <p:nvSpPr>
          <p:cNvPr id="296" name="Google Shape;296;p3"/>
          <p:cNvSpPr/>
          <p:nvPr/>
        </p:nvSpPr>
        <p:spPr>
          <a:xfrm>
            <a:off x="377192" y="3374136"/>
            <a:ext cx="4080600" cy="891600"/>
          </a:xfrm>
          <a:prstGeom prst="roundRect">
            <a:avLst>
              <a:gd fmla="val 5384" name="adj"/>
            </a:avLst>
          </a:prstGeom>
          <a:solidFill>
            <a:srgbClr val="E6F2F3"/>
          </a:solidFill>
          <a:ln cap="flat" cmpd="sng" w="9525">
            <a:solidFill>
              <a:srgbClr val="C2DE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7" name="Google Shape;297;p3"/>
          <p:cNvSpPr txBox="1"/>
          <p:nvPr/>
        </p:nvSpPr>
        <p:spPr>
          <a:xfrm>
            <a:off x="493778" y="3494837"/>
            <a:ext cx="3847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0E7C86"/>
                </a:solidFill>
                <a:latin typeface="Arial"/>
                <a:ea typeface="Arial"/>
                <a:cs typeface="Arial"/>
                <a:sym typeface="Arial"/>
              </a:rPr>
              <a:t>The two highlighted rows share a membrane</a:t>
            </a:r>
            <a:endParaRPr b="0" i="0" sz="1100" u="none" cap="none" strike="noStrike">
              <a:solidFill>
                <a:srgbClr val="000000"/>
              </a:solidFill>
              <a:latin typeface="Arial"/>
              <a:ea typeface="Arial"/>
              <a:cs typeface="Arial"/>
              <a:sym typeface="Arial"/>
            </a:endParaRPr>
          </a:p>
        </p:txBody>
      </p:sp>
      <p:sp>
        <p:nvSpPr>
          <p:cNvPr id="298" name="Google Shape;298;p3"/>
          <p:cNvSpPr txBox="1"/>
          <p:nvPr/>
        </p:nvSpPr>
        <p:spPr>
          <a:xfrm>
            <a:off x="493778" y="3676478"/>
            <a:ext cx="3847200" cy="301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PEMFC and DMFC are both low-temperature polymer-membrane cells, so both start quickly and follow load. They differ only in the fuel.</a:t>
            </a:r>
            <a:endParaRPr b="0" i="0" sz="1100" u="none" cap="none" strike="noStrike">
              <a:solidFill>
                <a:srgbClr val="000000"/>
              </a:solidFill>
              <a:latin typeface="Arial"/>
              <a:ea typeface="Arial"/>
              <a:cs typeface="Arial"/>
              <a:sym typeface="Arial"/>
            </a:endParaRPr>
          </a:p>
        </p:txBody>
      </p:sp>
      <p:sp>
        <p:nvSpPr>
          <p:cNvPr id="299" name="Google Shape;299;p3"/>
          <p:cNvSpPr/>
          <p:nvPr/>
        </p:nvSpPr>
        <p:spPr>
          <a:xfrm>
            <a:off x="4684033" y="3374136"/>
            <a:ext cx="4080600" cy="891600"/>
          </a:xfrm>
          <a:prstGeom prst="roundRect">
            <a:avLst>
              <a:gd fmla="val 5384" name="adj"/>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0" name="Google Shape;300;p3"/>
          <p:cNvSpPr txBox="1"/>
          <p:nvPr/>
        </p:nvSpPr>
        <p:spPr>
          <a:xfrm>
            <a:off x="4800620" y="3494837"/>
            <a:ext cx="3847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14303F"/>
                </a:solidFill>
                <a:latin typeface="Arial"/>
                <a:ea typeface="Arial"/>
                <a:cs typeface="Arial"/>
                <a:sym typeface="Arial"/>
              </a:rPr>
              <a:t>Read it by column, not by row</a:t>
            </a:r>
            <a:endParaRPr b="0" i="0" sz="1100" u="none" cap="none" strike="noStrike">
              <a:solidFill>
                <a:srgbClr val="000000"/>
              </a:solidFill>
              <a:latin typeface="Arial"/>
              <a:ea typeface="Arial"/>
              <a:cs typeface="Arial"/>
              <a:sym typeface="Arial"/>
            </a:endParaRPr>
          </a:p>
        </p:txBody>
      </p:sp>
      <p:sp>
        <p:nvSpPr>
          <p:cNvPr id="301" name="Google Shape;301;p3"/>
          <p:cNvSpPr txBox="1"/>
          <p:nvPr/>
        </p:nvSpPr>
        <p:spPr>
          <a:xfrm>
            <a:off x="4800620" y="3676478"/>
            <a:ext cx="3847200" cy="301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Electrolyte → which ion moves → what temperature the materials need → which fuel is tolerated. The whole table follows from column three.</a:t>
            </a:r>
            <a:endParaRPr b="0" i="0" sz="1100" u="none" cap="none" strike="noStrike">
              <a:solidFill>
                <a:srgbClr val="000000"/>
              </a:solidFill>
              <a:latin typeface="Arial"/>
              <a:ea typeface="Arial"/>
              <a:cs typeface="Arial"/>
              <a:sym typeface="Arial"/>
            </a:endParaRPr>
          </a:p>
        </p:txBody>
      </p:sp>
      <p:sp>
        <p:nvSpPr>
          <p:cNvPr id="302" name="Google Shape;302;p3"/>
          <p:cNvSpPr txBox="1"/>
          <p:nvPr/>
        </p:nvSpPr>
        <p:spPr>
          <a:xfrm>
            <a:off x="342901" y="4416552"/>
            <a:ext cx="83895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A DMFC is best understood as a PEMFC fed a liquid — which is why the rest of this deck takes those two.</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01 · FOUNDATIONS</a:t>
            </a:r>
            <a:endParaRPr b="0" i="0" sz="1100" u="none" cap="none" strike="noStrike">
              <a:solidFill>
                <a:srgbClr val="000000"/>
              </a:solidFill>
              <a:latin typeface="Arial"/>
              <a:ea typeface="Arial"/>
              <a:cs typeface="Arial"/>
              <a:sym typeface="Arial"/>
            </a:endParaRPr>
          </a:p>
        </p:txBody>
      </p:sp>
      <p:sp>
        <p:nvSpPr>
          <p:cNvPr id="309" name="Google Shape;309;p4"/>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What they actually look like</a:t>
            </a:r>
            <a:endParaRPr b="0" i="0" sz="1100" u="none" cap="none" strike="noStrike">
              <a:solidFill>
                <a:srgbClr val="000000"/>
              </a:solidFill>
              <a:latin typeface="Arial"/>
              <a:ea typeface="Arial"/>
              <a:cs typeface="Arial"/>
              <a:sym typeface="Arial"/>
            </a:endParaRPr>
          </a:p>
        </p:txBody>
      </p:sp>
      <p:sp>
        <p:nvSpPr>
          <p:cNvPr id="310" name="Google Shape;310;p4"/>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Three of those six types as real machines. Temperature decides the packaging far more than the chemistry does.</a:t>
            </a:r>
            <a:endParaRPr b="0" i="0" sz="1100" u="none" cap="none" strike="noStrike">
              <a:solidFill>
                <a:srgbClr val="000000"/>
              </a:solidFill>
              <a:latin typeface="Arial"/>
              <a:ea typeface="Arial"/>
              <a:cs typeface="Arial"/>
              <a:sym typeface="Arial"/>
            </a:endParaRPr>
          </a:p>
        </p:txBody>
      </p:sp>
      <p:pic>
        <p:nvPicPr>
          <p:cNvPr descr="photo_dmfc.png" id="311" name="Google Shape;311;p4"/>
          <p:cNvPicPr preferRelativeResize="0"/>
          <p:nvPr/>
        </p:nvPicPr>
        <p:blipFill rotWithShape="1">
          <a:blip r:embed="rId3">
            <a:alphaModFix/>
          </a:blip>
          <a:srcRect b="0" l="0" r="0" t="0"/>
          <a:stretch/>
        </p:blipFill>
        <p:spPr>
          <a:xfrm>
            <a:off x="377192" y="1207008"/>
            <a:ext cx="2659373" cy="1772914"/>
          </a:xfrm>
          <a:prstGeom prst="rect">
            <a:avLst/>
          </a:prstGeom>
          <a:noFill/>
          <a:ln>
            <a:noFill/>
          </a:ln>
        </p:spPr>
      </p:pic>
      <p:sp>
        <p:nvSpPr>
          <p:cNvPr id="312" name="Google Shape;312;p4"/>
          <p:cNvSpPr/>
          <p:nvPr/>
        </p:nvSpPr>
        <p:spPr>
          <a:xfrm>
            <a:off x="377192" y="1207008"/>
            <a:ext cx="2659200" cy="1773000"/>
          </a:xfrm>
          <a:prstGeom prst="rect">
            <a:avLst/>
          </a:prstGeom>
          <a:no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3" name="Google Shape;313;p4"/>
          <p:cNvSpPr txBox="1"/>
          <p:nvPr/>
        </p:nvSpPr>
        <p:spPr>
          <a:xfrm>
            <a:off x="342901" y="3075935"/>
            <a:ext cx="27279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B5342A"/>
                </a:solidFill>
                <a:latin typeface="Arial"/>
                <a:ea typeface="Arial"/>
                <a:cs typeface="Arial"/>
                <a:sym typeface="Arial"/>
              </a:rPr>
              <a:t>Portable DMFC module</a:t>
            </a:r>
            <a:endParaRPr b="0" i="0" sz="1100" u="none" cap="none" strike="noStrike">
              <a:solidFill>
                <a:srgbClr val="000000"/>
              </a:solidFill>
              <a:latin typeface="Arial"/>
              <a:ea typeface="Arial"/>
              <a:cs typeface="Arial"/>
              <a:sym typeface="Arial"/>
            </a:endParaRPr>
          </a:p>
        </p:txBody>
      </p:sp>
      <p:sp>
        <p:nvSpPr>
          <p:cNvPr id="314" name="Google Shape;314;p4"/>
          <p:cNvSpPr txBox="1"/>
          <p:nvPr/>
        </p:nvSpPr>
        <p:spPr>
          <a:xfrm>
            <a:off x="342901" y="3309107"/>
            <a:ext cx="2727900" cy="68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The ribbed block is the stack. The rest — cartridge, pump, tubing — is balance of plant, and it is larger than the stack.</a:t>
            </a:r>
            <a:endParaRPr b="0" i="0" sz="1100" u="none" cap="none" strike="noStrike">
              <a:solidFill>
                <a:srgbClr val="000000"/>
              </a:solidFill>
              <a:latin typeface="Arial"/>
              <a:ea typeface="Arial"/>
              <a:cs typeface="Arial"/>
              <a:sym typeface="Arial"/>
            </a:endParaRPr>
          </a:p>
        </p:txBody>
      </p:sp>
      <p:pic>
        <p:nvPicPr>
          <p:cNvPr descr="photo_sofc.png" id="315" name="Google Shape;315;p4"/>
          <p:cNvPicPr preferRelativeResize="0"/>
          <p:nvPr/>
        </p:nvPicPr>
        <p:blipFill rotWithShape="1">
          <a:blip r:embed="rId4">
            <a:alphaModFix/>
          </a:blip>
          <a:srcRect b="0" l="0" r="0" t="0"/>
          <a:stretch/>
        </p:blipFill>
        <p:spPr>
          <a:xfrm>
            <a:off x="3242315" y="1207008"/>
            <a:ext cx="2659371" cy="1772914"/>
          </a:xfrm>
          <a:prstGeom prst="rect">
            <a:avLst/>
          </a:prstGeom>
          <a:noFill/>
          <a:ln>
            <a:noFill/>
          </a:ln>
        </p:spPr>
      </p:pic>
      <p:sp>
        <p:nvSpPr>
          <p:cNvPr id="316" name="Google Shape;316;p4"/>
          <p:cNvSpPr/>
          <p:nvPr/>
        </p:nvSpPr>
        <p:spPr>
          <a:xfrm>
            <a:off x="3242315" y="1207008"/>
            <a:ext cx="2659200" cy="1773000"/>
          </a:xfrm>
          <a:prstGeom prst="rect">
            <a:avLst/>
          </a:prstGeom>
          <a:noFill/>
          <a:ln cap="flat" cmpd="sng" w="9525">
            <a:solidFill>
              <a:srgbClr val="F0D7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7" name="Google Shape;317;p4"/>
          <p:cNvSpPr txBox="1"/>
          <p:nvPr/>
        </p:nvSpPr>
        <p:spPr>
          <a:xfrm>
            <a:off x="3208025" y="3075935"/>
            <a:ext cx="27279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C77A12"/>
                </a:solidFill>
                <a:latin typeface="Arial"/>
                <a:ea typeface="Arial"/>
                <a:cs typeface="Arial"/>
                <a:sym typeface="Arial"/>
              </a:rPr>
              <a:t>SOFC cells on a test rig</a:t>
            </a:r>
            <a:endParaRPr b="0" i="0" sz="1100" u="none" cap="none" strike="noStrike">
              <a:solidFill>
                <a:srgbClr val="000000"/>
              </a:solidFill>
              <a:latin typeface="Arial"/>
              <a:ea typeface="Arial"/>
              <a:cs typeface="Arial"/>
              <a:sym typeface="Arial"/>
            </a:endParaRPr>
          </a:p>
        </p:txBody>
      </p:sp>
      <p:sp>
        <p:nvSpPr>
          <p:cNvPr id="318" name="Google Shape;318;p4"/>
          <p:cNvSpPr txBox="1"/>
          <p:nvPr/>
        </p:nvSpPr>
        <p:spPr>
          <a:xfrm>
            <a:off x="3208025" y="3309107"/>
            <a:ext cx="2727900" cy="68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The mesh cages are insulation. At 500–1000 °C a ceramic cell needs what is effectively a furnace — hence stationary.</a:t>
            </a:r>
            <a:endParaRPr b="0" i="0" sz="1100" u="none" cap="none" strike="noStrike">
              <a:solidFill>
                <a:srgbClr val="000000"/>
              </a:solidFill>
              <a:latin typeface="Arial"/>
              <a:ea typeface="Arial"/>
              <a:cs typeface="Arial"/>
              <a:sym typeface="Arial"/>
            </a:endParaRPr>
          </a:p>
        </p:txBody>
      </p:sp>
      <p:pic>
        <p:nvPicPr>
          <p:cNvPr descr="photo_pemfc.png" id="319" name="Google Shape;319;p4"/>
          <p:cNvPicPr preferRelativeResize="0"/>
          <p:nvPr/>
        </p:nvPicPr>
        <p:blipFill rotWithShape="1">
          <a:blip r:embed="rId5">
            <a:alphaModFix/>
          </a:blip>
          <a:srcRect b="0" l="0" r="0" t="0"/>
          <a:stretch/>
        </p:blipFill>
        <p:spPr>
          <a:xfrm>
            <a:off x="6107439" y="1207008"/>
            <a:ext cx="2659372" cy="1772914"/>
          </a:xfrm>
          <a:prstGeom prst="rect">
            <a:avLst/>
          </a:prstGeom>
          <a:noFill/>
          <a:ln>
            <a:noFill/>
          </a:ln>
        </p:spPr>
      </p:pic>
      <p:sp>
        <p:nvSpPr>
          <p:cNvPr id="320" name="Google Shape;320;p4"/>
          <p:cNvSpPr/>
          <p:nvPr/>
        </p:nvSpPr>
        <p:spPr>
          <a:xfrm>
            <a:off x="6107439" y="1207008"/>
            <a:ext cx="2659200" cy="1773000"/>
          </a:xfrm>
          <a:prstGeom prst="rect">
            <a:avLst/>
          </a:prstGeom>
          <a:no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1" name="Google Shape;321;p4"/>
          <p:cNvSpPr txBox="1"/>
          <p:nvPr/>
        </p:nvSpPr>
        <p:spPr>
          <a:xfrm>
            <a:off x="6073149" y="3075935"/>
            <a:ext cx="27279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1F6FA8"/>
                </a:solidFill>
                <a:latin typeface="Arial"/>
                <a:ea typeface="Arial"/>
                <a:cs typeface="Arial"/>
                <a:sym typeface="Arial"/>
              </a:rPr>
              <a:t>PEMFC stack on a bench</a:t>
            </a:r>
            <a:endParaRPr b="0" i="0" sz="1100" u="none" cap="none" strike="noStrike">
              <a:solidFill>
                <a:srgbClr val="000000"/>
              </a:solidFill>
              <a:latin typeface="Arial"/>
              <a:ea typeface="Arial"/>
              <a:cs typeface="Arial"/>
              <a:sym typeface="Arial"/>
            </a:endParaRPr>
          </a:p>
        </p:txBody>
      </p:sp>
      <p:sp>
        <p:nvSpPr>
          <p:cNvPr id="322" name="Google Shape;322;p4"/>
          <p:cNvSpPr txBox="1"/>
          <p:nvPr/>
        </p:nvSpPr>
        <p:spPr>
          <a:xfrm>
            <a:off x="6073149" y="3309107"/>
            <a:ext cx="2727900" cy="68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You can count the cells. The yellow wires are per-cell voltage taps — what the controller monitors.</a:t>
            </a:r>
            <a:endParaRPr b="0" i="0" sz="1100" u="none" cap="none" strike="noStrike">
              <a:solidFill>
                <a:srgbClr val="000000"/>
              </a:solidFill>
              <a:latin typeface="Arial"/>
              <a:ea typeface="Arial"/>
              <a:cs typeface="Arial"/>
              <a:sym typeface="Arial"/>
            </a:endParaRPr>
          </a:p>
        </p:txBody>
      </p:sp>
      <p:sp>
        <p:nvSpPr>
          <p:cNvPr id="323" name="Google Shape;323;p4"/>
          <p:cNvSpPr txBox="1"/>
          <p:nvPr/>
        </p:nvSpPr>
        <p:spPr>
          <a:xfrm>
            <a:off x="342901" y="4238244"/>
            <a:ext cx="83895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Same three-layer sandwich in all three. What differs is everything built around it — and in the portable module, the stack is the small part.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02 · HOW IT WORKS</a:t>
            </a:r>
            <a:endParaRPr b="0" i="0" sz="1100" u="none" cap="none" strike="noStrike">
              <a:solidFill>
                <a:srgbClr val="000000"/>
              </a:solidFill>
              <a:latin typeface="Arial"/>
              <a:ea typeface="Arial"/>
              <a:cs typeface="Arial"/>
              <a:sym typeface="Arial"/>
            </a:endParaRPr>
          </a:p>
        </p:txBody>
      </p:sp>
      <p:sp>
        <p:nvSpPr>
          <p:cNvPr id="330" name="Google Shape;330;p5"/>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How a hydrogen PEMFC creates electricity</a:t>
            </a:r>
            <a:endParaRPr b="0" i="0" sz="1100" u="none" cap="none" strike="noStrike">
              <a:solidFill>
                <a:srgbClr val="000000"/>
              </a:solidFill>
              <a:latin typeface="Arial"/>
              <a:ea typeface="Arial"/>
              <a:cs typeface="Arial"/>
              <a:sym typeface="Arial"/>
            </a:endParaRPr>
          </a:p>
        </p:txBody>
      </p:sp>
      <p:sp>
        <p:nvSpPr>
          <p:cNvPr id="331" name="Google Shape;331;p5"/>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Split the hydrogen, separate the two charge paths, and let them recombine as water on the far side.</a:t>
            </a:r>
            <a:endParaRPr b="0" i="0" sz="1100" u="none" cap="none" strike="noStrike">
              <a:solidFill>
                <a:srgbClr val="000000"/>
              </a:solidFill>
              <a:latin typeface="Arial"/>
              <a:ea typeface="Arial"/>
              <a:cs typeface="Arial"/>
              <a:sym typeface="Arial"/>
            </a:endParaRPr>
          </a:p>
        </p:txBody>
      </p:sp>
      <p:pic>
        <p:nvPicPr>
          <p:cNvPr descr="pemfc.png" id="332" name="Google Shape;332;p5"/>
          <p:cNvPicPr preferRelativeResize="0"/>
          <p:nvPr/>
        </p:nvPicPr>
        <p:blipFill rotWithShape="1">
          <a:blip r:embed="rId3">
            <a:alphaModFix/>
          </a:blip>
          <a:srcRect b="0" l="0" r="0" t="0"/>
          <a:stretch/>
        </p:blipFill>
        <p:spPr>
          <a:xfrm>
            <a:off x="411482" y="1138428"/>
            <a:ext cx="5040629" cy="2125979"/>
          </a:xfrm>
          <a:prstGeom prst="rect">
            <a:avLst/>
          </a:prstGeom>
          <a:noFill/>
          <a:ln>
            <a:noFill/>
          </a:ln>
        </p:spPr>
      </p:pic>
      <p:sp>
        <p:nvSpPr>
          <p:cNvPr id="333" name="Google Shape;333;p5"/>
          <p:cNvSpPr/>
          <p:nvPr/>
        </p:nvSpPr>
        <p:spPr>
          <a:xfrm>
            <a:off x="5657873" y="1138428"/>
            <a:ext cx="3106500" cy="1028700"/>
          </a:xfrm>
          <a:prstGeom prst="roundRect">
            <a:avLst>
              <a:gd fmla="val 4666"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4" name="Google Shape;334;p5"/>
          <p:cNvSpPr txBox="1"/>
          <p:nvPr/>
        </p:nvSpPr>
        <p:spPr>
          <a:xfrm>
            <a:off x="5774460" y="1207008"/>
            <a:ext cx="28119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B5342A"/>
                </a:solidFill>
                <a:latin typeface="Arial"/>
                <a:ea typeface="Arial"/>
                <a:cs typeface="Arial"/>
                <a:sym typeface="Arial"/>
              </a:rPr>
              <a:t>ANODE  ·  OXIDATION</a:t>
            </a:r>
            <a:endParaRPr b="0" i="0" sz="1100" u="none" cap="none" strike="noStrike">
              <a:solidFill>
                <a:srgbClr val="000000"/>
              </a:solidFill>
              <a:latin typeface="Arial"/>
              <a:ea typeface="Arial"/>
              <a:cs typeface="Arial"/>
              <a:sym typeface="Arial"/>
            </a:endParaRPr>
          </a:p>
        </p:txBody>
      </p:sp>
      <p:sp>
        <p:nvSpPr>
          <p:cNvPr id="335" name="Google Shape;335;p5"/>
          <p:cNvSpPr txBox="1"/>
          <p:nvPr/>
        </p:nvSpPr>
        <p:spPr>
          <a:xfrm>
            <a:off x="5774460" y="1399032"/>
            <a:ext cx="28119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Courier New"/>
                <a:ea typeface="Courier New"/>
                <a:cs typeface="Courier New"/>
                <a:sym typeface="Courier New"/>
              </a:rPr>
              <a:t>H₂  →  2H+ + 2e-</a:t>
            </a:r>
            <a:endParaRPr b="0" i="0" sz="1100" u="none" cap="none" strike="noStrike">
              <a:solidFill>
                <a:srgbClr val="000000"/>
              </a:solidFill>
              <a:latin typeface="Arial"/>
              <a:ea typeface="Arial"/>
              <a:cs typeface="Arial"/>
              <a:sym typeface="Arial"/>
            </a:endParaRPr>
          </a:p>
        </p:txBody>
      </p:sp>
      <p:sp>
        <p:nvSpPr>
          <p:cNvPr id="336" name="Google Shape;336;p5"/>
          <p:cNvSpPr txBox="1"/>
          <p:nvPr/>
        </p:nvSpPr>
        <p:spPr>
          <a:xfrm>
            <a:off x="5774460" y="1659636"/>
            <a:ext cx="2811900" cy="411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Each H₂ gives up two protons and two electrons.</a:t>
            </a:r>
            <a:endParaRPr b="0" i="0" sz="1100" u="none" cap="none" strike="noStrike">
              <a:solidFill>
                <a:srgbClr val="000000"/>
              </a:solidFill>
              <a:latin typeface="Arial"/>
              <a:ea typeface="Arial"/>
              <a:cs typeface="Arial"/>
              <a:sym typeface="Arial"/>
            </a:endParaRPr>
          </a:p>
        </p:txBody>
      </p:sp>
      <p:sp>
        <p:nvSpPr>
          <p:cNvPr id="337" name="Google Shape;337;p5"/>
          <p:cNvSpPr/>
          <p:nvPr/>
        </p:nvSpPr>
        <p:spPr>
          <a:xfrm>
            <a:off x="5657873" y="2249424"/>
            <a:ext cx="3106500" cy="1028700"/>
          </a:xfrm>
          <a:prstGeom prst="roundRect">
            <a:avLst>
              <a:gd fmla="val 4666"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8" name="Google Shape;338;p5"/>
          <p:cNvSpPr txBox="1"/>
          <p:nvPr/>
        </p:nvSpPr>
        <p:spPr>
          <a:xfrm>
            <a:off x="5774460" y="2318004"/>
            <a:ext cx="28119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1F6FA8"/>
                </a:solidFill>
                <a:latin typeface="Arial"/>
                <a:ea typeface="Arial"/>
                <a:cs typeface="Arial"/>
                <a:sym typeface="Arial"/>
              </a:rPr>
              <a:t>CATHODE  ·  REDUCTION</a:t>
            </a:r>
            <a:endParaRPr b="0" i="0" sz="1100" u="none" cap="none" strike="noStrike">
              <a:solidFill>
                <a:srgbClr val="000000"/>
              </a:solidFill>
              <a:latin typeface="Arial"/>
              <a:ea typeface="Arial"/>
              <a:cs typeface="Arial"/>
              <a:sym typeface="Arial"/>
            </a:endParaRPr>
          </a:p>
        </p:txBody>
      </p:sp>
      <p:sp>
        <p:nvSpPr>
          <p:cNvPr id="339" name="Google Shape;339;p5"/>
          <p:cNvSpPr txBox="1"/>
          <p:nvPr/>
        </p:nvSpPr>
        <p:spPr>
          <a:xfrm>
            <a:off x="5774460" y="2510028"/>
            <a:ext cx="28119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Courier New"/>
                <a:ea typeface="Courier New"/>
                <a:cs typeface="Courier New"/>
                <a:sym typeface="Courier New"/>
              </a:rPr>
              <a:t>½O₂ + 2H+ + 2e-  →  H₂O</a:t>
            </a:r>
            <a:endParaRPr b="0" i="0" sz="1100" u="none" cap="none" strike="noStrike">
              <a:solidFill>
                <a:srgbClr val="000000"/>
              </a:solidFill>
              <a:latin typeface="Arial"/>
              <a:ea typeface="Arial"/>
              <a:cs typeface="Arial"/>
              <a:sym typeface="Arial"/>
            </a:endParaRPr>
          </a:p>
        </p:txBody>
      </p:sp>
      <p:sp>
        <p:nvSpPr>
          <p:cNvPr id="340" name="Google Shape;340;p5"/>
          <p:cNvSpPr txBox="1"/>
          <p:nvPr/>
        </p:nvSpPr>
        <p:spPr>
          <a:xfrm>
            <a:off x="5774460" y="2770632"/>
            <a:ext cx="2811900" cy="411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Oxygen, protons and electrons recombine into water.</a:t>
            </a:r>
            <a:endParaRPr b="0" i="0" sz="1100" u="none" cap="none" strike="noStrike">
              <a:solidFill>
                <a:srgbClr val="000000"/>
              </a:solidFill>
              <a:latin typeface="Arial"/>
              <a:ea typeface="Arial"/>
              <a:cs typeface="Arial"/>
              <a:sym typeface="Arial"/>
            </a:endParaRPr>
          </a:p>
        </p:txBody>
      </p:sp>
      <p:sp>
        <p:nvSpPr>
          <p:cNvPr id="341" name="Google Shape;341;p5"/>
          <p:cNvSpPr/>
          <p:nvPr/>
        </p:nvSpPr>
        <p:spPr>
          <a:xfrm>
            <a:off x="377192" y="3470148"/>
            <a:ext cx="8389500" cy="548400"/>
          </a:xfrm>
          <a:prstGeom prst="roundRect">
            <a:avLst>
              <a:gd fmla="val 8750" name="adj"/>
            </a:avLst>
          </a:prstGeom>
          <a:solidFill>
            <a:srgbClr val="E6F2F3"/>
          </a:solidFill>
          <a:ln cap="flat" cmpd="sng" w="9525">
            <a:solidFill>
              <a:srgbClr val="C2DE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2" name="Google Shape;342;p5"/>
          <p:cNvSpPr txBox="1"/>
          <p:nvPr/>
        </p:nvSpPr>
        <p:spPr>
          <a:xfrm>
            <a:off x="521210" y="3538728"/>
            <a:ext cx="1371600" cy="17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0E7C86"/>
                </a:solidFill>
                <a:latin typeface="Arial"/>
                <a:ea typeface="Arial"/>
                <a:cs typeface="Arial"/>
                <a:sym typeface="Arial"/>
              </a:rPr>
              <a:t>OVERALL</a:t>
            </a:r>
            <a:endParaRPr b="0" i="0" sz="1100" u="none" cap="none" strike="noStrike">
              <a:solidFill>
                <a:srgbClr val="000000"/>
              </a:solidFill>
              <a:latin typeface="Arial"/>
              <a:ea typeface="Arial"/>
              <a:cs typeface="Arial"/>
              <a:sym typeface="Arial"/>
            </a:endParaRPr>
          </a:p>
        </p:txBody>
      </p:sp>
      <p:sp>
        <p:nvSpPr>
          <p:cNvPr id="343" name="Google Shape;343;p5"/>
          <p:cNvSpPr txBox="1"/>
          <p:nvPr/>
        </p:nvSpPr>
        <p:spPr>
          <a:xfrm>
            <a:off x="521210" y="3730752"/>
            <a:ext cx="54864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14303F"/>
                </a:solidFill>
                <a:latin typeface="Courier New"/>
                <a:ea typeface="Courier New"/>
                <a:cs typeface="Courier New"/>
                <a:sym typeface="Courier New"/>
              </a:rPr>
              <a:t>H₂ + ½O₂  →  H₂O + electricity + heat</a:t>
            </a:r>
            <a:endParaRPr b="0" i="0" sz="1100" u="none" cap="none" strike="noStrike">
              <a:solidFill>
                <a:srgbClr val="000000"/>
              </a:solidFill>
              <a:latin typeface="Arial"/>
              <a:ea typeface="Arial"/>
              <a:cs typeface="Arial"/>
              <a:sym typeface="Arial"/>
            </a:endParaRPr>
          </a:p>
        </p:txBody>
      </p:sp>
      <p:sp>
        <p:nvSpPr>
          <p:cNvPr id="344" name="Google Shape;344;p5"/>
          <p:cNvSpPr txBox="1"/>
          <p:nvPr/>
        </p:nvSpPr>
        <p:spPr>
          <a:xfrm>
            <a:off x="342901" y="4142232"/>
            <a:ext cx="83895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Hydrogen is never burned here. The reaction is deliberately split in two so the electrons have to take the long way round — through the load.</a:t>
            </a:r>
            <a:endParaRPr b="0" i="0" sz="1100" u="none" cap="none" strike="noStrike">
              <a:solidFill>
                <a:srgbClr val="000000"/>
              </a:solidFill>
              <a:latin typeface="Arial"/>
              <a:ea typeface="Arial"/>
              <a:cs typeface="Arial"/>
              <a:sym typeface="Arial"/>
            </a:endParaRPr>
          </a:p>
        </p:txBody>
      </p:sp>
      <p:sp>
        <p:nvSpPr>
          <p:cNvPr id="345" name="Google Shape;345;p5"/>
          <p:cNvSpPr txBox="1"/>
          <p:nvPr/>
        </p:nvSpPr>
        <p:spPr>
          <a:xfrm>
            <a:off x="5704781" y="957801"/>
            <a:ext cx="30387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 sz="900" u="none" cap="none" strike="noStrike">
                <a:solidFill>
                  <a:srgbClr val="123243"/>
                </a:solidFill>
                <a:latin typeface="Arial"/>
                <a:ea typeface="Arial"/>
                <a:cs typeface="Arial"/>
                <a:sym typeface="Arial"/>
              </a:rPr>
              <a:t>THE TWO HALF REACTIONS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02 · HOW IT WORKS</a:t>
            </a:r>
            <a:endParaRPr b="0" i="0" sz="1100" u="none" cap="none" strike="noStrike">
              <a:solidFill>
                <a:srgbClr val="000000"/>
              </a:solidFill>
              <a:latin typeface="Arial"/>
              <a:ea typeface="Arial"/>
              <a:cs typeface="Arial"/>
              <a:sym typeface="Arial"/>
            </a:endParaRPr>
          </a:p>
        </p:txBody>
      </p:sp>
      <p:sp>
        <p:nvSpPr>
          <p:cNvPr id="352" name="Google Shape;352;p6"/>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The direct-methanol cell, and choosing</a:t>
            </a:r>
            <a:endParaRPr b="0" i="0" sz="1100" u="none" cap="none" strike="noStrike">
              <a:solidFill>
                <a:srgbClr val="000000"/>
              </a:solidFill>
              <a:latin typeface="Arial"/>
              <a:ea typeface="Arial"/>
              <a:cs typeface="Arial"/>
              <a:sym typeface="Arial"/>
            </a:endParaRPr>
          </a:p>
        </p:txBody>
      </p:sp>
      <p:sp>
        <p:nvSpPr>
          <p:cNvPr id="353" name="Google Shape;353;p6"/>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Same membrane, same cathode, liquid fuel. That one change decides every trade-off.</a:t>
            </a:r>
            <a:endParaRPr b="0" i="0" sz="1100" u="none" cap="none" strike="noStrike">
              <a:solidFill>
                <a:srgbClr val="000000"/>
              </a:solidFill>
              <a:latin typeface="Arial"/>
              <a:ea typeface="Arial"/>
              <a:cs typeface="Arial"/>
              <a:sym typeface="Arial"/>
            </a:endParaRPr>
          </a:p>
        </p:txBody>
      </p:sp>
      <p:pic>
        <p:nvPicPr>
          <p:cNvPr descr="dmfc.png" id="354" name="Google Shape;354;p6"/>
          <p:cNvPicPr preferRelativeResize="0"/>
          <p:nvPr/>
        </p:nvPicPr>
        <p:blipFill rotWithShape="1">
          <a:blip r:embed="rId3">
            <a:alphaModFix/>
          </a:blip>
          <a:srcRect b="0" l="0" r="0" t="0"/>
          <a:stretch/>
        </p:blipFill>
        <p:spPr>
          <a:xfrm>
            <a:off x="377195" y="1070288"/>
            <a:ext cx="4545189" cy="2173498"/>
          </a:xfrm>
          <a:prstGeom prst="rect">
            <a:avLst/>
          </a:prstGeom>
          <a:noFill/>
          <a:ln>
            <a:noFill/>
          </a:ln>
        </p:spPr>
      </p:pic>
      <p:sp>
        <p:nvSpPr>
          <p:cNvPr id="355" name="Google Shape;355;p6"/>
          <p:cNvSpPr/>
          <p:nvPr/>
        </p:nvSpPr>
        <p:spPr>
          <a:xfrm>
            <a:off x="377195" y="3342356"/>
            <a:ext cx="4374000" cy="644700"/>
          </a:xfrm>
          <a:prstGeom prst="roundRect">
            <a:avLst>
              <a:gd fmla="val 7446"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6" name="Google Shape;356;p6"/>
          <p:cNvSpPr txBox="1"/>
          <p:nvPr/>
        </p:nvSpPr>
        <p:spPr>
          <a:xfrm>
            <a:off x="480062" y="3410945"/>
            <a:ext cx="38406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B5342A"/>
                </a:solidFill>
                <a:latin typeface="Arial"/>
                <a:ea typeface="Arial"/>
                <a:cs typeface="Arial"/>
                <a:sym typeface="Arial"/>
              </a:rPr>
              <a:t>THE ANODE IS THE ONLY CHANGE</a:t>
            </a:r>
            <a:endParaRPr b="0" i="0" sz="1100" u="none" cap="none" strike="noStrike">
              <a:solidFill>
                <a:srgbClr val="000000"/>
              </a:solidFill>
              <a:latin typeface="Arial"/>
              <a:ea typeface="Arial"/>
              <a:cs typeface="Arial"/>
              <a:sym typeface="Arial"/>
            </a:endParaRPr>
          </a:p>
        </p:txBody>
      </p:sp>
      <p:sp>
        <p:nvSpPr>
          <p:cNvPr id="357" name="Google Shape;357;p6"/>
          <p:cNvSpPr txBox="1"/>
          <p:nvPr/>
        </p:nvSpPr>
        <p:spPr>
          <a:xfrm>
            <a:off x="480062" y="3602969"/>
            <a:ext cx="39093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Courier New"/>
                <a:ea typeface="Courier New"/>
                <a:cs typeface="Courier New"/>
                <a:sym typeface="Courier New"/>
              </a:rPr>
              <a:t>CH₃OH + H₂O  →  CO₂ + 6H+ + 6e-</a:t>
            </a:r>
            <a:endParaRPr b="0" i="0" sz="1100" u="none" cap="none" strike="noStrike">
              <a:solidFill>
                <a:srgbClr val="000000"/>
              </a:solidFill>
              <a:latin typeface="Arial"/>
              <a:ea typeface="Arial"/>
              <a:cs typeface="Arial"/>
              <a:sym typeface="Arial"/>
            </a:endParaRPr>
          </a:p>
        </p:txBody>
      </p:sp>
      <p:sp>
        <p:nvSpPr>
          <p:cNvPr id="358" name="Google Shape;358;p6"/>
          <p:cNvSpPr/>
          <p:nvPr/>
        </p:nvSpPr>
        <p:spPr>
          <a:xfrm>
            <a:off x="4983617" y="1143397"/>
            <a:ext cx="1937400" cy="315600"/>
          </a:xfrm>
          <a:prstGeom prst="roundRect">
            <a:avLst>
              <a:gd fmla="val 10869" name="adj"/>
            </a:avLst>
          </a:prstGeom>
          <a:solidFill>
            <a:srgbClr val="1F6FA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9" name="Google Shape;359;p6"/>
          <p:cNvSpPr txBox="1"/>
          <p:nvPr/>
        </p:nvSpPr>
        <p:spPr>
          <a:xfrm>
            <a:off x="4983617" y="1143397"/>
            <a:ext cx="1937400" cy="3156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PEMFC</a:t>
            </a:r>
            <a:endParaRPr b="0" i="0" sz="1100" u="none" cap="none" strike="noStrike">
              <a:solidFill>
                <a:srgbClr val="000000"/>
              </a:solidFill>
              <a:latin typeface="Arial"/>
              <a:ea typeface="Arial"/>
              <a:cs typeface="Arial"/>
              <a:sym typeface="Arial"/>
            </a:endParaRPr>
          </a:p>
        </p:txBody>
      </p:sp>
      <p:sp>
        <p:nvSpPr>
          <p:cNvPr id="360" name="Google Shape;360;p6"/>
          <p:cNvSpPr/>
          <p:nvPr/>
        </p:nvSpPr>
        <p:spPr>
          <a:xfrm>
            <a:off x="6975873" y="1143397"/>
            <a:ext cx="1937400" cy="315600"/>
          </a:xfrm>
          <a:prstGeom prst="roundRect">
            <a:avLst>
              <a:gd fmla="val 10869" name="adj"/>
            </a:avLst>
          </a:prstGeom>
          <a:solidFill>
            <a:srgbClr val="B5342A"/>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1" name="Google Shape;361;p6"/>
          <p:cNvSpPr txBox="1"/>
          <p:nvPr/>
        </p:nvSpPr>
        <p:spPr>
          <a:xfrm>
            <a:off x="6975873" y="1143397"/>
            <a:ext cx="1937400" cy="3156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DMFC</a:t>
            </a:r>
            <a:endParaRPr b="0" i="0" sz="1100" u="none" cap="none" strike="noStrike">
              <a:solidFill>
                <a:srgbClr val="000000"/>
              </a:solidFill>
              <a:latin typeface="Arial"/>
              <a:ea typeface="Arial"/>
              <a:cs typeface="Arial"/>
              <a:sym typeface="Arial"/>
            </a:endParaRPr>
          </a:p>
        </p:txBody>
      </p:sp>
      <p:sp>
        <p:nvSpPr>
          <p:cNvPr id="362" name="Google Shape;362;p6"/>
          <p:cNvSpPr/>
          <p:nvPr/>
        </p:nvSpPr>
        <p:spPr>
          <a:xfrm>
            <a:off x="4983617" y="1527445"/>
            <a:ext cx="3929700" cy="2742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3" name="Google Shape;363;p6"/>
          <p:cNvSpPr txBox="1"/>
          <p:nvPr/>
        </p:nvSpPr>
        <p:spPr>
          <a:xfrm>
            <a:off x="5052197" y="1527445"/>
            <a:ext cx="18276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1F6FA8"/>
                </a:solidFill>
                <a:latin typeface="Arial"/>
                <a:ea typeface="Arial"/>
                <a:cs typeface="Arial"/>
                <a:sym typeface="Arial"/>
              </a:rPr>
              <a:t>Hydrogen gas</a:t>
            </a:r>
            <a:endParaRPr b="0" i="0" sz="1100" u="none" cap="none" strike="noStrike">
              <a:solidFill>
                <a:srgbClr val="000000"/>
              </a:solidFill>
              <a:latin typeface="Arial"/>
              <a:ea typeface="Arial"/>
              <a:cs typeface="Arial"/>
              <a:sym typeface="Arial"/>
            </a:endParaRPr>
          </a:p>
        </p:txBody>
      </p:sp>
      <p:sp>
        <p:nvSpPr>
          <p:cNvPr id="364" name="Google Shape;364;p6"/>
          <p:cNvSpPr txBox="1"/>
          <p:nvPr/>
        </p:nvSpPr>
        <p:spPr>
          <a:xfrm>
            <a:off x="6989590" y="1527445"/>
            <a:ext cx="18552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B5342A"/>
                </a:solidFill>
                <a:latin typeface="Arial"/>
                <a:ea typeface="Arial"/>
                <a:cs typeface="Arial"/>
                <a:sym typeface="Arial"/>
              </a:rPr>
              <a:t>Methanol, liquid</a:t>
            </a:r>
            <a:endParaRPr b="0" i="0" sz="1100" u="none" cap="none" strike="noStrike">
              <a:solidFill>
                <a:srgbClr val="000000"/>
              </a:solidFill>
              <a:latin typeface="Arial"/>
              <a:ea typeface="Arial"/>
              <a:cs typeface="Arial"/>
              <a:sym typeface="Arial"/>
            </a:endParaRPr>
          </a:p>
        </p:txBody>
      </p:sp>
      <p:sp>
        <p:nvSpPr>
          <p:cNvPr id="365" name="Google Shape;365;p6"/>
          <p:cNvSpPr txBox="1"/>
          <p:nvPr/>
        </p:nvSpPr>
        <p:spPr>
          <a:xfrm>
            <a:off x="4983617" y="1520587"/>
            <a:ext cx="39297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600"/>
              <a:buFont typeface="Arial"/>
              <a:buNone/>
            </a:pPr>
            <a:r>
              <a:rPr b="0" i="0" lang="en" sz="600" u="none" cap="none" strike="noStrike">
                <a:solidFill>
                  <a:srgbClr val="8797A1"/>
                </a:solidFill>
                <a:latin typeface="Arial"/>
                <a:ea typeface="Arial"/>
                <a:cs typeface="Arial"/>
                <a:sym typeface="Arial"/>
              </a:rPr>
              <a:t>Fuel</a:t>
            </a:r>
            <a:endParaRPr b="0" i="0" sz="1100" u="none" cap="none" strike="noStrike">
              <a:solidFill>
                <a:srgbClr val="000000"/>
              </a:solidFill>
              <a:latin typeface="Arial"/>
              <a:ea typeface="Arial"/>
              <a:cs typeface="Arial"/>
              <a:sym typeface="Arial"/>
            </a:endParaRPr>
          </a:p>
        </p:txBody>
      </p:sp>
      <p:sp>
        <p:nvSpPr>
          <p:cNvPr id="366" name="Google Shape;366;p6"/>
          <p:cNvSpPr/>
          <p:nvPr/>
        </p:nvSpPr>
        <p:spPr>
          <a:xfrm>
            <a:off x="4983617" y="1815481"/>
            <a:ext cx="3929700" cy="2742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7" name="Google Shape;367;p6"/>
          <p:cNvSpPr txBox="1"/>
          <p:nvPr/>
        </p:nvSpPr>
        <p:spPr>
          <a:xfrm>
            <a:off x="5052197" y="1815481"/>
            <a:ext cx="18276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1F6FA8"/>
                </a:solidFill>
                <a:latin typeface="Arial"/>
                <a:ea typeface="Arial"/>
                <a:cs typeface="Arial"/>
                <a:sym typeface="Arial"/>
              </a:rPr>
              <a:t>≈ 0.70 V</a:t>
            </a:r>
            <a:endParaRPr b="0" i="0" sz="1100" u="none" cap="none" strike="noStrike">
              <a:solidFill>
                <a:srgbClr val="000000"/>
              </a:solidFill>
              <a:latin typeface="Arial"/>
              <a:ea typeface="Arial"/>
              <a:cs typeface="Arial"/>
              <a:sym typeface="Arial"/>
            </a:endParaRPr>
          </a:p>
        </p:txBody>
      </p:sp>
      <p:sp>
        <p:nvSpPr>
          <p:cNvPr id="368" name="Google Shape;368;p6"/>
          <p:cNvSpPr txBox="1"/>
          <p:nvPr/>
        </p:nvSpPr>
        <p:spPr>
          <a:xfrm>
            <a:off x="6989590" y="1815481"/>
            <a:ext cx="18552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B5342A"/>
                </a:solidFill>
                <a:latin typeface="Arial"/>
                <a:ea typeface="Arial"/>
                <a:cs typeface="Arial"/>
                <a:sym typeface="Arial"/>
              </a:rPr>
              <a:t>0.3 – 0.5 V</a:t>
            </a:r>
            <a:endParaRPr b="0" i="0" sz="1100" u="none" cap="none" strike="noStrike">
              <a:solidFill>
                <a:srgbClr val="000000"/>
              </a:solidFill>
              <a:latin typeface="Arial"/>
              <a:ea typeface="Arial"/>
              <a:cs typeface="Arial"/>
              <a:sym typeface="Arial"/>
            </a:endParaRPr>
          </a:p>
        </p:txBody>
      </p:sp>
      <p:sp>
        <p:nvSpPr>
          <p:cNvPr id="369" name="Google Shape;369;p6"/>
          <p:cNvSpPr txBox="1"/>
          <p:nvPr/>
        </p:nvSpPr>
        <p:spPr>
          <a:xfrm>
            <a:off x="4983617" y="1808623"/>
            <a:ext cx="39297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600"/>
              <a:buFont typeface="Arial"/>
              <a:buNone/>
            </a:pPr>
            <a:r>
              <a:rPr b="0" i="0" lang="en" sz="600" u="none" cap="none" strike="noStrike">
                <a:solidFill>
                  <a:srgbClr val="8797A1"/>
                </a:solidFill>
                <a:latin typeface="Arial"/>
                <a:ea typeface="Arial"/>
                <a:cs typeface="Arial"/>
                <a:sym typeface="Arial"/>
              </a:rPr>
              <a:t>Cell voltage</a:t>
            </a:r>
            <a:endParaRPr b="0" i="0" sz="1100" u="none" cap="none" strike="noStrike">
              <a:solidFill>
                <a:srgbClr val="000000"/>
              </a:solidFill>
              <a:latin typeface="Arial"/>
              <a:ea typeface="Arial"/>
              <a:cs typeface="Arial"/>
              <a:sym typeface="Arial"/>
            </a:endParaRPr>
          </a:p>
        </p:txBody>
      </p:sp>
      <p:sp>
        <p:nvSpPr>
          <p:cNvPr id="370" name="Google Shape;370;p6"/>
          <p:cNvSpPr/>
          <p:nvPr/>
        </p:nvSpPr>
        <p:spPr>
          <a:xfrm>
            <a:off x="4983617" y="2103517"/>
            <a:ext cx="3929700" cy="2742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1" name="Google Shape;371;p6"/>
          <p:cNvSpPr txBox="1"/>
          <p:nvPr/>
        </p:nvSpPr>
        <p:spPr>
          <a:xfrm>
            <a:off x="5052197" y="2103517"/>
            <a:ext cx="18276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1F6FA8"/>
                </a:solidFill>
                <a:latin typeface="Arial"/>
                <a:ea typeface="Arial"/>
                <a:cs typeface="Arial"/>
                <a:sym typeface="Arial"/>
              </a:rPr>
              <a:t>High</a:t>
            </a:r>
            <a:endParaRPr b="0" i="0" sz="1100" u="none" cap="none" strike="noStrike">
              <a:solidFill>
                <a:srgbClr val="000000"/>
              </a:solidFill>
              <a:latin typeface="Arial"/>
              <a:ea typeface="Arial"/>
              <a:cs typeface="Arial"/>
              <a:sym typeface="Arial"/>
            </a:endParaRPr>
          </a:p>
        </p:txBody>
      </p:sp>
      <p:sp>
        <p:nvSpPr>
          <p:cNvPr id="372" name="Google Shape;372;p6"/>
          <p:cNvSpPr txBox="1"/>
          <p:nvPr/>
        </p:nvSpPr>
        <p:spPr>
          <a:xfrm>
            <a:off x="6989590" y="2103517"/>
            <a:ext cx="18552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B5342A"/>
                </a:solidFill>
                <a:latin typeface="Arial"/>
                <a:ea typeface="Arial"/>
                <a:cs typeface="Arial"/>
                <a:sym typeface="Arial"/>
              </a:rPr>
              <a:t>≈ 10× lower</a:t>
            </a:r>
            <a:endParaRPr b="0" i="0" sz="1100" u="none" cap="none" strike="noStrike">
              <a:solidFill>
                <a:srgbClr val="000000"/>
              </a:solidFill>
              <a:latin typeface="Arial"/>
              <a:ea typeface="Arial"/>
              <a:cs typeface="Arial"/>
              <a:sym typeface="Arial"/>
            </a:endParaRPr>
          </a:p>
        </p:txBody>
      </p:sp>
      <p:sp>
        <p:nvSpPr>
          <p:cNvPr id="373" name="Google Shape;373;p6"/>
          <p:cNvSpPr txBox="1"/>
          <p:nvPr/>
        </p:nvSpPr>
        <p:spPr>
          <a:xfrm>
            <a:off x="4983617" y="2096659"/>
            <a:ext cx="39297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600"/>
              <a:buFont typeface="Arial"/>
              <a:buNone/>
            </a:pPr>
            <a:r>
              <a:rPr b="0" i="0" lang="en" sz="600" u="none" cap="none" strike="noStrike">
                <a:solidFill>
                  <a:srgbClr val="8797A1"/>
                </a:solidFill>
                <a:latin typeface="Arial"/>
                <a:ea typeface="Arial"/>
                <a:cs typeface="Arial"/>
                <a:sym typeface="Arial"/>
              </a:rPr>
              <a:t>Power density</a:t>
            </a:r>
            <a:endParaRPr b="0" i="0" sz="1100" u="none" cap="none" strike="noStrike">
              <a:solidFill>
                <a:srgbClr val="000000"/>
              </a:solidFill>
              <a:latin typeface="Arial"/>
              <a:ea typeface="Arial"/>
              <a:cs typeface="Arial"/>
              <a:sym typeface="Arial"/>
            </a:endParaRPr>
          </a:p>
        </p:txBody>
      </p:sp>
      <p:sp>
        <p:nvSpPr>
          <p:cNvPr id="374" name="Google Shape;374;p6"/>
          <p:cNvSpPr/>
          <p:nvPr/>
        </p:nvSpPr>
        <p:spPr>
          <a:xfrm>
            <a:off x="4983617" y="2391553"/>
            <a:ext cx="3929700" cy="2742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5" name="Google Shape;375;p6"/>
          <p:cNvSpPr txBox="1"/>
          <p:nvPr/>
        </p:nvSpPr>
        <p:spPr>
          <a:xfrm>
            <a:off x="5052197" y="2391553"/>
            <a:ext cx="18276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1F6FA8"/>
                </a:solidFill>
                <a:latin typeface="Arial"/>
                <a:ea typeface="Arial"/>
                <a:cs typeface="Arial"/>
                <a:sym typeface="Arial"/>
              </a:rPr>
              <a:t>700 bar or cryogenic</a:t>
            </a:r>
            <a:endParaRPr b="0" i="0" sz="1100" u="none" cap="none" strike="noStrike">
              <a:solidFill>
                <a:srgbClr val="000000"/>
              </a:solidFill>
              <a:latin typeface="Arial"/>
              <a:ea typeface="Arial"/>
              <a:cs typeface="Arial"/>
              <a:sym typeface="Arial"/>
            </a:endParaRPr>
          </a:p>
        </p:txBody>
      </p:sp>
      <p:sp>
        <p:nvSpPr>
          <p:cNvPr id="376" name="Google Shape;376;p6"/>
          <p:cNvSpPr txBox="1"/>
          <p:nvPr/>
        </p:nvSpPr>
        <p:spPr>
          <a:xfrm>
            <a:off x="6989590" y="2391553"/>
            <a:ext cx="18552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B5342A"/>
                </a:solidFill>
                <a:latin typeface="Arial"/>
                <a:ea typeface="Arial"/>
                <a:cs typeface="Arial"/>
                <a:sym typeface="Arial"/>
              </a:rPr>
              <a:t>Ambient, like any liquid</a:t>
            </a:r>
            <a:endParaRPr b="0" i="0" sz="1100" u="none" cap="none" strike="noStrike">
              <a:solidFill>
                <a:srgbClr val="000000"/>
              </a:solidFill>
              <a:latin typeface="Arial"/>
              <a:ea typeface="Arial"/>
              <a:cs typeface="Arial"/>
              <a:sym typeface="Arial"/>
            </a:endParaRPr>
          </a:p>
        </p:txBody>
      </p:sp>
      <p:sp>
        <p:nvSpPr>
          <p:cNvPr id="377" name="Google Shape;377;p6"/>
          <p:cNvSpPr txBox="1"/>
          <p:nvPr/>
        </p:nvSpPr>
        <p:spPr>
          <a:xfrm>
            <a:off x="4983617" y="2384695"/>
            <a:ext cx="39297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600"/>
              <a:buFont typeface="Arial"/>
              <a:buNone/>
            </a:pPr>
            <a:r>
              <a:rPr b="0" i="0" lang="en" sz="600" u="none" cap="none" strike="noStrike">
                <a:solidFill>
                  <a:srgbClr val="8797A1"/>
                </a:solidFill>
                <a:latin typeface="Arial"/>
                <a:ea typeface="Arial"/>
                <a:cs typeface="Arial"/>
                <a:sym typeface="Arial"/>
              </a:rPr>
              <a:t>Fuel storage</a:t>
            </a:r>
            <a:endParaRPr b="0" i="0" sz="1100" u="none" cap="none" strike="noStrike">
              <a:solidFill>
                <a:srgbClr val="000000"/>
              </a:solidFill>
              <a:latin typeface="Arial"/>
              <a:ea typeface="Arial"/>
              <a:cs typeface="Arial"/>
              <a:sym typeface="Arial"/>
            </a:endParaRPr>
          </a:p>
        </p:txBody>
      </p:sp>
      <p:sp>
        <p:nvSpPr>
          <p:cNvPr id="378" name="Google Shape;378;p6"/>
          <p:cNvSpPr/>
          <p:nvPr/>
        </p:nvSpPr>
        <p:spPr>
          <a:xfrm>
            <a:off x="4983617" y="2679589"/>
            <a:ext cx="3929700" cy="274200"/>
          </a:xfrm>
          <a:prstGeom prst="rect">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9" name="Google Shape;379;p6"/>
          <p:cNvSpPr txBox="1"/>
          <p:nvPr/>
        </p:nvSpPr>
        <p:spPr>
          <a:xfrm>
            <a:off x="5052197" y="2679589"/>
            <a:ext cx="18276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1F6FA8"/>
                </a:solidFill>
                <a:latin typeface="Arial"/>
                <a:ea typeface="Arial"/>
                <a:cs typeface="Arial"/>
                <a:sym typeface="Arial"/>
              </a:rPr>
              <a:t>Water only</a:t>
            </a:r>
            <a:endParaRPr b="0" i="0" sz="1100" u="none" cap="none" strike="noStrike">
              <a:solidFill>
                <a:srgbClr val="000000"/>
              </a:solidFill>
              <a:latin typeface="Arial"/>
              <a:ea typeface="Arial"/>
              <a:cs typeface="Arial"/>
              <a:sym typeface="Arial"/>
            </a:endParaRPr>
          </a:p>
        </p:txBody>
      </p:sp>
      <p:sp>
        <p:nvSpPr>
          <p:cNvPr id="380" name="Google Shape;380;p6"/>
          <p:cNvSpPr txBox="1"/>
          <p:nvPr/>
        </p:nvSpPr>
        <p:spPr>
          <a:xfrm>
            <a:off x="6989590" y="2679589"/>
            <a:ext cx="18552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B5342A"/>
                </a:solidFill>
                <a:latin typeface="Arial"/>
                <a:ea typeface="Arial"/>
                <a:cs typeface="Arial"/>
                <a:sym typeface="Arial"/>
              </a:rPr>
              <a:t>Water + CO₂</a:t>
            </a:r>
            <a:endParaRPr b="0" i="0" sz="1100" u="none" cap="none" strike="noStrike">
              <a:solidFill>
                <a:srgbClr val="000000"/>
              </a:solidFill>
              <a:latin typeface="Arial"/>
              <a:ea typeface="Arial"/>
              <a:cs typeface="Arial"/>
              <a:sym typeface="Arial"/>
            </a:endParaRPr>
          </a:p>
        </p:txBody>
      </p:sp>
      <p:sp>
        <p:nvSpPr>
          <p:cNvPr id="381" name="Google Shape;381;p6"/>
          <p:cNvSpPr txBox="1"/>
          <p:nvPr/>
        </p:nvSpPr>
        <p:spPr>
          <a:xfrm>
            <a:off x="4983617" y="2672731"/>
            <a:ext cx="39297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600"/>
              <a:buFont typeface="Arial"/>
              <a:buNone/>
            </a:pPr>
            <a:r>
              <a:rPr b="0" i="0" lang="en" sz="600" u="none" cap="none" strike="noStrike">
                <a:solidFill>
                  <a:srgbClr val="8797A1"/>
                </a:solidFill>
                <a:latin typeface="Arial"/>
                <a:ea typeface="Arial"/>
                <a:cs typeface="Arial"/>
                <a:sym typeface="Arial"/>
              </a:rPr>
              <a:t>At the stack</a:t>
            </a:r>
            <a:endParaRPr b="0" i="0" sz="1100" u="none" cap="none" strike="noStrike">
              <a:solidFill>
                <a:srgbClr val="000000"/>
              </a:solidFill>
              <a:latin typeface="Arial"/>
              <a:ea typeface="Arial"/>
              <a:cs typeface="Arial"/>
              <a:sym typeface="Arial"/>
            </a:endParaRPr>
          </a:p>
        </p:txBody>
      </p:sp>
      <p:sp>
        <p:nvSpPr>
          <p:cNvPr id="382" name="Google Shape;382;p6"/>
          <p:cNvSpPr/>
          <p:nvPr/>
        </p:nvSpPr>
        <p:spPr>
          <a:xfrm>
            <a:off x="4983617" y="2967625"/>
            <a:ext cx="3929700" cy="274200"/>
          </a:xfrm>
          <a:prstGeom prst="rect">
            <a:avLst/>
          </a:prstGeom>
          <a:solidFill>
            <a:srgbClr val="FFFFFF"/>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3" name="Google Shape;383;p6"/>
          <p:cNvSpPr txBox="1"/>
          <p:nvPr/>
        </p:nvSpPr>
        <p:spPr>
          <a:xfrm>
            <a:off x="5052197" y="2967625"/>
            <a:ext cx="18276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1F6FA8"/>
                </a:solidFill>
                <a:latin typeface="Arial"/>
                <a:ea typeface="Arial"/>
                <a:cs typeface="Arial"/>
                <a:sym typeface="Arial"/>
              </a:rPr>
              <a:t>Vehicles, high power</a:t>
            </a:r>
            <a:endParaRPr b="0" i="0" sz="1100" u="none" cap="none" strike="noStrike">
              <a:solidFill>
                <a:srgbClr val="000000"/>
              </a:solidFill>
              <a:latin typeface="Arial"/>
              <a:ea typeface="Arial"/>
              <a:cs typeface="Arial"/>
              <a:sym typeface="Arial"/>
            </a:endParaRPr>
          </a:p>
        </p:txBody>
      </p:sp>
      <p:sp>
        <p:nvSpPr>
          <p:cNvPr id="384" name="Google Shape;384;p6"/>
          <p:cNvSpPr txBox="1"/>
          <p:nvPr/>
        </p:nvSpPr>
        <p:spPr>
          <a:xfrm>
            <a:off x="6989590" y="2967625"/>
            <a:ext cx="18552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1" i="0" lang="en" sz="700" u="none" cap="none" strike="noStrike">
                <a:solidFill>
                  <a:srgbClr val="B5342A"/>
                </a:solidFill>
                <a:latin typeface="Arial"/>
                <a:ea typeface="Arial"/>
                <a:cs typeface="Arial"/>
                <a:sym typeface="Arial"/>
              </a:rPr>
              <a:t>Portable, long runtime</a:t>
            </a:r>
            <a:endParaRPr b="0" i="0" sz="1100" u="none" cap="none" strike="noStrike">
              <a:solidFill>
                <a:srgbClr val="000000"/>
              </a:solidFill>
              <a:latin typeface="Arial"/>
              <a:ea typeface="Arial"/>
              <a:cs typeface="Arial"/>
              <a:sym typeface="Arial"/>
            </a:endParaRPr>
          </a:p>
        </p:txBody>
      </p:sp>
      <p:sp>
        <p:nvSpPr>
          <p:cNvPr id="385" name="Google Shape;385;p6"/>
          <p:cNvSpPr txBox="1"/>
          <p:nvPr/>
        </p:nvSpPr>
        <p:spPr>
          <a:xfrm>
            <a:off x="4983617" y="2960767"/>
            <a:ext cx="3929700" cy="2742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600"/>
              <a:buFont typeface="Arial"/>
              <a:buNone/>
            </a:pPr>
            <a:r>
              <a:rPr b="0" i="0" lang="en" sz="600" u="none" cap="none" strike="noStrike">
                <a:solidFill>
                  <a:srgbClr val="8797A1"/>
                </a:solidFill>
                <a:latin typeface="Arial"/>
                <a:ea typeface="Arial"/>
                <a:cs typeface="Arial"/>
                <a:sym typeface="Arial"/>
              </a:rPr>
              <a:t>Best for</a:t>
            </a:r>
            <a:endParaRPr b="0" i="0" sz="1100" u="none" cap="none" strike="noStrike">
              <a:solidFill>
                <a:srgbClr val="000000"/>
              </a:solidFill>
              <a:latin typeface="Arial"/>
              <a:ea typeface="Arial"/>
              <a:cs typeface="Arial"/>
              <a:sym typeface="Arial"/>
            </a:endParaRPr>
          </a:p>
        </p:txBody>
      </p:sp>
      <p:sp>
        <p:nvSpPr>
          <p:cNvPr id="386" name="Google Shape;386;p6"/>
          <p:cNvSpPr/>
          <p:nvPr/>
        </p:nvSpPr>
        <p:spPr>
          <a:xfrm>
            <a:off x="4983617" y="3324241"/>
            <a:ext cx="3929700" cy="658500"/>
          </a:xfrm>
          <a:prstGeom prst="roundRect">
            <a:avLst>
              <a:gd fmla="val 7291" name="adj"/>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7" name="Google Shape;387;p6"/>
          <p:cNvSpPr txBox="1"/>
          <p:nvPr/>
        </p:nvSpPr>
        <p:spPr>
          <a:xfrm>
            <a:off x="5100204" y="3444941"/>
            <a:ext cx="36966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The trade in one line</a:t>
            </a:r>
            <a:endParaRPr b="0" i="0" sz="1100" u="none" cap="none" strike="noStrike">
              <a:solidFill>
                <a:srgbClr val="000000"/>
              </a:solidFill>
              <a:latin typeface="Arial"/>
              <a:ea typeface="Arial"/>
              <a:cs typeface="Arial"/>
              <a:sym typeface="Arial"/>
            </a:endParaRPr>
          </a:p>
        </p:txBody>
      </p:sp>
      <p:sp>
        <p:nvSpPr>
          <p:cNvPr id="388" name="Google Shape;388;p6"/>
          <p:cNvSpPr txBox="1"/>
          <p:nvPr/>
        </p:nvSpPr>
        <p:spPr>
          <a:xfrm>
            <a:off x="5100204" y="3620773"/>
            <a:ext cx="36966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You accept a tenth of the power density to avoid a pressurised hydrogen tank. That is the whole DMFC argument.</a:t>
            </a:r>
            <a:endParaRPr b="0" i="0" sz="1100" u="none" cap="none" strike="noStrike">
              <a:solidFill>
                <a:srgbClr val="000000"/>
              </a:solidFill>
              <a:latin typeface="Arial"/>
              <a:ea typeface="Arial"/>
              <a:cs typeface="Arial"/>
              <a:sym typeface="Arial"/>
            </a:endParaRPr>
          </a:p>
        </p:txBody>
      </p:sp>
      <p:sp>
        <p:nvSpPr>
          <p:cNvPr id="389" name="Google Shape;389;p6"/>
          <p:cNvSpPr txBox="1"/>
          <p:nvPr/>
        </p:nvSpPr>
        <p:spPr>
          <a:xfrm>
            <a:off x="342901" y="4155948"/>
            <a:ext cx="83895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If you can supply hydrogen, take the PEMFC. The DMFC exists because supplying hydrogen is usually the hard part.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h404929d835aeeb39_0_0"/>
          <p:cNvSpPr txBox="1"/>
          <p:nvPr/>
        </p:nvSpPr>
        <p:spPr>
          <a:xfrm>
            <a:off x="374904" y="274320"/>
            <a:ext cx="82953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3</a:t>
            </a:r>
            <a:r>
              <a:rPr b="1" i="0" lang="en" sz="700" u="none" cap="none" strike="noStrike">
                <a:solidFill>
                  <a:srgbClr val="C77A12"/>
                </a:solidFill>
                <a:latin typeface="Arial"/>
                <a:ea typeface="Arial"/>
                <a:cs typeface="Arial"/>
                <a:sym typeface="Arial"/>
              </a:rPr>
              <a:t> · THE METHANOL SYSTEM</a:t>
            </a:r>
            <a:endParaRPr b="0" i="0" sz="700" u="none" cap="none" strike="noStrike">
              <a:solidFill>
                <a:srgbClr val="000000"/>
              </a:solidFill>
              <a:latin typeface="Arial"/>
              <a:ea typeface="Arial"/>
              <a:cs typeface="Arial"/>
              <a:sym typeface="Arial"/>
            </a:endParaRPr>
          </a:p>
        </p:txBody>
      </p:sp>
      <p:sp>
        <p:nvSpPr>
          <p:cNvPr id="395" name="Google Shape;395;h404929d835aeeb39_0_0"/>
          <p:cNvSpPr txBox="1"/>
          <p:nvPr/>
        </p:nvSpPr>
        <p:spPr>
          <a:xfrm>
            <a:off x="374904" y="493776"/>
            <a:ext cx="82953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What the system is made of</a:t>
            </a:r>
            <a:endParaRPr b="0" i="0" sz="2000" u="none" cap="none" strike="noStrike">
              <a:solidFill>
                <a:srgbClr val="000000"/>
              </a:solidFill>
              <a:latin typeface="Arial"/>
              <a:ea typeface="Arial"/>
              <a:cs typeface="Arial"/>
              <a:sym typeface="Arial"/>
            </a:endParaRPr>
          </a:p>
        </p:txBody>
      </p:sp>
      <p:sp>
        <p:nvSpPr>
          <p:cNvPr id="396" name="Google Shape;396;h404929d835aeeb39_0_0"/>
          <p:cNvSpPr txBox="1"/>
          <p:nvPr/>
        </p:nvSpPr>
        <p:spPr>
          <a:xfrm>
            <a:off x="374904" y="905256"/>
            <a:ext cx="82953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6B75"/>
                </a:solidFill>
                <a:latin typeface="Arial"/>
                <a:ea typeface="Arial"/>
                <a:cs typeface="Arial"/>
                <a:sym typeface="Arial"/>
              </a:rPr>
              <a:t>Three paths meet at the stack: fuel and air come in, power goes to the battery, and a controller watches all of it.</a:t>
            </a:r>
            <a:endParaRPr b="0" i="0" sz="950" u="none" cap="none" strike="noStrike">
              <a:solidFill>
                <a:srgbClr val="000000"/>
              </a:solidFill>
              <a:latin typeface="Arial"/>
              <a:ea typeface="Arial"/>
              <a:cs typeface="Arial"/>
              <a:sym typeface="Arial"/>
            </a:endParaRPr>
          </a:p>
        </p:txBody>
      </p:sp>
      <p:sp>
        <p:nvSpPr>
          <p:cNvPr id="397" name="Google Shape;397;h404929d835aeeb39_0_0"/>
          <p:cNvSpPr/>
          <p:nvPr/>
        </p:nvSpPr>
        <p:spPr>
          <a:xfrm>
            <a:off x="374904" y="1611630"/>
            <a:ext cx="1209600" cy="617100"/>
          </a:xfrm>
          <a:prstGeom prst="roundRect">
            <a:avLst>
              <a:gd fmla="val 8889" name="adj"/>
            </a:avLst>
          </a:prstGeom>
          <a:solidFill>
            <a:srgbClr val="FBF1E3"/>
          </a:solidFill>
          <a:ln cap="flat" cmpd="sng" w="9525">
            <a:solidFill>
              <a:srgbClr val="C7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h404929d835aeeb39_0_0"/>
          <p:cNvSpPr txBox="1"/>
          <p:nvPr/>
        </p:nvSpPr>
        <p:spPr>
          <a:xfrm>
            <a:off x="430205" y="1611630"/>
            <a:ext cx="1099200" cy="61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Methanol canister</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6B75"/>
                </a:solidFill>
                <a:latin typeface="Arial"/>
                <a:ea typeface="Arial"/>
                <a:cs typeface="Arial"/>
                <a:sym typeface="Arial"/>
              </a:rPr>
              <a:t>sealed, high-purity CH₃OH</a:t>
            </a:r>
            <a:endParaRPr b="0" i="0" sz="850" u="none" cap="none" strike="noStrike">
              <a:solidFill>
                <a:srgbClr val="000000"/>
              </a:solidFill>
              <a:latin typeface="Arial"/>
              <a:ea typeface="Arial"/>
              <a:cs typeface="Arial"/>
              <a:sym typeface="Arial"/>
            </a:endParaRPr>
          </a:p>
        </p:txBody>
      </p:sp>
      <p:sp>
        <p:nvSpPr>
          <p:cNvPr id="399" name="Google Shape;399;h404929d835aeeb39_0_0"/>
          <p:cNvSpPr/>
          <p:nvPr/>
        </p:nvSpPr>
        <p:spPr>
          <a:xfrm>
            <a:off x="1757435" y="1611630"/>
            <a:ext cx="1209600" cy="617100"/>
          </a:xfrm>
          <a:prstGeom prst="roundRect">
            <a:avLst>
              <a:gd fmla="val 8889" name="adj"/>
            </a:avLst>
          </a:prstGeom>
          <a:solidFill>
            <a:srgbClr val="FBF1E3"/>
          </a:solidFill>
          <a:ln cap="flat" cmpd="sng" w="9525">
            <a:solidFill>
              <a:srgbClr val="C7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h404929d835aeeb39_0_0"/>
          <p:cNvSpPr txBox="1"/>
          <p:nvPr/>
        </p:nvSpPr>
        <p:spPr>
          <a:xfrm>
            <a:off x="1812736" y="1611630"/>
            <a:ext cx="1099200" cy="61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Dosing pump</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6B75"/>
                </a:solidFill>
                <a:latin typeface="Arial"/>
                <a:ea typeface="Arial"/>
                <a:cs typeface="Arial"/>
                <a:sym typeface="Arial"/>
              </a:rPr>
              <a:t>meters the pure fuel</a:t>
            </a:r>
            <a:endParaRPr b="0" i="0" sz="850" u="none" cap="none" strike="noStrike">
              <a:solidFill>
                <a:srgbClr val="000000"/>
              </a:solidFill>
              <a:latin typeface="Arial"/>
              <a:ea typeface="Arial"/>
              <a:cs typeface="Arial"/>
              <a:sym typeface="Arial"/>
            </a:endParaRPr>
          </a:p>
        </p:txBody>
      </p:sp>
      <p:sp>
        <p:nvSpPr>
          <p:cNvPr id="401" name="Google Shape;401;h404929d835aeeb39_0_0"/>
          <p:cNvSpPr/>
          <p:nvPr/>
        </p:nvSpPr>
        <p:spPr>
          <a:xfrm>
            <a:off x="3139965" y="1611630"/>
            <a:ext cx="1209600" cy="617100"/>
          </a:xfrm>
          <a:prstGeom prst="roundRect">
            <a:avLst>
              <a:gd fmla="val 8889" name="adj"/>
            </a:avLst>
          </a:prstGeom>
          <a:solidFill>
            <a:srgbClr val="FBF1E3"/>
          </a:solidFill>
          <a:ln cap="flat" cmpd="sng" w="9525">
            <a:solidFill>
              <a:srgbClr val="C7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h404929d835aeeb39_0_0"/>
          <p:cNvSpPr txBox="1"/>
          <p:nvPr/>
        </p:nvSpPr>
        <p:spPr>
          <a:xfrm>
            <a:off x="3195266" y="1611630"/>
            <a:ext cx="1099200" cy="61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Mixing loop</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6B75"/>
                </a:solidFill>
                <a:latin typeface="Arial"/>
                <a:ea typeface="Arial"/>
                <a:cs typeface="Arial"/>
                <a:sym typeface="Arial"/>
              </a:rPr>
              <a:t>dilutes to ≈1 mol/l, circulates</a:t>
            </a:r>
            <a:endParaRPr b="0" i="0" sz="850" u="none" cap="none" strike="noStrike">
              <a:solidFill>
                <a:srgbClr val="000000"/>
              </a:solidFill>
              <a:latin typeface="Arial"/>
              <a:ea typeface="Arial"/>
              <a:cs typeface="Arial"/>
              <a:sym typeface="Arial"/>
            </a:endParaRPr>
          </a:p>
        </p:txBody>
      </p:sp>
      <p:sp>
        <p:nvSpPr>
          <p:cNvPr id="403" name="Google Shape;403;h404929d835aeeb39_0_0"/>
          <p:cNvSpPr/>
          <p:nvPr/>
        </p:nvSpPr>
        <p:spPr>
          <a:xfrm>
            <a:off x="4522496" y="1611630"/>
            <a:ext cx="1382400" cy="925800"/>
          </a:xfrm>
          <a:prstGeom prst="roundRect">
            <a:avLst>
              <a:gd fmla="val 5926" name="adj"/>
            </a:avLst>
          </a:prstGeom>
          <a:solidFill>
            <a:srgbClr val="14303F"/>
          </a:solidFill>
          <a:ln cap="flat" cmpd="sng" w="9525">
            <a:solidFill>
              <a:srgbClr val="1430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h404929d835aeeb39_0_0"/>
          <p:cNvSpPr txBox="1"/>
          <p:nvPr/>
        </p:nvSpPr>
        <p:spPr>
          <a:xfrm>
            <a:off x="4577797" y="1611630"/>
            <a:ext cx="1272000" cy="92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FFFFFF"/>
                </a:solidFill>
                <a:latin typeface="Arial"/>
                <a:ea typeface="Arial"/>
                <a:cs typeface="Arial"/>
                <a:sym typeface="Arial"/>
              </a:rPr>
              <a:t>DMFC stack</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D6E2EC"/>
                </a:solidFill>
                <a:latin typeface="Arial"/>
                <a:ea typeface="Arial"/>
                <a:cs typeface="Arial"/>
                <a:sym typeface="Arial"/>
              </a:rPr>
              <a:t>anode: methanol → CO₂</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D6E2EC"/>
                </a:solidFill>
                <a:latin typeface="Arial"/>
                <a:ea typeface="Arial"/>
                <a:cs typeface="Arial"/>
                <a:sym typeface="Arial"/>
              </a:rPr>
              <a:t>cathode: O₂ → H₂O</a:t>
            </a:r>
            <a:endParaRPr b="0" i="0" sz="850" u="none" cap="none" strike="noStrike">
              <a:solidFill>
                <a:srgbClr val="000000"/>
              </a:solidFill>
              <a:latin typeface="Arial"/>
              <a:ea typeface="Arial"/>
              <a:cs typeface="Arial"/>
              <a:sym typeface="Arial"/>
            </a:endParaRPr>
          </a:p>
        </p:txBody>
      </p:sp>
      <p:sp>
        <p:nvSpPr>
          <p:cNvPr id="405" name="Google Shape;405;h404929d835aeeb39_0_0"/>
          <p:cNvSpPr/>
          <p:nvPr/>
        </p:nvSpPr>
        <p:spPr>
          <a:xfrm>
            <a:off x="6181532" y="1611630"/>
            <a:ext cx="1347900" cy="411600"/>
          </a:xfrm>
          <a:prstGeom prst="roundRect">
            <a:avLst>
              <a:gd fmla="val 13333" name="adj"/>
            </a:avLst>
          </a:prstGeom>
          <a:solidFill>
            <a:srgbClr val="E3F0F3"/>
          </a:solidFill>
          <a:ln cap="flat" cmpd="sng" w="9525">
            <a:solidFill>
              <a:srgbClr val="1760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h404929d835aeeb39_0_0"/>
          <p:cNvSpPr txBox="1"/>
          <p:nvPr/>
        </p:nvSpPr>
        <p:spPr>
          <a:xfrm>
            <a:off x="6236834" y="1611630"/>
            <a:ext cx="12375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Condenser + separator</a:t>
            </a:r>
            <a:endParaRPr b="0" i="0" sz="850" u="none" cap="none" strike="noStrike">
              <a:solidFill>
                <a:srgbClr val="000000"/>
              </a:solidFill>
              <a:latin typeface="Arial"/>
              <a:ea typeface="Arial"/>
              <a:cs typeface="Arial"/>
              <a:sym typeface="Arial"/>
            </a:endParaRPr>
          </a:p>
        </p:txBody>
      </p:sp>
      <p:sp>
        <p:nvSpPr>
          <p:cNvPr id="407" name="Google Shape;407;h404929d835aeeb39_0_0"/>
          <p:cNvSpPr/>
          <p:nvPr/>
        </p:nvSpPr>
        <p:spPr>
          <a:xfrm>
            <a:off x="6181532" y="2125980"/>
            <a:ext cx="1347900" cy="411600"/>
          </a:xfrm>
          <a:prstGeom prst="roundRect">
            <a:avLst>
              <a:gd fmla="val 13333" name="adj"/>
            </a:avLst>
          </a:prstGeom>
          <a:solidFill>
            <a:srgbClr val="E3F0F3"/>
          </a:solidFill>
          <a:ln cap="flat" cmpd="sng" w="9525">
            <a:solidFill>
              <a:srgbClr val="1760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h404929d835aeeb39_0_0"/>
          <p:cNvSpPr txBox="1"/>
          <p:nvPr/>
        </p:nvSpPr>
        <p:spPr>
          <a:xfrm>
            <a:off x="6236834" y="2125980"/>
            <a:ext cx="12375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Air pump</a:t>
            </a:r>
            <a:endParaRPr b="0" i="0" sz="850" u="none" cap="none" strike="noStrike">
              <a:solidFill>
                <a:srgbClr val="000000"/>
              </a:solidFill>
              <a:latin typeface="Arial"/>
              <a:ea typeface="Arial"/>
              <a:cs typeface="Arial"/>
              <a:sym typeface="Arial"/>
            </a:endParaRPr>
          </a:p>
        </p:txBody>
      </p:sp>
      <p:sp>
        <p:nvSpPr>
          <p:cNvPr id="409" name="Google Shape;409;h404929d835aeeb39_0_0"/>
          <p:cNvSpPr/>
          <p:nvPr/>
        </p:nvSpPr>
        <p:spPr>
          <a:xfrm>
            <a:off x="7702316" y="1611630"/>
            <a:ext cx="1057500" cy="411600"/>
          </a:xfrm>
          <a:prstGeom prst="roundRect">
            <a:avLst>
              <a:gd fmla="val 13333"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h404929d835aeeb39_0_0"/>
          <p:cNvSpPr txBox="1"/>
          <p:nvPr/>
        </p:nvSpPr>
        <p:spPr>
          <a:xfrm>
            <a:off x="7757617" y="1611630"/>
            <a:ext cx="9471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CO₂ + vapour out</a:t>
            </a:r>
            <a:endParaRPr b="0" i="0" sz="850" u="none" cap="none" strike="noStrike">
              <a:solidFill>
                <a:srgbClr val="000000"/>
              </a:solidFill>
              <a:latin typeface="Arial"/>
              <a:ea typeface="Arial"/>
              <a:cs typeface="Arial"/>
              <a:sym typeface="Arial"/>
            </a:endParaRPr>
          </a:p>
        </p:txBody>
      </p:sp>
      <p:cxnSp>
        <p:nvCxnSpPr>
          <p:cNvPr id="411" name="Google Shape;411;h404929d835aeeb39_0_0"/>
          <p:cNvCxnSpPr/>
          <p:nvPr/>
        </p:nvCxnSpPr>
        <p:spPr>
          <a:xfrm>
            <a:off x="1584618" y="1920240"/>
            <a:ext cx="172800" cy="0"/>
          </a:xfrm>
          <a:prstGeom prst="straightConnector1">
            <a:avLst/>
          </a:prstGeom>
          <a:noFill/>
          <a:ln cap="flat" cmpd="sng" w="14275">
            <a:solidFill>
              <a:srgbClr val="C77A12"/>
            </a:solidFill>
            <a:prstDash val="solid"/>
            <a:round/>
            <a:headEnd len="sm" w="sm" type="none"/>
            <a:tailEnd len="med" w="med" type="triangle"/>
          </a:ln>
        </p:spPr>
      </p:cxnSp>
      <p:cxnSp>
        <p:nvCxnSpPr>
          <p:cNvPr id="412" name="Google Shape;412;h404929d835aeeb39_0_0"/>
          <p:cNvCxnSpPr/>
          <p:nvPr/>
        </p:nvCxnSpPr>
        <p:spPr>
          <a:xfrm>
            <a:off x="2967149" y="1920240"/>
            <a:ext cx="172800" cy="0"/>
          </a:xfrm>
          <a:prstGeom prst="straightConnector1">
            <a:avLst/>
          </a:prstGeom>
          <a:noFill/>
          <a:ln cap="flat" cmpd="sng" w="14275">
            <a:solidFill>
              <a:srgbClr val="C77A12"/>
            </a:solidFill>
            <a:prstDash val="solid"/>
            <a:round/>
            <a:headEnd len="sm" w="sm" type="none"/>
            <a:tailEnd len="med" w="med" type="triangle"/>
          </a:ln>
        </p:spPr>
      </p:cxnSp>
      <p:cxnSp>
        <p:nvCxnSpPr>
          <p:cNvPr id="413" name="Google Shape;413;h404929d835aeeb39_0_0"/>
          <p:cNvCxnSpPr/>
          <p:nvPr/>
        </p:nvCxnSpPr>
        <p:spPr>
          <a:xfrm>
            <a:off x="4349679" y="1920240"/>
            <a:ext cx="172800" cy="0"/>
          </a:xfrm>
          <a:prstGeom prst="straightConnector1">
            <a:avLst/>
          </a:prstGeom>
          <a:noFill/>
          <a:ln cap="flat" cmpd="sng" w="14275">
            <a:solidFill>
              <a:srgbClr val="C77A12"/>
            </a:solidFill>
            <a:prstDash val="solid"/>
            <a:round/>
            <a:headEnd len="sm" w="sm" type="none"/>
            <a:tailEnd len="med" w="med" type="triangle"/>
          </a:ln>
        </p:spPr>
      </p:cxnSp>
      <p:cxnSp>
        <p:nvCxnSpPr>
          <p:cNvPr id="414" name="Google Shape;414;h404929d835aeeb39_0_0"/>
          <p:cNvCxnSpPr/>
          <p:nvPr/>
        </p:nvCxnSpPr>
        <p:spPr>
          <a:xfrm>
            <a:off x="5905026" y="1817370"/>
            <a:ext cx="276600" cy="0"/>
          </a:xfrm>
          <a:prstGeom prst="straightConnector1">
            <a:avLst/>
          </a:prstGeom>
          <a:noFill/>
          <a:ln cap="flat" cmpd="sng" w="14275">
            <a:solidFill>
              <a:srgbClr val="17607D"/>
            </a:solidFill>
            <a:prstDash val="solid"/>
            <a:round/>
            <a:headEnd len="sm" w="sm" type="none"/>
            <a:tailEnd len="med" w="med" type="triangle"/>
          </a:ln>
        </p:spPr>
      </p:cxnSp>
      <p:cxnSp>
        <p:nvCxnSpPr>
          <p:cNvPr id="415" name="Google Shape;415;h404929d835aeeb39_0_0"/>
          <p:cNvCxnSpPr/>
          <p:nvPr/>
        </p:nvCxnSpPr>
        <p:spPr>
          <a:xfrm rot="10800000">
            <a:off x="5904932" y="2331720"/>
            <a:ext cx="276600" cy="0"/>
          </a:xfrm>
          <a:prstGeom prst="straightConnector1">
            <a:avLst/>
          </a:prstGeom>
          <a:noFill/>
          <a:ln cap="flat" cmpd="sng" w="14275">
            <a:solidFill>
              <a:srgbClr val="17607D"/>
            </a:solidFill>
            <a:prstDash val="solid"/>
            <a:round/>
            <a:headEnd len="sm" w="sm" type="none"/>
            <a:tailEnd len="med" w="med" type="triangle"/>
          </a:ln>
        </p:spPr>
      </p:cxnSp>
      <p:cxnSp>
        <p:nvCxnSpPr>
          <p:cNvPr id="416" name="Google Shape;416;h404929d835aeeb39_0_0"/>
          <p:cNvCxnSpPr/>
          <p:nvPr/>
        </p:nvCxnSpPr>
        <p:spPr>
          <a:xfrm>
            <a:off x="7529500" y="1817370"/>
            <a:ext cx="172800" cy="0"/>
          </a:xfrm>
          <a:prstGeom prst="straightConnector1">
            <a:avLst/>
          </a:prstGeom>
          <a:noFill/>
          <a:ln cap="flat" cmpd="sng" w="14275">
            <a:solidFill>
              <a:srgbClr val="17607D"/>
            </a:solidFill>
            <a:prstDash val="solid"/>
            <a:round/>
            <a:headEnd len="sm" w="sm" type="none"/>
            <a:tailEnd len="med" w="med" type="triangle"/>
          </a:ln>
        </p:spPr>
      </p:cxnSp>
      <p:cxnSp>
        <p:nvCxnSpPr>
          <p:cNvPr id="417" name="Google Shape;417;h404929d835aeeb39_0_0"/>
          <p:cNvCxnSpPr/>
          <p:nvPr/>
        </p:nvCxnSpPr>
        <p:spPr>
          <a:xfrm>
            <a:off x="6852060" y="1385316"/>
            <a:ext cx="0" cy="226200"/>
          </a:xfrm>
          <a:prstGeom prst="straightConnector1">
            <a:avLst/>
          </a:prstGeom>
          <a:noFill/>
          <a:ln cap="flat" cmpd="sng" w="14275">
            <a:solidFill>
              <a:srgbClr val="17607D"/>
            </a:solidFill>
            <a:prstDash val="dash"/>
            <a:round/>
            <a:headEnd len="sm" w="sm" type="none"/>
            <a:tailEnd len="sm" w="sm" type="none"/>
          </a:ln>
        </p:spPr>
      </p:cxnSp>
      <p:cxnSp>
        <p:nvCxnSpPr>
          <p:cNvPr id="418" name="Google Shape;418;h404929d835aeeb39_0_0"/>
          <p:cNvCxnSpPr/>
          <p:nvPr/>
        </p:nvCxnSpPr>
        <p:spPr>
          <a:xfrm>
            <a:off x="3741366" y="1385316"/>
            <a:ext cx="3110700" cy="0"/>
          </a:xfrm>
          <a:prstGeom prst="straightConnector1">
            <a:avLst/>
          </a:prstGeom>
          <a:noFill/>
          <a:ln cap="flat" cmpd="sng" w="14275">
            <a:solidFill>
              <a:srgbClr val="17607D"/>
            </a:solidFill>
            <a:prstDash val="dash"/>
            <a:round/>
            <a:headEnd len="sm" w="sm" type="none"/>
            <a:tailEnd len="sm" w="sm" type="none"/>
          </a:ln>
        </p:spPr>
      </p:cxnSp>
      <p:cxnSp>
        <p:nvCxnSpPr>
          <p:cNvPr id="419" name="Google Shape;419;h404929d835aeeb39_0_0"/>
          <p:cNvCxnSpPr/>
          <p:nvPr/>
        </p:nvCxnSpPr>
        <p:spPr>
          <a:xfrm>
            <a:off x="3741366" y="1385316"/>
            <a:ext cx="0" cy="226200"/>
          </a:xfrm>
          <a:prstGeom prst="straightConnector1">
            <a:avLst/>
          </a:prstGeom>
          <a:noFill/>
          <a:ln cap="flat" cmpd="sng" w="14275">
            <a:solidFill>
              <a:srgbClr val="17607D"/>
            </a:solidFill>
            <a:prstDash val="dash"/>
            <a:round/>
            <a:headEnd len="sm" w="sm" type="none"/>
            <a:tailEnd len="med" w="med" type="triangle"/>
          </a:ln>
        </p:spPr>
      </p:cxnSp>
      <p:sp>
        <p:nvSpPr>
          <p:cNvPr id="420" name="Google Shape;420;h404929d835aeeb39_0_0"/>
          <p:cNvSpPr txBox="1"/>
          <p:nvPr/>
        </p:nvSpPr>
        <p:spPr>
          <a:xfrm>
            <a:off x="4176863" y="1200150"/>
            <a:ext cx="2626800" cy="171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0" i="1" lang="en" sz="700" u="none" cap="none" strike="noStrike">
                <a:solidFill>
                  <a:srgbClr val="17607D"/>
                </a:solidFill>
                <a:latin typeface="Arial"/>
                <a:ea typeface="Arial"/>
                <a:cs typeface="Arial"/>
                <a:sym typeface="Arial"/>
              </a:rPr>
              <a:t>recovered water goes back to dilute the fresh fuel</a:t>
            </a:r>
            <a:endParaRPr b="0" i="0" sz="700" u="none" cap="none" strike="noStrike">
              <a:solidFill>
                <a:srgbClr val="000000"/>
              </a:solidFill>
              <a:latin typeface="Arial"/>
              <a:ea typeface="Arial"/>
              <a:cs typeface="Arial"/>
              <a:sym typeface="Arial"/>
            </a:endParaRPr>
          </a:p>
        </p:txBody>
      </p:sp>
      <p:cxnSp>
        <p:nvCxnSpPr>
          <p:cNvPr id="421" name="Google Shape;421;h404929d835aeeb39_0_0"/>
          <p:cNvCxnSpPr/>
          <p:nvPr/>
        </p:nvCxnSpPr>
        <p:spPr>
          <a:xfrm>
            <a:off x="5213761" y="2537460"/>
            <a:ext cx="0" cy="377100"/>
          </a:xfrm>
          <a:prstGeom prst="straightConnector1">
            <a:avLst/>
          </a:prstGeom>
          <a:noFill/>
          <a:ln cap="flat" cmpd="sng" w="14275">
            <a:solidFill>
              <a:srgbClr val="14303F"/>
            </a:solidFill>
            <a:prstDash val="solid"/>
            <a:round/>
            <a:headEnd len="sm" w="sm" type="none"/>
            <a:tailEnd len="med" w="med" type="triangle"/>
          </a:ln>
        </p:spPr>
      </p:cxnSp>
      <p:sp>
        <p:nvSpPr>
          <p:cNvPr id="422" name="Google Shape;422;h404929d835aeeb39_0_0"/>
          <p:cNvSpPr txBox="1"/>
          <p:nvPr/>
        </p:nvSpPr>
        <p:spPr>
          <a:xfrm>
            <a:off x="5282888" y="2619756"/>
            <a:ext cx="552900" cy="1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1" lang="en" sz="700" u="none" cap="none" strike="noStrike">
                <a:solidFill>
                  <a:srgbClr val="5A6B75"/>
                </a:solidFill>
                <a:latin typeface="Arial"/>
                <a:ea typeface="Arial"/>
                <a:cs typeface="Arial"/>
                <a:sym typeface="Arial"/>
              </a:rPr>
              <a:t>raw DC</a:t>
            </a:r>
            <a:endParaRPr b="0" i="0" sz="700" u="none" cap="none" strike="noStrike">
              <a:solidFill>
                <a:srgbClr val="000000"/>
              </a:solidFill>
              <a:latin typeface="Arial"/>
              <a:ea typeface="Arial"/>
              <a:cs typeface="Arial"/>
              <a:sym typeface="Arial"/>
            </a:endParaRPr>
          </a:p>
        </p:txBody>
      </p:sp>
      <p:sp>
        <p:nvSpPr>
          <p:cNvPr id="423" name="Google Shape;423;h404929d835aeeb39_0_0"/>
          <p:cNvSpPr/>
          <p:nvPr/>
        </p:nvSpPr>
        <p:spPr>
          <a:xfrm>
            <a:off x="4522496" y="2914650"/>
            <a:ext cx="1382400" cy="582900"/>
          </a:xfrm>
          <a:prstGeom prst="roundRect">
            <a:avLst>
              <a:gd fmla="val 9412" name="adj"/>
            </a:avLst>
          </a:prstGeom>
          <a:solidFill>
            <a:srgbClr val="DCE8F0"/>
          </a:solidFill>
          <a:ln cap="flat" cmpd="sng" w="9525">
            <a:solidFill>
              <a:srgbClr val="1430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h404929d835aeeb39_0_0"/>
          <p:cNvSpPr txBox="1"/>
          <p:nvPr/>
        </p:nvSpPr>
        <p:spPr>
          <a:xfrm>
            <a:off x="4577797" y="2914650"/>
            <a:ext cx="1272000" cy="58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DC/DC charger</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6B75"/>
                </a:solidFill>
                <a:latin typeface="Arial"/>
                <a:ea typeface="Arial"/>
                <a:cs typeface="Arial"/>
                <a:sym typeface="Arial"/>
              </a:rPr>
              <a:t>CC-CV regulation</a:t>
            </a:r>
            <a:endParaRPr b="0" i="0" sz="850" u="none" cap="none" strike="noStrike">
              <a:solidFill>
                <a:srgbClr val="000000"/>
              </a:solidFill>
              <a:latin typeface="Arial"/>
              <a:ea typeface="Arial"/>
              <a:cs typeface="Arial"/>
              <a:sym typeface="Arial"/>
            </a:endParaRPr>
          </a:p>
        </p:txBody>
      </p:sp>
      <p:sp>
        <p:nvSpPr>
          <p:cNvPr id="425" name="Google Shape;425;h404929d835aeeb39_0_0"/>
          <p:cNvSpPr/>
          <p:nvPr/>
        </p:nvSpPr>
        <p:spPr>
          <a:xfrm>
            <a:off x="6181532" y="2914650"/>
            <a:ext cx="1347900" cy="582900"/>
          </a:xfrm>
          <a:prstGeom prst="roundRect">
            <a:avLst>
              <a:gd fmla="val 9412" name="adj"/>
            </a:avLst>
          </a:prstGeom>
          <a:solidFill>
            <a:srgbClr val="DCE8F0"/>
          </a:solidFill>
          <a:ln cap="flat" cmpd="sng" w="9525">
            <a:solidFill>
              <a:srgbClr val="1430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h404929d835aeeb39_0_0"/>
          <p:cNvSpPr txBox="1"/>
          <p:nvPr/>
        </p:nvSpPr>
        <p:spPr>
          <a:xfrm>
            <a:off x="6236834" y="2914650"/>
            <a:ext cx="1237500" cy="58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Battery</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6B75"/>
                </a:solidFill>
                <a:latin typeface="Arial"/>
                <a:ea typeface="Arial"/>
                <a:cs typeface="Arial"/>
                <a:sym typeface="Arial"/>
              </a:rPr>
              <a:t>buffers the load</a:t>
            </a:r>
            <a:endParaRPr b="0" i="0" sz="850" u="none" cap="none" strike="noStrike">
              <a:solidFill>
                <a:srgbClr val="000000"/>
              </a:solidFill>
              <a:latin typeface="Arial"/>
              <a:ea typeface="Arial"/>
              <a:cs typeface="Arial"/>
              <a:sym typeface="Arial"/>
            </a:endParaRPr>
          </a:p>
        </p:txBody>
      </p:sp>
      <p:sp>
        <p:nvSpPr>
          <p:cNvPr id="427" name="Google Shape;427;h404929d835aeeb39_0_0"/>
          <p:cNvSpPr/>
          <p:nvPr/>
        </p:nvSpPr>
        <p:spPr>
          <a:xfrm>
            <a:off x="7702316" y="2914650"/>
            <a:ext cx="1057500" cy="582900"/>
          </a:xfrm>
          <a:prstGeom prst="roundRect">
            <a:avLst>
              <a:gd fmla="val 9412"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h404929d835aeeb39_0_0"/>
          <p:cNvSpPr txBox="1"/>
          <p:nvPr/>
        </p:nvSpPr>
        <p:spPr>
          <a:xfrm>
            <a:off x="7757617" y="2914650"/>
            <a:ext cx="947100" cy="58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Load</a:t>
            </a:r>
            <a:endParaRPr b="0" i="0" sz="8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6B75"/>
                </a:solidFill>
                <a:latin typeface="Arial"/>
                <a:ea typeface="Arial"/>
                <a:cs typeface="Arial"/>
                <a:sym typeface="Arial"/>
              </a:rPr>
              <a:t>the consumer</a:t>
            </a:r>
            <a:endParaRPr b="0" i="0" sz="850" u="none" cap="none" strike="noStrike">
              <a:solidFill>
                <a:srgbClr val="000000"/>
              </a:solidFill>
              <a:latin typeface="Arial"/>
              <a:ea typeface="Arial"/>
              <a:cs typeface="Arial"/>
              <a:sym typeface="Arial"/>
            </a:endParaRPr>
          </a:p>
        </p:txBody>
      </p:sp>
      <p:cxnSp>
        <p:nvCxnSpPr>
          <p:cNvPr id="429" name="Google Shape;429;h404929d835aeeb39_0_0"/>
          <p:cNvCxnSpPr/>
          <p:nvPr/>
        </p:nvCxnSpPr>
        <p:spPr>
          <a:xfrm>
            <a:off x="5905026" y="3202686"/>
            <a:ext cx="276600" cy="0"/>
          </a:xfrm>
          <a:prstGeom prst="straightConnector1">
            <a:avLst/>
          </a:prstGeom>
          <a:noFill/>
          <a:ln cap="flat" cmpd="sng" w="14275">
            <a:solidFill>
              <a:srgbClr val="14303F"/>
            </a:solidFill>
            <a:prstDash val="solid"/>
            <a:round/>
            <a:headEnd len="sm" w="sm" type="none"/>
            <a:tailEnd len="med" w="med" type="triangle"/>
          </a:ln>
        </p:spPr>
      </p:cxnSp>
      <p:cxnSp>
        <p:nvCxnSpPr>
          <p:cNvPr id="430" name="Google Shape;430;h404929d835aeeb39_0_0"/>
          <p:cNvCxnSpPr/>
          <p:nvPr/>
        </p:nvCxnSpPr>
        <p:spPr>
          <a:xfrm>
            <a:off x="7529500" y="3202686"/>
            <a:ext cx="172800" cy="0"/>
          </a:xfrm>
          <a:prstGeom prst="straightConnector1">
            <a:avLst/>
          </a:prstGeom>
          <a:noFill/>
          <a:ln cap="flat" cmpd="sng" w="14275">
            <a:solidFill>
              <a:srgbClr val="14303F"/>
            </a:solidFill>
            <a:prstDash val="solid"/>
            <a:round/>
            <a:headEnd len="sm" w="sm" type="none"/>
            <a:tailEnd len="med" w="med" type="triangle"/>
          </a:ln>
        </p:spPr>
      </p:cxnSp>
      <p:sp>
        <p:nvSpPr>
          <p:cNvPr id="431" name="Google Shape;431;h404929d835aeeb39_0_0"/>
          <p:cNvSpPr/>
          <p:nvPr/>
        </p:nvSpPr>
        <p:spPr>
          <a:xfrm>
            <a:off x="374904" y="2914650"/>
            <a:ext cx="3974700" cy="582900"/>
          </a:xfrm>
          <a:prstGeom prst="roundRect">
            <a:avLst>
              <a:gd fmla="val 9412"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h404929d835aeeb39_0_0"/>
          <p:cNvSpPr txBox="1"/>
          <p:nvPr/>
        </p:nvSpPr>
        <p:spPr>
          <a:xfrm>
            <a:off x="513157" y="2914650"/>
            <a:ext cx="3732900" cy="58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 sz="850" u="none" cap="none" strike="noStrike">
                <a:solidFill>
                  <a:srgbClr val="14303F"/>
                </a:solidFill>
                <a:latin typeface="Arial"/>
                <a:ea typeface="Arial"/>
                <a:cs typeface="Arial"/>
                <a:sym typeface="Arial"/>
              </a:rPr>
              <a:t>What the controller measures</a:t>
            </a:r>
            <a:endParaRPr b="0" i="0" sz="8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5A6B75"/>
                </a:solidFill>
                <a:latin typeface="Arial"/>
                <a:ea typeface="Arial"/>
                <a:cs typeface="Arial"/>
                <a:sym typeface="Arial"/>
              </a:rPr>
              <a:t>fuel level · methanol concentration · stack voltage, current, temperature · battery voltage, current, temperature · air flow</a:t>
            </a:r>
            <a:endParaRPr b="0" i="0" sz="850" u="none" cap="none" strike="noStrike">
              <a:solidFill>
                <a:srgbClr val="000000"/>
              </a:solidFill>
              <a:latin typeface="Arial"/>
              <a:ea typeface="Arial"/>
              <a:cs typeface="Arial"/>
              <a:sym typeface="Arial"/>
            </a:endParaRPr>
          </a:p>
        </p:txBody>
      </p:sp>
      <p:sp>
        <p:nvSpPr>
          <p:cNvPr id="433" name="Google Shape;433;h404929d835aeeb39_0_0"/>
          <p:cNvSpPr/>
          <p:nvPr/>
        </p:nvSpPr>
        <p:spPr>
          <a:xfrm>
            <a:off x="374904" y="3669030"/>
            <a:ext cx="8385000" cy="514500"/>
          </a:xfrm>
          <a:prstGeom prst="roundRect">
            <a:avLst>
              <a:gd fmla="val 10667" name="adj"/>
            </a:avLst>
          </a:prstGeom>
          <a:solidFill>
            <a:srgbClr val="14303F"/>
          </a:solidFill>
          <a:ln cap="flat" cmpd="sng" w="12700">
            <a:solidFill>
              <a:srgbClr val="1430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h404929d835aeeb39_0_0"/>
          <p:cNvSpPr txBox="1"/>
          <p:nvPr/>
        </p:nvSpPr>
        <p:spPr>
          <a:xfrm>
            <a:off x="547720" y="3669030"/>
            <a:ext cx="80877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Arial"/>
                <a:ea typeface="Arial"/>
                <a:cs typeface="Arial"/>
                <a:sym typeface="Arial"/>
              </a:rPr>
              <a:t>Controller (µC)   </a:t>
            </a:r>
            <a:r>
              <a:rPr b="0" i="0" lang="en" sz="850" u="none" cap="none" strike="noStrike">
                <a:solidFill>
                  <a:srgbClr val="C6D6E4"/>
                </a:solidFill>
                <a:latin typeface="Arial"/>
                <a:ea typeface="Arial"/>
                <a:cs typeface="Arial"/>
                <a:sym typeface="Arial"/>
              </a:rPr>
              <a:t>state machine · fuel dosing and concentration · air and temperature · charge setpoints · fault detection and shutdown</a:t>
            </a:r>
            <a:endParaRPr b="0" i="0" sz="950" u="none" cap="none" strike="noStrike">
              <a:solidFill>
                <a:srgbClr val="000000"/>
              </a:solidFill>
              <a:latin typeface="Arial"/>
              <a:ea typeface="Arial"/>
              <a:cs typeface="Arial"/>
              <a:sym typeface="Arial"/>
            </a:endParaRPr>
          </a:p>
        </p:txBody>
      </p:sp>
      <p:sp>
        <p:nvSpPr>
          <p:cNvPr id="435" name="Google Shape;435;h404929d835aeeb39_0_0"/>
          <p:cNvSpPr txBox="1"/>
          <p:nvPr/>
        </p:nvSpPr>
        <p:spPr>
          <a:xfrm>
            <a:off x="374904" y="4354830"/>
            <a:ext cx="82953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C77A12"/>
                </a:solidFill>
                <a:latin typeface="Arial"/>
                <a:ea typeface="Arial"/>
                <a:cs typeface="Arial"/>
                <a:sym typeface="Arial"/>
              </a:rPr>
              <a:t>■ </a:t>
            </a:r>
            <a:r>
              <a:rPr b="0" i="0" lang="en" sz="800" u="none" cap="none" strike="noStrike">
                <a:solidFill>
                  <a:srgbClr val="5A6B75"/>
                </a:solidFill>
                <a:latin typeface="Arial"/>
                <a:ea typeface="Arial"/>
                <a:cs typeface="Arial"/>
                <a:sym typeface="Arial"/>
              </a:rPr>
              <a:t>fuel path     </a:t>
            </a:r>
            <a:r>
              <a:rPr b="0" i="0" lang="en" sz="800" u="none" cap="none" strike="noStrike">
                <a:solidFill>
                  <a:srgbClr val="17607D"/>
                </a:solidFill>
                <a:latin typeface="Arial"/>
                <a:ea typeface="Arial"/>
                <a:cs typeface="Arial"/>
                <a:sym typeface="Arial"/>
              </a:rPr>
              <a:t>■ </a:t>
            </a:r>
            <a:r>
              <a:rPr b="0" i="0" lang="en" sz="800" u="none" cap="none" strike="noStrike">
                <a:solidFill>
                  <a:srgbClr val="5A6B75"/>
                </a:solidFill>
                <a:latin typeface="Arial"/>
                <a:ea typeface="Arial"/>
                <a:cs typeface="Arial"/>
                <a:sym typeface="Arial"/>
              </a:rPr>
              <a:t>air, water and exhaust     </a:t>
            </a:r>
            <a:r>
              <a:rPr b="0" i="0" lang="en" sz="800" u="none" cap="none" strike="noStrike">
                <a:solidFill>
                  <a:srgbClr val="14303F"/>
                </a:solidFill>
                <a:latin typeface="Arial"/>
                <a:ea typeface="Arial"/>
                <a:cs typeface="Arial"/>
                <a:sym typeface="Arial"/>
              </a:rPr>
              <a:t>■ </a:t>
            </a:r>
            <a:r>
              <a:rPr b="0" i="0" lang="en" sz="800" u="none" cap="none" strike="noStrike">
                <a:solidFill>
                  <a:srgbClr val="5A6B75"/>
                </a:solidFill>
                <a:latin typeface="Arial"/>
                <a:ea typeface="Arial"/>
                <a:cs typeface="Arial"/>
                <a:sym typeface="Arial"/>
              </a:rPr>
              <a:t>electrical path     </a:t>
            </a:r>
            <a:r>
              <a:rPr b="0" i="0" lang="en" sz="800" u="none" cap="none" strike="noStrike">
                <a:solidFill>
                  <a:srgbClr val="14303F"/>
                </a:solidFill>
                <a:latin typeface="Arial"/>
                <a:ea typeface="Arial"/>
                <a:cs typeface="Arial"/>
                <a:sym typeface="Arial"/>
              </a:rPr>
              <a:t>■ </a:t>
            </a:r>
            <a:r>
              <a:rPr b="0" i="0" lang="en" sz="800" u="none" cap="none" strike="noStrike">
                <a:solidFill>
                  <a:srgbClr val="5A6B75"/>
                </a:solidFill>
                <a:latin typeface="Arial"/>
                <a:ea typeface="Arial"/>
                <a:cs typeface="Arial"/>
                <a:sym typeface="Arial"/>
              </a:rPr>
              <a:t>control</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9" name="Shape 439"/>
        <p:cNvGrpSpPr/>
        <p:nvPr/>
      </p:nvGrpSpPr>
      <p:grpSpPr>
        <a:xfrm>
          <a:off x="0" y="0"/>
          <a:ext cx="0" cy="0"/>
          <a:chOff x="0" y="0"/>
          <a:chExt cx="0" cy="0"/>
        </a:xfrm>
      </p:grpSpPr>
      <p:sp>
        <p:nvSpPr>
          <p:cNvPr id="440" name="Google Shape;440;h404929d835aeeb39_0_45"/>
          <p:cNvSpPr txBox="1"/>
          <p:nvPr/>
        </p:nvSpPr>
        <p:spPr>
          <a:xfrm>
            <a:off x="374904" y="274320"/>
            <a:ext cx="82953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3</a:t>
            </a:r>
            <a:r>
              <a:rPr b="1" i="0" lang="en" sz="700" u="none" cap="none" strike="noStrike">
                <a:solidFill>
                  <a:srgbClr val="C77A12"/>
                </a:solidFill>
                <a:latin typeface="Arial"/>
                <a:ea typeface="Arial"/>
                <a:cs typeface="Arial"/>
                <a:sym typeface="Arial"/>
              </a:rPr>
              <a:t> · THE METHANOL SYSTEM</a:t>
            </a:r>
            <a:endParaRPr b="0" i="0" sz="700" u="none" cap="none" strike="noStrike">
              <a:solidFill>
                <a:srgbClr val="000000"/>
              </a:solidFill>
              <a:latin typeface="Arial"/>
              <a:ea typeface="Arial"/>
              <a:cs typeface="Arial"/>
              <a:sym typeface="Arial"/>
            </a:endParaRPr>
          </a:p>
        </p:txBody>
      </p:sp>
      <p:sp>
        <p:nvSpPr>
          <p:cNvPr id="441" name="Google Shape;441;h404929d835aeeb39_0_45"/>
          <p:cNvSpPr txBox="1"/>
          <p:nvPr/>
        </p:nvSpPr>
        <p:spPr>
          <a:xfrm>
            <a:off x="374904" y="493776"/>
            <a:ext cx="82953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The battery supplies the load; the fuel cell recharges it</a:t>
            </a:r>
            <a:endParaRPr b="0" i="0" sz="2000" u="none" cap="none" strike="noStrike">
              <a:solidFill>
                <a:srgbClr val="000000"/>
              </a:solidFill>
              <a:latin typeface="Arial"/>
              <a:ea typeface="Arial"/>
              <a:cs typeface="Arial"/>
              <a:sym typeface="Arial"/>
            </a:endParaRPr>
          </a:p>
        </p:txBody>
      </p:sp>
      <p:sp>
        <p:nvSpPr>
          <p:cNvPr id="442" name="Google Shape;442;h404929d835aeeb39_0_45"/>
          <p:cNvSpPr txBox="1"/>
          <p:nvPr/>
        </p:nvSpPr>
        <p:spPr>
          <a:xfrm>
            <a:off x="374904" y="905256"/>
            <a:ext cx="82953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6B75"/>
                </a:solidFill>
                <a:latin typeface="Arial"/>
                <a:ea typeface="Arial"/>
                <a:cs typeface="Arial"/>
                <a:sym typeface="Arial"/>
              </a:rPr>
              <a:t>The fuel cell does not follow the load. It runs only to recharge the battery, at a steady operating point.</a:t>
            </a:r>
            <a:endParaRPr b="0" i="0" sz="950" u="none" cap="none" strike="noStrike">
              <a:solidFill>
                <a:srgbClr val="000000"/>
              </a:solidFill>
              <a:latin typeface="Arial"/>
              <a:ea typeface="Arial"/>
              <a:cs typeface="Arial"/>
              <a:sym typeface="Arial"/>
            </a:endParaRPr>
          </a:p>
        </p:txBody>
      </p:sp>
      <p:cxnSp>
        <p:nvCxnSpPr>
          <p:cNvPr id="443" name="Google Shape;443;h404929d835aeeb39_0_45"/>
          <p:cNvCxnSpPr/>
          <p:nvPr/>
        </p:nvCxnSpPr>
        <p:spPr>
          <a:xfrm>
            <a:off x="1162946" y="1645920"/>
            <a:ext cx="6802200" cy="0"/>
          </a:xfrm>
          <a:prstGeom prst="straightConnector1">
            <a:avLst/>
          </a:prstGeom>
          <a:noFill/>
          <a:ln cap="flat" cmpd="sng" w="14275">
            <a:solidFill>
              <a:srgbClr val="D5DEE3"/>
            </a:solidFill>
            <a:prstDash val="solid"/>
            <a:round/>
            <a:headEnd len="sm" w="sm" type="none"/>
            <a:tailEnd len="sm" w="sm" type="none"/>
          </a:ln>
        </p:spPr>
      </p:cxnSp>
      <p:sp>
        <p:nvSpPr>
          <p:cNvPr id="444" name="Google Shape;444;h404929d835aeeb39_0_45"/>
          <p:cNvSpPr/>
          <p:nvPr/>
        </p:nvSpPr>
        <p:spPr>
          <a:xfrm>
            <a:off x="955567" y="1440180"/>
            <a:ext cx="414900" cy="411600"/>
          </a:xfrm>
          <a:prstGeom prst="ellipse">
            <a:avLst/>
          </a:prstGeom>
          <a:solidFill>
            <a:srgbClr val="14303F"/>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h404929d835aeeb39_0_45"/>
          <p:cNvSpPr txBox="1"/>
          <p:nvPr/>
        </p:nvSpPr>
        <p:spPr>
          <a:xfrm>
            <a:off x="955567" y="1440180"/>
            <a:ext cx="4149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1" i="0" lang="en" sz="1150" u="none" cap="none" strike="noStrike">
                <a:solidFill>
                  <a:srgbClr val="FFFFFF"/>
                </a:solidFill>
                <a:latin typeface="Arial"/>
                <a:ea typeface="Arial"/>
                <a:cs typeface="Arial"/>
                <a:sym typeface="Arial"/>
              </a:rPr>
              <a:t>1</a:t>
            </a:r>
            <a:endParaRPr b="0" i="0" sz="1150" u="none" cap="none" strike="noStrike">
              <a:solidFill>
                <a:srgbClr val="000000"/>
              </a:solidFill>
              <a:latin typeface="Arial"/>
              <a:ea typeface="Arial"/>
              <a:cs typeface="Arial"/>
              <a:sym typeface="Arial"/>
            </a:endParaRPr>
          </a:p>
        </p:txBody>
      </p:sp>
      <p:sp>
        <p:nvSpPr>
          <p:cNvPr id="446" name="Google Shape;446;h404929d835aeeb39_0_45"/>
          <p:cNvSpPr txBox="1"/>
          <p:nvPr/>
        </p:nvSpPr>
        <p:spPr>
          <a:xfrm>
            <a:off x="374904" y="1954530"/>
            <a:ext cx="1576200" cy="24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4303F"/>
                </a:solidFill>
                <a:latin typeface="Arial"/>
                <a:ea typeface="Arial"/>
                <a:cs typeface="Arial"/>
                <a:sym typeface="Arial"/>
              </a:rPr>
              <a:t>Standby</a:t>
            </a:r>
            <a:endParaRPr b="0" i="0" sz="1100" u="none" cap="none" strike="noStrike">
              <a:solidFill>
                <a:srgbClr val="000000"/>
              </a:solidFill>
              <a:latin typeface="Arial"/>
              <a:ea typeface="Arial"/>
              <a:cs typeface="Arial"/>
              <a:sym typeface="Arial"/>
            </a:endParaRPr>
          </a:p>
        </p:txBody>
      </p:sp>
      <p:sp>
        <p:nvSpPr>
          <p:cNvPr id="447" name="Google Shape;447;h404929d835aeeb39_0_45"/>
          <p:cNvSpPr txBox="1"/>
          <p:nvPr/>
        </p:nvSpPr>
        <p:spPr>
          <a:xfrm>
            <a:off x="409467" y="2208276"/>
            <a:ext cx="1506900" cy="82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0" i="0" lang="en" sz="850" u="none" cap="none" strike="noStrike">
                <a:solidFill>
                  <a:srgbClr val="14303F"/>
                </a:solidFill>
                <a:latin typeface="Arial"/>
                <a:ea typeface="Arial"/>
                <a:cs typeface="Arial"/>
                <a:sym typeface="Arial"/>
              </a:rPr>
              <a:t>The battery supplies the load. The controller watches battery voltage and state of charge.</a:t>
            </a:r>
            <a:endParaRPr b="0" i="0" sz="850" u="none" cap="none" strike="noStrike">
              <a:solidFill>
                <a:srgbClr val="000000"/>
              </a:solidFill>
              <a:latin typeface="Arial"/>
              <a:ea typeface="Arial"/>
              <a:cs typeface="Arial"/>
              <a:sym typeface="Arial"/>
            </a:endParaRPr>
          </a:p>
        </p:txBody>
      </p:sp>
      <p:sp>
        <p:nvSpPr>
          <p:cNvPr id="448" name="Google Shape;448;h404929d835aeeb39_0_45"/>
          <p:cNvSpPr/>
          <p:nvPr/>
        </p:nvSpPr>
        <p:spPr>
          <a:xfrm>
            <a:off x="2656079" y="1440180"/>
            <a:ext cx="414900" cy="411600"/>
          </a:xfrm>
          <a:prstGeom prst="ellipse">
            <a:avLst/>
          </a:prstGeom>
          <a:solidFill>
            <a:srgbClr val="14303F"/>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h404929d835aeeb39_0_45"/>
          <p:cNvSpPr txBox="1"/>
          <p:nvPr/>
        </p:nvSpPr>
        <p:spPr>
          <a:xfrm>
            <a:off x="2656079" y="1440180"/>
            <a:ext cx="4149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1" i="0" lang="en" sz="1150" u="none" cap="none" strike="noStrike">
                <a:solidFill>
                  <a:srgbClr val="FFFFFF"/>
                </a:solidFill>
                <a:latin typeface="Arial"/>
                <a:ea typeface="Arial"/>
                <a:cs typeface="Arial"/>
                <a:sym typeface="Arial"/>
              </a:rPr>
              <a:t>2</a:t>
            </a:r>
            <a:endParaRPr b="0" i="0" sz="1150" u="none" cap="none" strike="noStrike">
              <a:solidFill>
                <a:srgbClr val="000000"/>
              </a:solidFill>
              <a:latin typeface="Arial"/>
              <a:ea typeface="Arial"/>
              <a:cs typeface="Arial"/>
              <a:sym typeface="Arial"/>
            </a:endParaRPr>
          </a:p>
        </p:txBody>
      </p:sp>
      <p:sp>
        <p:nvSpPr>
          <p:cNvPr id="450" name="Google Shape;450;h404929d835aeeb39_0_45"/>
          <p:cNvSpPr txBox="1"/>
          <p:nvPr/>
        </p:nvSpPr>
        <p:spPr>
          <a:xfrm>
            <a:off x="2075417" y="1954530"/>
            <a:ext cx="1576200" cy="24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4303F"/>
                </a:solidFill>
                <a:latin typeface="Arial"/>
                <a:ea typeface="Arial"/>
                <a:cs typeface="Arial"/>
                <a:sym typeface="Arial"/>
              </a:rPr>
              <a:t>Start</a:t>
            </a:r>
            <a:endParaRPr b="0" i="0" sz="1100" u="none" cap="none" strike="noStrike">
              <a:solidFill>
                <a:srgbClr val="000000"/>
              </a:solidFill>
              <a:latin typeface="Arial"/>
              <a:ea typeface="Arial"/>
              <a:cs typeface="Arial"/>
              <a:sym typeface="Arial"/>
            </a:endParaRPr>
          </a:p>
        </p:txBody>
      </p:sp>
      <p:sp>
        <p:nvSpPr>
          <p:cNvPr id="451" name="Google Shape;451;h404929d835aeeb39_0_45"/>
          <p:cNvSpPr txBox="1"/>
          <p:nvPr/>
        </p:nvSpPr>
        <p:spPr>
          <a:xfrm>
            <a:off x="2109980" y="2208276"/>
            <a:ext cx="1506900" cy="82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0" i="0" lang="en" sz="850" u="none" cap="none" strike="noStrike">
                <a:solidFill>
                  <a:srgbClr val="14303F"/>
                </a:solidFill>
                <a:latin typeface="Arial"/>
                <a:ea typeface="Arial"/>
                <a:cs typeface="Arial"/>
                <a:sym typeface="Arial"/>
              </a:rPr>
              <a:t>The battery drops below a threshold. The air pump and fuel dosing start, and the stack warms up on its own heat.</a:t>
            </a:r>
            <a:endParaRPr b="0" i="0" sz="850" u="none" cap="none" strike="noStrike">
              <a:solidFill>
                <a:srgbClr val="000000"/>
              </a:solidFill>
              <a:latin typeface="Arial"/>
              <a:ea typeface="Arial"/>
              <a:cs typeface="Arial"/>
              <a:sym typeface="Arial"/>
            </a:endParaRPr>
          </a:p>
        </p:txBody>
      </p:sp>
      <p:sp>
        <p:nvSpPr>
          <p:cNvPr id="452" name="Google Shape;452;h404929d835aeeb39_0_45"/>
          <p:cNvSpPr/>
          <p:nvPr/>
        </p:nvSpPr>
        <p:spPr>
          <a:xfrm>
            <a:off x="4356592" y="1440180"/>
            <a:ext cx="414900" cy="411600"/>
          </a:xfrm>
          <a:prstGeom prst="ellipse">
            <a:avLst/>
          </a:prstGeom>
          <a:solidFill>
            <a:srgbClr val="14303F"/>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h404929d835aeeb39_0_45"/>
          <p:cNvSpPr txBox="1"/>
          <p:nvPr/>
        </p:nvSpPr>
        <p:spPr>
          <a:xfrm>
            <a:off x="4356592" y="1440180"/>
            <a:ext cx="4149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1" i="0" lang="en" sz="1150" u="none" cap="none" strike="noStrike">
                <a:solidFill>
                  <a:srgbClr val="FFFFFF"/>
                </a:solidFill>
                <a:latin typeface="Arial"/>
                <a:ea typeface="Arial"/>
                <a:cs typeface="Arial"/>
                <a:sym typeface="Arial"/>
              </a:rPr>
              <a:t>3</a:t>
            </a:r>
            <a:endParaRPr b="0" i="0" sz="1150" u="none" cap="none" strike="noStrike">
              <a:solidFill>
                <a:srgbClr val="000000"/>
              </a:solidFill>
              <a:latin typeface="Arial"/>
              <a:ea typeface="Arial"/>
              <a:cs typeface="Arial"/>
              <a:sym typeface="Arial"/>
            </a:endParaRPr>
          </a:p>
        </p:txBody>
      </p:sp>
      <p:sp>
        <p:nvSpPr>
          <p:cNvPr id="454" name="Google Shape;454;h404929d835aeeb39_0_45"/>
          <p:cNvSpPr txBox="1"/>
          <p:nvPr/>
        </p:nvSpPr>
        <p:spPr>
          <a:xfrm>
            <a:off x="3775929" y="1954530"/>
            <a:ext cx="1576200" cy="24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4303F"/>
                </a:solidFill>
                <a:latin typeface="Arial"/>
                <a:ea typeface="Arial"/>
                <a:cs typeface="Arial"/>
                <a:sym typeface="Arial"/>
              </a:rPr>
              <a:t>Run</a:t>
            </a:r>
            <a:endParaRPr b="0" i="0" sz="1100" u="none" cap="none" strike="noStrike">
              <a:solidFill>
                <a:srgbClr val="000000"/>
              </a:solidFill>
              <a:latin typeface="Arial"/>
              <a:ea typeface="Arial"/>
              <a:cs typeface="Arial"/>
              <a:sym typeface="Arial"/>
            </a:endParaRPr>
          </a:p>
        </p:txBody>
      </p:sp>
      <p:sp>
        <p:nvSpPr>
          <p:cNvPr id="455" name="Google Shape;455;h404929d835aeeb39_0_45"/>
          <p:cNvSpPr txBox="1"/>
          <p:nvPr/>
        </p:nvSpPr>
        <p:spPr>
          <a:xfrm>
            <a:off x="3810493" y="2208276"/>
            <a:ext cx="1506900" cy="82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0" i="0" lang="en" sz="850" u="none" cap="none" strike="noStrike">
                <a:solidFill>
                  <a:srgbClr val="14303F"/>
                </a:solidFill>
                <a:latin typeface="Arial"/>
                <a:ea typeface="Arial"/>
                <a:cs typeface="Arial"/>
                <a:sym typeface="Arial"/>
              </a:rPr>
              <a:t>The stack holds its operating point. Dosing keeps the methanol concentration steady; water is recovered.</a:t>
            </a:r>
            <a:endParaRPr b="0" i="0" sz="850" u="none" cap="none" strike="noStrike">
              <a:solidFill>
                <a:srgbClr val="000000"/>
              </a:solidFill>
              <a:latin typeface="Arial"/>
              <a:ea typeface="Arial"/>
              <a:cs typeface="Arial"/>
              <a:sym typeface="Arial"/>
            </a:endParaRPr>
          </a:p>
        </p:txBody>
      </p:sp>
      <p:sp>
        <p:nvSpPr>
          <p:cNvPr id="456" name="Google Shape;456;h404929d835aeeb39_0_45"/>
          <p:cNvSpPr/>
          <p:nvPr/>
        </p:nvSpPr>
        <p:spPr>
          <a:xfrm>
            <a:off x="6057105" y="1440180"/>
            <a:ext cx="414900" cy="411600"/>
          </a:xfrm>
          <a:prstGeom prst="ellipse">
            <a:avLst/>
          </a:prstGeom>
          <a:solidFill>
            <a:srgbClr val="C77A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h404929d835aeeb39_0_45"/>
          <p:cNvSpPr txBox="1"/>
          <p:nvPr/>
        </p:nvSpPr>
        <p:spPr>
          <a:xfrm>
            <a:off x="6057105" y="1440180"/>
            <a:ext cx="4149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1" i="0" lang="en" sz="1150" u="none" cap="none" strike="noStrike">
                <a:solidFill>
                  <a:srgbClr val="FFFFFF"/>
                </a:solidFill>
                <a:latin typeface="Arial"/>
                <a:ea typeface="Arial"/>
                <a:cs typeface="Arial"/>
                <a:sym typeface="Arial"/>
              </a:rPr>
              <a:t>4</a:t>
            </a:r>
            <a:endParaRPr b="0" i="0" sz="1150" u="none" cap="none" strike="noStrike">
              <a:solidFill>
                <a:srgbClr val="000000"/>
              </a:solidFill>
              <a:latin typeface="Arial"/>
              <a:ea typeface="Arial"/>
              <a:cs typeface="Arial"/>
              <a:sym typeface="Arial"/>
            </a:endParaRPr>
          </a:p>
        </p:txBody>
      </p:sp>
      <p:sp>
        <p:nvSpPr>
          <p:cNvPr id="458" name="Google Shape;458;h404929d835aeeb39_0_45"/>
          <p:cNvSpPr txBox="1"/>
          <p:nvPr/>
        </p:nvSpPr>
        <p:spPr>
          <a:xfrm>
            <a:off x="5476442" y="1954530"/>
            <a:ext cx="1576200" cy="24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4303F"/>
                </a:solidFill>
                <a:latin typeface="Arial"/>
                <a:ea typeface="Arial"/>
                <a:cs typeface="Arial"/>
                <a:sym typeface="Arial"/>
              </a:rPr>
              <a:t>Charge</a:t>
            </a:r>
            <a:endParaRPr b="0" i="0" sz="1100" u="none" cap="none" strike="noStrike">
              <a:solidFill>
                <a:srgbClr val="000000"/>
              </a:solidFill>
              <a:latin typeface="Arial"/>
              <a:ea typeface="Arial"/>
              <a:cs typeface="Arial"/>
              <a:sym typeface="Arial"/>
            </a:endParaRPr>
          </a:p>
        </p:txBody>
      </p:sp>
      <p:sp>
        <p:nvSpPr>
          <p:cNvPr id="459" name="Google Shape;459;h404929d835aeeb39_0_45"/>
          <p:cNvSpPr txBox="1"/>
          <p:nvPr/>
        </p:nvSpPr>
        <p:spPr>
          <a:xfrm>
            <a:off x="5511005" y="2208276"/>
            <a:ext cx="1506900" cy="82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0" i="0" lang="en" sz="850" u="none" cap="none" strike="noStrike">
                <a:solidFill>
                  <a:srgbClr val="14303F"/>
                </a:solidFill>
                <a:latin typeface="Arial"/>
                <a:ea typeface="Arial"/>
                <a:cs typeface="Arial"/>
                <a:sym typeface="Arial"/>
              </a:rPr>
              <a:t>The DC/DC charges the battery in CC then CV, and never draws more current than the stack can give.</a:t>
            </a:r>
            <a:endParaRPr b="0" i="0" sz="850" u="none" cap="none" strike="noStrike">
              <a:solidFill>
                <a:srgbClr val="000000"/>
              </a:solidFill>
              <a:latin typeface="Arial"/>
              <a:ea typeface="Arial"/>
              <a:cs typeface="Arial"/>
              <a:sym typeface="Arial"/>
            </a:endParaRPr>
          </a:p>
        </p:txBody>
      </p:sp>
      <p:sp>
        <p:nvSpPr>
          <p:cNvPr id="460" name="Google Shape;460;h404929d835aeeb39_0_45"/>
          <p:cNvSpPr/>
          <p:nvPr/>
        </p:nvSpPr>
        <p:spPr>
          <a:xfrm>
            <a:off x="7757617" y="1440180"/>
            <a:ext cx="414900" cy="411600"/>
          </a:xfrm>
          <a:prstGeom prst="ellipse">
            <a:avLst/>
          </a:prstGeom>
          <a:solidFill>
            <a:srgbClr val="14303F"/>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h404929d835aeeb39_0_45"/>
          <p:cNvSpPr txBox="1"/>
          <p:nvPr/>
        </p:nvSpPr>
        <p:spPr>
          <a:xfrm>
            <a:off x="7757617" y="1440180"/>
            <a:ext cx="4149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1" i="0" lang="en" sz="1150" u="none" cap="none" strike="noStrike">
                <a:solidFill>
                  <a:srgbClr val="FFFFFF"/>
                </a:solidFill>
                <a:latin typeface="Arial"/>
                <a:ea typeface="Arial"/>
                <a:cs typeface="Arial"/>
                <a:sym typeface="Arial"/>
              </a:rPr>
              <a:t>5</a:t>
            </a:r>
            <a:endParaRPr b="0" i="0" sz="1150" u="none" cap="none" strike="noStrike">
              <a:solidFill>
                <a:srgbClr val="000000"/>
              </a:solidFill>
              <a:latin typeface="Arial"/>
              <a:ea typeface="Arial"/>
              <a:cs typeface="Arial"/>
              <a:sym typeface="Arial"/>
            </a:endParaRPr>
          </a:p>
        </p:txBody>
      </p:sp>
      <p:sp>
        <p:nvSpPr>
          <p:cNvPr id="462" name="Google Shape;462;h404929d835aeeb39_0_45"/>
          <p:cNvSpPr txBox="1"/>
          <p:nvPr/>
        </p:nvSpPr>
        <p:spPr>
          <a:xfrm>
            <a:off x="7176954" y="1954530"/>
            <a:ext cx="1576200" cy="24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4303F"/>
                </a:solidFill>
                <a:latin typeface="Arial"/>
                <a:ea typeface="Arial"/>
                <a:cs typeface="Arial"/>
                <a:sym typeface="Arial"/>
              </a:rPr>
              <a:t>Stop</a:t>
            </a:r>
            <a:endParaRPr b="0" i="0" sz="1100" u="none" cap="none" strike="noStrike">
              <a:solidFill>
                <a:srgbClr val="000000"/>
              </a:solidFill>
              <a:latin typeface="Arial"/>
              <a:ea typeface="Arial"/>
              <a:cs typeface="Arial"/>
              <a:sym typeface="Arial"/>
            </a:endParaRPr>
          </a:p>
        </p:txBody>
      </p:sp>
      <p:sp>
        <p:nvSpPr>
          <p:cNvPr id="463" name="Google Shape;463;h404929d835aeeb39_0_45"/>
          <p:cNvSpPr txBox="1"/>
          <p:nvPr/>
        </p:nvSpPr>
        <p:spPr>
          <a:xfrm>
            <a:off x="7211518" y="2208276"/>
            <a:ext cx="1506900" cy="82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0" i="0" lang="en" sz="850" u="none" cap="none" strike="noStrike">
                <a:solidFill>
                  <a:srgbClr val="14303F"/>
                </a:solidFill>
                <a:latin typeface="Arial"/>
                <a:ea typeface="Arial"/>
                <a:cs typeface="Arial"/>
                <a:sym typeface="Arial"/>
              </a:rPr>
              <a:t>Charge current falls below the cut-off. Fuel stops, the stack runs down, and the system returns to standby.</a:t>
            </a:r>
            <a:endParaRPr b="0" i="0" sz="850" u="none" cap="none" strike="noStrike">
              <a:solidFill>
                <a:srgbClr val="000000"/>
              </a:solidFill>
              <a:latin typeface="Arial"/>
              <a:ea typeface="Arial"/>
              <a:cs typeface="Arial"/>
              <a:sym typeface="Arial"/>
            </a:endParaRPr>
          </a:p>
        </p:txBody>
      </p:sp>
      <p:sp>
        <p:nvSpPr>
          <p:cNvPr id="464" name="Google Shape;464;h404929d835aeeb39_0_45"/>
          <p:cNvSpPr txBox="1"/>
          <p:nvPr/>
        </p:nvSpPr>
        <p:spPr>
          <a:xfrm>
            <a:off x="374904" y="3086100"/>
            <a:ext cx="8385000" cy="205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1" lang="en" sz="800" u="none" cap="none" strike="noStrike">
                <a:solidFill>
                  <a:srgbClr val="5A6B75"/>
                </a:solidFill>
                <a:latin typeface="Arial"/>
                <a:ea typeface="Arial"/>
                <a:cs typeface="Arial"/>
                <a:sym typeface="Arial"/>
              </a:rPr>
              <a:t>↺  repeats every time the battery runs down</a:t>
            </a:r>
            <a:endParaRPr b="0" i="0" sz="800" u="none" cap="none" strike="noStrike">
              <a:solidFill>
                <a:srgbClr val="000000"/>
              </a:solidFill>
              <a:latin typeface="Arial"/>
              <a:ea typeface="Arial"/>
              <a:cs typeface="Arial"/>
              <a:sym typeface="Arial"/>
            </a:endParaRPr>
          </a:p>
        </p:txBody>
      </p:sp>
      <p:sp>
        <p:nvSpPr>
          <p:cNvPr id="465" name="Google Shape;465;h404929d835aeeb39_0_45"/>
          <p:cNvSpPr/>
          <p:nvPr/>
        </p:nvSpPr>
        <p:spPr>
          <a:xfrm>
            <a:off x="374904" y="3394710"/>
            <a:ext cx="4113000" cy="891600"/>
          </a:xfrm>
          <a:prstGeom prst="roundRect">
            <a:avLst>
              <a:gd fmla="val 6154"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h404929d835aeeb39_0_45"/>
          <p:cNvSpPr txBox="1"/>
          <p:nvPr/>
        </p:nvSpPr>
        <p:spPr>
          <a:xfrm>
            <a:off x="547720" y="3483864"/>
            <a:ext cx="3767400" cy="75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4303F"/>
                </a:solidFill>
                <a:latin typeface="Arial"/>
                <a:ea typeface="Arial"/>
                <a:cs typeface="Arial"/>
                <a:sym typeface="Arial"/>
              </a:rPr>
              <a:t>Why the methanol must be high-purity</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50"/>
              <a:buFont typeface="Arial"/>
              <a:buNone/>
            </a:pPr>
            <a:r>
              <a:rPr b="0" i="0" lang="en" sz="850" u="none" cap="none" strike="noStrike">
                <a:solidFill>
                  <a:srgbClr val="14303F"/>
                </a:solidFill>
                <a:latin typeface="Arial"/>
                <a:ea typeface="Arial"/>
                <a:cs typeface="Arial"/>
                <a:sym typeface="Arial"/>
              </a:rPr>
              <a:t>The canister fuel goes straight to the catalyst. Impurities such as ions, metals or other alcohols poison the catalyst and the membrane, and they build up in the loop because water is recycled. Pure fuel keeps the stack lifetime predictable.</a:t>
            </a:r>
            <a:endParaRPr b="0" i="0" sz="950" u="none" cap="none" strike="noStrike">
              <a:solidFill>
                <a:srgbClr val="000000"/>
              </a:solidFill>
              <a:latin typeface="Arial"/>
              <a:ea typeface="Arial"/>
              <a:cs typeface="Arial"/>
              <a:sym typeface="Arial"/>
            </a:endParaRPr>
          </a:p>
        </p:txBody>
      </p:sp>
      <p:sp>
        <p:nvSpPr>
          <p:cNvPr id="467" name="Google Shape;467;h404929d835aeeb39_0_45"/>
          <p:cNvSpPr/>
          <p:nvPr/>
        </p:nvSpPr>
        <p:spPr>
          <a:xfrm>
            <a:off x="4646924" y="3394710"/>
            <a:ext cx="4113000" cy="891600"/>
          </a:xfrm>
          <a:prstGeom prst="roundRect">
            <a:avLst>
              <a:gd fmla="val 6154"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h404929d835aeeb39_0_45"/>
          <p:cNvSpPr txBox="1"/>
          <p:nvPr/>
        </p:nvSpPr>
        <p:spPr>
          <a:xfrm>
            <a:off x="4819740" y="3483864"/>
            <a:ext cx="3767400" cy="75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4303F"/>
                </a:solidFill>
                <a:latin typeface="Arial"/>
                <a:ea typeface="Arial"/>
                <a:cs typeface="Arial"/>
                <a:sym typeface="Arial"/>
              </a:rPr>
              <a:t>Why a battery and a fuel cell together</a:t>
            </a:r>
            <a:endParaRPr b="0" i="0" sz="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50"/>
              <a:buFont typeface="Arial"/>
              <a:buNone/>
            </a:pPr>
            <a:r>
              <a:rPr b="0" i="0" lang="en" sz="850" u="none" cap="none" strike="noStrike">
                <a:solidFill>
                  <a:srgbClr val="14303F"/>
                </a:solidFill>
                <a:latin typeface="Arial"/>
                <a:ea typeface="Arial"/>
                <a:cs typeface="Arial"/>
                <a:sym typeface="Arial"/>
              </a:rPr>
              <a:t>A DMFC has low power density and responds slowly. The battery covers the peaks and the fuel cell provides the energy. The stack sees one steady load, which is best for efficiency and for wear.</a:t>
            </a:r>
            <a:endParaRPr b="0" i="0" sz="950" u="none" cap="none" strike="noStrike">
              <a:solidFill>
                <a:srgbClr val="000000"/>
              </a:solidFill>
              <a:latin typeface="Arial"/>
              <a:ea typeface="Arial"/>
              <a:cs typeface="Arial"/>
              <a:sym typeface="Arial"/>
            </a:endParaRPr>
          </a:p>
        </p:txBody>
      </p:sp>
      <p:sp>
        <p:nvSpPr>
          <p:cNvPr id="469" name="Google Shape;469;h404929d835aeeb39_0_45"/>
          <p:cNvSpPr/>
          <p:nvPr/>
        </p:nvSpPr>
        <p:spPr>
          <a:xfrm>
            <a:off x="374904" y="4457700"/>
            <a:ext cx="8385000" cy="377100"/>
          </a:xfrm>
          <a:prstGeom prst="roundRect">
            <a:avLst>
              <a:gd fmla="val 10909" name="adj"/>
            </a:avLst>
          </a:prstGeom>
          <a:solidFill>
            <a:srgbClr val="FBF1E3"/>
          </a:solidFill>
          <a:ln cap="flat" cmpd="sng" w="12700">
            <a:solidFill>
              <a:srgbClr val="FBF1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h404929d835aeeb39_0_45"/>
          <p:cNvSpPr txBox="1"/>
          <p:nvPr/>
        </p:nvSpPr>
        <p:spPr>
          <a:xfrm>
            <a:off x="513157" y="4457700"/>
            <a:ext cx="81570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4303F"/>
                </a:solidFill>
                <a:latin typeface="Arial"/>
                <a:ea typeface="Arial"/>
                <a:cs typeface="Arial"/>
                <a:sym typeface="Arial"/>
              </a:rPr>
              <a:t>The fuel cell provides the energy, the battery provides the power, and the charger decides how much current goes from one to the other.</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 name="Shape 474"/>
        <p:cNvGrpSpPr/>
        <p:nvPr/>
      </p:nvGrpSpPr>
      <p:grpSpPr>
        <a:xfrm>
          <a:off x="0" y="0"/>
          <a:ext cx="0" cy="0"/>
          <a:chOff x="0" y="0"/>
          <a:chExt cx="0" cy="0"/>
        </a:xfrm>
      </p:grpSpPr>
      <p:sp>
        <p:nvSpPr>
          <p:cNvPr id="475" name="Google Shape;475;h404929d835aeeb39_0_79"/>
          <p:cNvSpPr txBox="1"/>
          <p:nvPr/>
        </p:nvSpPr>
        <p:spPr>
          <a:xfrm>
            <a:off x="374904" y="274320"/>
            <a:ext cx="82953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3</a:t>
            </a:r>
            <a:r>
              <a:rPr b="1" i="0" lang="en" sz="700" u="none" cap="none" strike="noStrike">
                <a:solidFill>
                  <a:srgbClr val="C77A12"/>
                </a:solidFill>
                <a:latin typeface="Arial"/>
                <a:ea typeface="Arial"/>
                <a:cs typeface="Arial"/>
                <a:sym typeface="Arial"/>
              </a:rPr>
              <a:t> · THE METHANOL SYSTEM</a:t>
            </a:r>
            <a:endParaRPr b="0" i="0" sz="700" u="none" cap="none" strike="noStrike">
              <a:solidFill>
                <a:srgbClr val="000000"/>
              </a:solidFill>
              <a:latin typeface="Arial"/>
              <a:ea typeface="Arial"/>
              <a:cs typeface="Arial"/>
              <a:sym typeface="Arial"/>
            </a:endParaRPr>
          </a:p>
        </p:txBody>
      </p:sp>
      <p:sp>
        <p:nvSpPr>
          <p:cNvPr id="476" name="Google Shape;476;h404929d835aeeb39_0_79"/>
          <p:cNvSpPr txBox="1"/>
          <p:nvPr/>
        </p:nvSpPr>
        <p:spPr>
          <a:xfrm>
            <a:off x="374904" y="493776"/>
            <a:ext cx="82953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Constant current first, then constant voltage</a:t>
            </a:r>
            <a:endParaRPr b="0" i="0" sz="2000" u="none" cap="none" strike="noStrike">
              <a:solidFill>
                <a:srgbClr val="000000"/>
              </a:solidFill>
              <a:latin typeface="Arial"/>
              <a:ea typeface="Arial"/>
              <a:cs typeface="Arial"/>
              <a:sym typeface="Arial"/>
            </a:endParaRPr>
          </a:p>
        </p:txBody>
      </p:sp>
      <p:sp>
        <p:nvSpPr>
          <p:cNvPr id="477" name="Google Shape;477;h404929d835aeeb39_0_79"/>
          <p:cNvSpPr txBox="1"/>
          <p:nvPr/>
        </p:nvSpPr>
        <p:spPr>
          <a:xfrm>
            <a:off x="374904" y="905256"/>
            <a:ext cx="82953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6B75"/>
                </a:solidFill>
                <a:latin typeface="Arial"/>
                <a:ea typeface="Arial"/>
                <a:cs typeface="Arial"/>
                <a:sym typeface="Arial"/>
              </a:rPr>
              <a:t>The DC/DC holds the current until the battery reaches its voltage limit, then holds that voltage.</a:t>
            </a:r>
            <a:endParaRPr b="0" i="0" sz="950" u="none" cap="none" strike="noStrike">
              <a:solidFill>
                <a:srgbClr val="000000"/>
              </a:solidFill>
              <a:latin typeface="Arial"/>
              <a:ea typeface="Arial"/>
              <a:cs typeface="Arial"/>
              <a:sym typeface="Arial"/>
            </a:endParaRPr>
          </a:p>
        </p:txBody>
      </p:sp>
      <p:pic>
        <p:nvPicPr>
          <p:cNvPr id="478" name="Google Shape;478;h404929d835aeeb39_0_79"/>
          <p:cNvPicPr preferRelativeResize="0"/>
          <p:nvPr/>
        </p:nvPicPr>
        <p:blipFill rotWithShape="1">
          <a:blip r:embed="rId3">
            <a:alphaModFix/>
          </a:blip>
          <a:srcRect b="0" l="0" r="0" t="0"/>
          <a:stretch/>
        </p:blipFill>
        <p:spPr>
          <a:xfrm>
            <a:off x="374904" y="1268730"/>
            <a:ext cx="5046300" cy="1508700"/>
          </a:xfrm>
          <a:prstGeom prst="rect">
            <a:avLst/>
          </a:prstGeom>
          <a:noFill/>
          <a:ln>
            <a:noFill/>
          </a:ln>
        </p:spPr>
      </p:pic>
      <p:pic>
        <p:nvPicPr>
          <p:cNvPr id="479" name="Google Shape;479;h404929d835aeeb39_0_79"/>
          <p:cNvPicPr preferRelativeResize="0"/>
          <p:nvPr/>
        </p:nvPicPr>
        <p:blipFill rotWithShape="1">
          <a:blip r:embed="rId4">
            <a:alphaModFix/>
          </a:blip>
          <a:srcRect b="0" l="0" r="0" t="0"/>
          <a:stretch/>
        </p:blipFill>
        <p:spPr>
          <a:xfrm>
            <a:off x="374904" y="2777490"/>
            <a:ext cx="5046300" cy="1508700"/>
          </a:xfrm>
          <a:prstGeom prst="rect">
            <a:avLst/>
          </a:prstGeom>
          <a:noFill/>
          <a:ln>
            <a:noFill/>
          </a:ln>
        </p:spPr>
      </p:pic>
      <p:sp>
        <p:nvSpPr>
          <p:cNvPr id="480" name="Google Shape;480;h404929d835aeeb39_0_79"/>
          <p:cNvSpPr/>
          <p:nvPr/>
        </p:nvSpPr>
        <p:spPr>
          <a:xfrm>
            <a:off x="5628520" y="1268730"/>
            <a:ext cx="3131400" cy="672000"/>
          </a:xfrm>
          <a:prstGeom prst="roundRect">
            <a:avLst>
              <a:gd fmla="val 8163"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h404929d835aeeb39_0_79"/>
          <p:cNvSpPr/>
          <p:nvPr/>
        </p:nvSpPr>
        <p:spPr>
          <a:xfrm>
            <a:off x="5752948" y="1364742"/>
            <a:ext cx="152100" cy="150900"/>
          </a:xfrm>
          <a:prstGeom prst="ellipse">
            <a:avLst/>
          </a:prstGeom>
          <a:solidFill>
            <a:srgbClr val="C77A12"/>
          </a:solidFill>
          <a:ln cap="flat" cmpd="sng" w="12700">
            <a:solidFill>
              <a:srgbClr val="C7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h404929d835aeeb39_0_79"/>
          <p:cNvSpPr txBox="1"/>
          <p:nvPr/>
        </p:nvSpPr>
        <p:spPr>
          <a:xfrm>
            <a:off x="5987978" y="1323594"/>
            <a:ext cx="2695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4303F"/>
                </a:solidFill>
                <a:latin typeface="Arial"/>
                <a:ea typeface="Arial"/>
                <a:cs typeface="Arial"/>
                <a:sym typeface="Arial"/>
              </a:rPr>
              <a:t>CC phase</a:t>
            </a:r>
            <a:endParaRPr b="0" i="0" sz="950" u="none" cap="none" strike="noStrike">
              <a:solidFill>
                <a:srgbClr val="000000"/>
              </a:solidFill>
              <a:latin typeface="Arial"/>
              <a:ea typeface="Arial"/>
              <a:cs typeface="Arial"/>
              <a:sym typeface="Arial"/>
            </a:endParaRPr>
          </a:p>
        </p:txBody>
      </p:sp>
      <p:sp>
        <p:nvSpPr>
          <p:cNvPr id="483" name="Google Shape;483;h404929d835aeeb39_0_79"/>
          <p:cNvSpPr txBox="1"/>
          <p:nvPr/>
        </p:nvSpPr>
        <p:spPr>
          <a:xfrm>
            <a:off x="5752948" y="1556766"/>
            <a:ext cx="2903400" cy="37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14303F"/>
                </a:solidFill>
                <a:latin typeface="Arial"/>
                <a:ea typeface="Arial"/>
                <a:cs typeface="Arial"/>
                <a:sym typeface="Arial"/>
              </a:rPr>
              <a:t>The current is held at its limit, the lower of the battery's rating and the stack's capacity. The voltage rises as the battery fills.</a:t>
            </a:r>
            <a:endParaRPr b="0" i="0" sz="750" u="none" cap="none" strike="noStrike">
              <a:solidFill>
                <a:srgbClr val="000000"/>
              </a:solidFill>
              <a:latin typeface="Arial"/>
              <a:ea typeface="Arial"/>
              <a:cs typeface="Arial"/>
              <a:sym typeface="Arial"/>
            </a:endParaRPr>
          </a:p>
        </p:txBody>
      </p:sp>
      <p:sp>
        <p:nvSpPr>
          <p:cNvPr id="484" name="Google Shape;484;h404929d835aeeb39_0_79"/>
          <p:cNvSpPr/>
          <p:nvPr/>
        </p:nvSpPr>
        <p:spPr>
          <a:xfrm>
            <a:off x="5628520" y="2023110"/>
            <a:ext cx="3131400" cy="672000"/>
          </a:xfrm>
          <a:prstGeom prst="roundRect">
            <a:avLst>
              <a:gd fmla="val 8163"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h404929d835aeeb39_0_79"/>
          <p:cNvSpPr/>
          <p:nvPr/>
        </p:nvSpPr>
        <p:spPr>
          <a:xfrm>
            <a:off x="5752948" y="2119122"/>
            <a:ext cx="152100" cy="150900"/>
          </a:xfrm>
          <a:prstGeom prst="ellipse">
            <a:avLst/>
          </a:prstGeom>
          <a:solidFill>
            <a:srgbClr val="14303F"/>
          </a:solidFill>
          <a:ln cap="flat" cmpd="sng" w="12700">
            <a:solidFill>
              <a:srgbClr val="1430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h404929d835aeeb39_0_79"/>
          <p:cNvSpPr txBox="1"/>
          <p:nvPr/>
        </p:nvSpPr>
        <p:spPr>
          <a:xfrm>
            <a:off x="5987978" y="2077974"/>
            <a:ext cx="2695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4303F"/>
                </a:solidFill>
                <a:latin typeface="Arial"/>
                <a:ea typeface="Arial"/>
                <a:cs typeface="Arial"/>
                <a:sym typeface="Arial"/>
              </a:rPr>
              <a:t>CV phase</a:t>
            </a:r>
            <a:endParaRPr b="0" i="0" sz="950" u="none" cap="none" strike="noStrike">
              <a:solidFill>
                <a:srgbClr val="000000"/>
              </a:solidFill>
              <a:latin typeface="Arial"/>
              <a:ea typeface="Arial"/>
              <a:cs typeface="Arial"/>
              <a:sym typeface="Arial"/>
            </a:endParaRPr>
          </a:p>
        </p:txBody>
      </p:sp>
      <p:sp>
        <p:nvSpPr>
          <p:cNvPr id="487" name="Google Shape;487;h404929d835aeeb39_0_79"/>
          <p:cNvSpPr txBox="1"/>
          <p:nvPr/>
        </p:nvSpPr>
        <p:spPr>
          <a:xfrm>
            <a:off x="5752948" y="2311146"/>
            <a:ext cx="2903400" cy="37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14303F"/>
                </a:solidFill>
                <a:latin typeface="Arial"/>
                <a:ea typeface="Arial"/>
                <a:cs typeface="Arial"/>
                <a:sym typeface="Arial"/>
              </a:rPr>
              <a:t>At the limit (for example 14.4 V for 12 V lead-acid, 3.6 V per LiFePO₄ cell) the voltage is held and the current falls on its own.</a:t>
            </a:r>
            <a:endParaRPr b="0" i="0" sz="750" u="none" cap="none" strike="noStrike">
              <a:solidFill>
                <a:srgbClr val="000000"/>
              </a:solidFill>
              <a:latin typeface="Arial"/>
              <a:ea typeface="Arial"/>
              <a:cs typeface="Arial"/>
              <a:sym typeface="Arial"/>
            </a:endParaRPr>
          </a:p>
        </p:txBody>
      </p:sp>
      <p:sp>
        <p:nvSpPr>
          <p:cNvPr id="488" name="Google Shape;488;h404929d835aeeb39_0_79"/>
          <p:cNvSpPr/>
          <p:nvPr/>
        </p:nvSpPr>
        <p:spPr>
          <a:xfrm>
            <a:off x="5628520" y="2777490"/>
            <a:ext cx="3131400" cy="672000"/>
          </a:xfrm>
          <a:prstGeom prst="roundRect">
            <a:avLst>
              <a:gd fmla="val 8163"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h404929d835aeeb39_0_79"/>
          <p:cNvSpPr/>
          <p:nvPr/>
        </p:nvSpPr>
        <p:spPr>
          <a:xfrm>
            <a:off x="5752948" y="2873502"/>
            <a:ext cx="152100" cy="150900"/>
          </a:xfrm>
          <a:prstGeom prst="ellipse">
            <a:avLst/>
          </a:prstGeom>
          <a:solidFill>
            <a:srgbClr val="17607D"/>
          </a:solidFill>
          <a:ln cap="flat" cmpd="sng" w="12700">
            <a:solidFill>
              <a:srgbClr val="1760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h404929d835aeeb39_0_79"/>
          <p:cNvSpPr txBox="1"/>
          <p:nvPr/>
        </p:nvSpPr>
        <p:spPr>
          <a:xfrm>
            <a:off x="5987978" y="2832354"/>
            <a:ext cx="2695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4303F"/>
                </a:solidFill>
                <a:latin typeface="Arial"/>
                <a:ea typeface="Arial"/>
                <a:cs typeface="Arial"/>
                <a:sym typeface="Arial"/>
              </a:rPr>
              <a:t>End of charge</a:t>
            </a:r>
            <a:endParaRPr b="0" i="0" sz="950" u="none" cap="none" strike="noStrike">
              <a:solidFill>
                <a:srgbClr val="000000"/>
              </a:solidFill>
              <a:latin typeface="Arial"/>
              <a:ea typeface="Arial"/>
              <a:cs typeface="Arial"/>
              <a:sym typeface="Arial"/>
            </a:endParaRPr>
          </a:p>
        </p:txBody>
      </p:sp>
      <p:sp>
        <p:nvSpPr>
          <p:cNvPr id="491" name="Google Shape;491;h404929d835aeeb39_0_79"/>
          <p:cNvSpPr txBox="1"/>
          <p:nvPr/>
        </p:nvSpPr>
        <p:spPr>
          <a:xfrm>
            <a:off x="5752948" y="3065526"/>
            <a:ext cx="2903400" cy="37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14303F"/>
                </a:solidFill>
                <a:latin typeface="Arial"/>
                <a:ea typeface="Arial"/>
                <a:cs typeface="Arial"/>
                <a:sym typeface="Arial"/>
              </a:rPr>
              <a:t>Stop when the current drops below about C/20, with a backup timer. Lead-acid can move to a float voltage; lithium must not.</a:t>
            </a:r>
            <a:endParaRPr b="0" i="0" sz="750" u="none" cap="none" strike="noStrike">
              <a:solidFill>
                <a:srgbClr val="000000"/>
              </a:solidFill>
              <a:latin typeface="Arial"/>
              <a:ea typeface="Arial"/>
              <a:cs typeface="Arial"/>
              <a:sym typeface="Arial"/>
            </a:endParaRPr>
          </a:p>
        </p:txBody>
      </p:sp>
      <p:sp>
        <p:nvSpPr>
          <p:cNvPr id="492" name="Google Shape;492;h404929d835aeeb39_0_79"/>
          <p:cNvSpPr/>
          <p:nvPr/>
        </p:nvSpPr>
        <p:spPr>
          <a:xfrm>
            <a:off x="5628520" y="3531870"/>
            <a:ext cx="3131400" cy="672000"/>
          </a:xfrm>
          <a:prstGeom prst="roundRect">
            <a:avLst>
              <a:gd fmla="val 8163"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h404929d835aeeb39_0_79"/>
          <p:cNvSpPr/>
          <p:nvPr/>
        </p:nvSpPr>
        <p:spPr>
          <a:xfrm>
            <a:off x="5752948" y="3627882"/>
            <a:ext cx="152100" cy="150900"/>
          </a:xfrm>
          <a:prstGeom prst="ellipse">
            <a:avLst/>
          </a:prstGeom>
          <a:solidFill>
            <a:srgbClr val="0E7C86"/>
          </a:solidFill>
          <a:ln cap="flat" cmpd="sng" w="12700">
            <a:solidFill>
              <a:srgbClr val="0E7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h404929d835aeeb39_0_79"/>
          <p:cNvSpPr txBox="1"/>
          <p:nvPr/>
        </p:nvSpPr>
        <p:spPr>
          <a:xfrm>
            <a:off x="5987978" y="3586734"/>
            <a:ext cx="2695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4303F"/>
                </a:solidFill>
                <a:latin typeface="Arial"/>
                <a:ea typeface="Arial"/>
                <a:cs typeface="Arial"/>
                <a:sym typeface="Arial"/>
              </a:rPr>
              <a:t>Why it matters here</a:t>
            </a:r>
            <a:endParaRPr b="0" i="0" sz="950" u="none" cap="none" strike="noStrike">
              <a:solidFill>
                <a:srgbClr val="000000"/>
              </a:solidFill>
              <a:latin typeface="Arial"/>
              <a:ea typeface="Arial"/>
              <a:cs typeface="Arial"/>
              <a:sym typeface="Arial"/>
            </a:endParaRPr>
          </a:p>
        </p:txBody>
      </p:sp>
      <p:sp>
        <p:nvSpPr>
          <p:cNvPr id="495" name="Google Shape;495;h404929d835aeeb39_0_79"/>
          <p:cNvSpPr txBox="1"/>
          <p:nvPr/>
        </p:nvSpPr>
        <p:spPr>
          <a:xfrm>
            <a:off x="5752948" y="3819906"/>
            <a:ext cx="2903400" cy="37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 sz="750" u="none" cap="none" strike="noStrike">
                <a:solidFill>
                  <a:srgbClr val="14303F"/>
                </a:solidFill>
                <a:latin typeface="Arial"/>
                <a:ea typeface="Arial"/>
                <a:cs typeface="Arial"/>
                <a:sym typeface="Arial"/>
              </a:rPr>
              <a:t>The current limit keeps the stack at its efficient operating point. The voltage limit protects the battery from overcharge.</a:t>
            </a:r>
            <a:endParaRPr b="0" i="0" sz="750" u="none" cap="none" strike="noStrike">
              <a:solidFill>
                <a:srgbClr val="000000"/>
              </a:solidFill>
              <a:latin typeface="Arial"/>
              <a:ea typeface="Arial"/>
              <a:cs typeface="Arial"/>
              <a:sym typeface="Arial"/>
            </a:endParaRPr>
          </a:p>
        </p:txBody>
      </p:sp>
      <p:sp>
        <p:nvSpPr>
          <p:cNvPr id="496" name="Google Shape;496;h404929d835aeeb39_0_79"/>
          <p:cNvSpPr/>
          <p:nvPr/>
        </p:nvSpPr>
        <p:spPr>
          <a:xfrm>
            <a:off x="374904" y="4423410"/>
            <a:ext cx="8385000" cy="377100"/>
          </a:xfrm>
          <a:prstGeom prst="roundRect">
            <a:avLst>
              <a:gd fmla="val 10909" name="adj"/>
            </a:avLst>
          </a:prstGeom>
          <a:solidFill>
            <a:srgbClr val="FBF1E3"/>
          </a:solidFill>
          <a:ln cap="flat" cmpd="sng" w="12700">
            <a:solidFill>
              <a:srgbClr val="FBF1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h404929d835aeeb39_0_79"/>
          <p:cNvSpPr txBox="1"/>
          <p:nvPr/>
        </p:nvSpPr>
        <p:spPr>
          <a:xfrm>
            <a:off x="513157" y="4423410"/>
            <a:ext cx="81570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4303F"/>
                </a:solidFill>
                <a:latin typeface="Arial"/>
                <a:ea typeface="Arial"/>
                <a:cs typeface="Arial"/>
                <a:sym typeface="Arial"/>
              </a:rPr>
              <a:t>Setpoints depend on the battery chemistry and should be temperature-compensated for lead-acid. The battery temperature sensor is part of the charger.</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sp>
        <p:nvSpPr>
          <p:cNvPr id="502" name="Google Shape;502;h404929d835aeeb39_0_105"/>
          <p:cNvSpPr txBox="1"/>
          <p:nvPr/>
        </p:nvSpPr>
        <p:spPr>
          <a:xfrm>
            <a:off x="374904" y="274320"/>
            <a:ext cx="82953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3</a:t>
            </a:r>
            <a:r>
              <a:rPr b="1" i="0" lang="en" sz="700" u="none" cap="none" strike="noStrike">
                <a:solidFill>
                  <a:srgbClr val="C77A12"/>
                </a:solidFill>
                <a:latin typeface="Arial"/>
                <a:ea typeface="Arial"/>
                <a:cs typeface="Arial"/>
                <a:sym typeface="Arial"/>
              </a:rPr>
              <a:t> · THE METHANOL SYSTEM</a:t>
            </a:r>
            <a:endParaRPr b="0" i="0" sz="700" u="none" cap="none" strike="noStrike">
              <a:solidFill>
                <a:srgbClr val="000000"/>
              </a:solidFill>
              <a:latin typeface="Arial"/>
              <a:ea typeface="Arial"/>
              <a:cs typeface="Arial"/>
              <a:sym typeface="Arial"/>
            </a:endParaRPr>
          </a:p>
        </p:txBody>
      </p:sp>
      <p:sp>
        <p:nvSpPr>
          <p:cNvPr id="503" name="Google Shape;503;h404929d835aeeb39_0_105"/>
          <p:cNvSpPr txBox="1"/>
          <p:nvPr/>
        </p:nvSpPr>
        <p:spPr>
          <a:xfrm>
            <a:off x="374904" y="493776"/>
            <a:ext cx="82953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Safety at every level: fuel, stack, electrical, control</a:t>
            </a:r>
            <a:endParaRPr b="0" i="0" sz="2000" u="none" cap="none" strike="noStrike">
              <a:solidFill>
                <a:srgbClr val="000000"/>
              </a:solidFill>
              <a:latin typeface="Arial"/>
              <a:ea typeface="Arial"/>
              <a:cs typeface="Arial"/>
              <a:sym typeface="Arial"/>
            </a:endParaRPr>
          </a:p>
        </p:txBody>
      </p:sp>
      <p:sp>
        <p:nvSpPr>
          <p:cNvPr id="504" name="Google Shape;504;h404929d835aeeb39_0_105"/>
          <p:cNvSpPr txBox="1"/>
          <p:nvPr/>
        </p:nvSpPr>
        <p:spPr>
          <a:xfrm>
            <a:off x="374904" y="905256"/>
            <a:ext cx="82953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6B75"/>
                </a:solidFill>
                <a:latin typeface="Arial"/>
                <a:ea typeface="Arial"/>
                <a:cs typeface="Arial"/>
                <a:sym typeface="Arial"/>
              </a:rPr>
              <a:t>Methanol is flammable and toxic, the stack runs hot, and a battery can be overcharged. Each hazard gets its own protection.</a:t>
            </a:r>
            <a:endParaRPr b="0" i="0" sz="950" u="none" cap="none" strike="noStrike">
              <a:solidFill>
                <a:srgbClr val="000000"/>
              </a:solidFill>
              <a:latin typeface="Arial"/>
              <a:ea typeface="Arial"/>
              <a:cs typeface="Arial"/>
              <a:sym typeface="Arial"/>
            </a:endParaRPr>
          </a:p>
        </p:txBody>
      </p:sp>
      <p:sp>
        <p:nvSpPr>
          <p:cNvPr id="505" name="Google Shape;505;h404929d835aeeb39_0_105"/>
          <p:cNvSpPr/>
          <p:nvPr/>
        </p:nvSpPr>
        <p:spPr>
          <a:xfrm>
            <a:off x="374904" y="1303020"/>
            <a:ext cx="4113000" cy="1508700"/>
          </a:xfrm>
          <a:prstGeom prst="roundRect">
            <a:avLst>
              <a:gd fmla="val 3636"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h404929d835aeeb39_0_105"/>
          <p:cNvSpPr/>
          <p:nvPr/>
        </p:nvSpPr>
        <p:spPr>
          <a:xfrm>
            <a:off x="513157" y="1426464"/>
            <a:ext cx="290400" cy="288000"/>
          </a:xfrm>
          <a:prstGeom prst="ellipse">
            <a:avLst/>
          </a:prstGeom>
          <a:solidFill>
            <a:srgbClr val="C77A12"/>
          </a:solidFill>
          <a:ln cap="flat" cmpd="sng" w="12700">
            <a:solidFill>
              <a:srgbClr val="C7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h404929d835aeeb39_0_105"/>
          <p:cNvSpPr txBox="1"/>
          <p:nvPr/>
        </p:nvSpPr>
        <p:spPr>
          <a:xfrm>
            <a:off x="513157" y="1426464"/>
            <a:ext cx="290400" cy="28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Arial"/>
                <a:ea typeface="Arial"/>
                <a:cs typeface="Arial"/>
                <a:sym typeface="Arial"/>
              </a:rPr>
              <a:t>1</a:t>
            </a:r>
            <a:endParaRPr b="0" i="0" sz="950" u="none" cap="none" strike="noStrike">
              <a:solidFill>
                <a:srgbClr val="000000"/>
              </a:solidFill>
              <a:latin typeface="Arial"/>
              <a:ea typeface="Arial"/>
              <a:cs typeface="Arial"/>
              <a:sym typeface="Arial"/>
            </a:endParaRPr>
          </a:p>
        </p:txBody>
      </p:sp>
      <p:sp>
        <p:nvSpPr>
          <p:cNvPr id="508" name="Google Shape;508;h404929d835aeeb39_0_105"/>
          <p:cNvSpPr txBox="1"/>
          <p:nvPr/>
        </p:nvSpPr>
        <p:spPr>
          <a:xfrm>
            <a:off x="893353" y="1426464"/>
            <a:ext cx="34563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14303F"/>
                </a:solidFill>
                <a:latin typeface="Arial"/>
                <a:ea typeface="Arial"/>
                <a:cs typeface="Arial"/>
                <a:sym typeface="Arial"/>
              </a:rPr>
              <a:t>Fuel handling</a:t>
            </a:r>
            <a:endParaRPr b="0" i="0" sz="1100" u="none" cap="none" strike="noStrike">
              <a:solidFill>
                <a:srgbClr val="000000"/>
              </a:solidFill>
              <a:latin typeface="Arial"/>
              <a:ea typeface="Arial"/>
              <a:cs typeface="Arial"/>
              <a:sym typeface="Arial"/>
            </a:endParaRPr>
          </a:p>
        </p:txBody>
      </p:sp>
      <p:sp>
        <p:nvSpPr>
          <p:cNvPr id="509" name="Google Shape;509;h404929d835aeeb39_0_105"/>
          <p:cNvSpPr txBox="1"/>
          <p:nvPr/>
        </p:nvSpPr>
        <p:spPr>
          <a:xfrm>
            <a:off x="547720" y="1796796"/>
            <a:ext cx="3801900" cy="9258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Sealed, factory-filled canisters: no one handles liquid methanol.</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Keyed, leak-tight coupling that seals itself when removed.</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Little fuel inside the unit; CO₂ vented through one defined outlet.</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Flash point ≈11 °C, near-invisible flame: no ignition sources nearby.</a:t>
            </a:r>
            <a:endParaRPr b="0" i="0" sz="800" u="none" cap="none" strike="noStrike">
              <a:solidFill>
                <a:srgbClr val="000000"/>
              </a:solidFill>
              <a:latin typeface="Arial"/>
              <a:ea typeface="Arial"/>
              <a:cs typeface="Arial"/>
              <a:sym typeface="Arial"/>
            </a:endParaRPr>
          </a:p>
        </p:txBody>
      </p:sp>
      <p:sp>
        <p:nvSpPr>
          <p:cNvPr id="510" name="Google Shape;510;h404929d835aeeb39_0_105"/>
          <p:cNvSpPr/>
          <p:nvPr/>
        </p:nvSpPr>
        <p:spPr>
          <a:xfrm>
            <a:off x="4646924" y="1303020"/>
            <a:ext cx="4113000" cy="1508700"/>
          </a:xfrm>
          <a:prstGeom prst="roundRect">
            <a:avLst>
              <a:gd fmla="val 3636"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h404929d835aeeb39_0_105"/>
          <p:cNvSpPr/>
          <p:nvPr/>
        </p:nvSpPr>
        <p:spPr>
          <a:xfrm>
            <a:off x="4785177" y="1426464"/>
            <a:ext cx="290400" cy="288000"/>
          </a:xfrm>
          <a:prstGeom prst="ellipse">
            <a:avLst/>
          </a:prstGeom>
          <a:solidFill>
            <a:srgbClr val="17607D"/>
          </a:solidFill>
          <a:ln cap="flat" cmpd="sng" w="12700">
            <a:solidFill>
              <a:srgbClr val="1760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h404929d835aeeb39_0_105"/>
          <p:cNvSpPr txBox="1"/>
          <p:nvPr/>
        </p:nvSpPr>
        <p:spPr>
          <a:xfrm>
            <a:off x="4785177" y="1426464"/>
            <a:ext cx="290400" cy="28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Arial"/>
                <a:ea typeface="Arial"/>
                <a:cs typeface="Arial"/>
                <a:sym typeface="Arial"/>
              </a:rPr>
              <a:t>2</a:t>
            </a:r>
            <a:endParaRPr b="0" i="0" sz="950" u="none" cap="none" strike="noStrike">
              <a:solidFill>
                <a:srgbClr val="000000"/>
              </a:solidFill>
              <a:latin typeface="Arial"/>
              <a:ea typeface="Arial"/>
              <a:cs typeface="Arial"/>
              <a:sym typeface="Arial"/>
            </a:endParaRPr>
          </a:p>
        </p:txBody>
      </p:sp>
      <p:sp>
        <p:nvSpPr>
          <p:cNvPr id="513" name="Google Shape;513;h404929d835aeeb39_0_105"/>
          <p:cNvSpPr txBox="1"/>
          <p:nvPr/>
        </p:nvSpPr>
        <p:spPr>
          <a:xfrm>
            <a:off x="5165372" y="1426464"/>
            <a:ext cx="34563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14303F"/>
                </a:solidFill>
                <a:latin typeface="Arial"/>
                <a:ea typeface="Arial"/>
                <a:cs typeface="Arial"/>
                <a:sym typeface="Arial"/>
              </a:rPr>
              <a:t>Stack and thermal</a:t>
            </a:r>
            <a:endParaRPr b="0" i="0" sz="1100" u="none" cap="none" strike="noStrike">
              <a:solidFill>
                <a:srgbClr val="000000"/>
              </a:solidFill>
              <a:latin typeface="Arial"/>
              <a:ea typeface="Arial"/>
              <a:cs typeface="Arial"/>
              <a:sym typeface="Arial"/>
            </a:endParaRPr>
          </a:p>
        </p:txBody>
      </p:sp>
      <p:sp>
        <p:nvSpPr>
          <p:cNvPr id="514" name="Google Shape;514;h404929d835aeeb39_0_105"/>
          <p:cNvSpPr txBox="1"/>
          <p:nvPr/>
        </p:nvSpPr>
        <p:spPr>
          <a:xfrm>
            <a:off x="4819740" y="1796796"/>
            <a:ext cx="3801900" cy="9258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Temperature limits on stack and electronics; derate, then stop.</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Minimum stack voltage: a low reading means fuel or air starvation.</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Concentration control prevents crossover and hot spots.</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Frost protection: water in the loop must not freeze.</a:t>
            </a:r>
            <a:endParaRPr b="0" i="0" sz="800" u="none" cap="none" strike="noStrike">
              <a:solidFill>
                <a:srgbClr val="000000"/>
              </a:solidFill>
              <a:latin typeface="Arial"/>
              <a:ea typeface="Arial"/>
              <a:cs typeface="Arial"/>
              <a:sym typeface="Arial"/>
            </a:endParaRPr>
          </a:p>
        </p:txBody>
      </p:sp>
      <p:sp>
        <p:nvSpPr>
          <p:cNvPr id="515" name="Google Shape;515;h404929d835aeeb39_0_105"/>
          <p:cNvSpPr/>
          <p:nvPr/>
        </p:nvSpPr>
        <p:spPr>
          <a:xfrm>
            <a:off x="374904" y="2846070"/>
            <a:ext cx="4113000" cy="1508700"/>
          </a:xfrm>
          <a:prstGeom prst="roundRect">
            <a:avLst>
              <a:gd fmla="val 3636"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h404929d835aeeb39_0_105"/>
          <p:cNvSpPr/>
          <p:nvPr/>
        </p:nvSpPr>
        <p:spPr>
          <a:xfrm>
            <a:off x="513157" y="2969514"/>
            <a:ext cx="290400" cy="288000"/>
          </a:xfrm>
          <a:prstGeom prst="ellipse">
            <a:avLst/>
          </a:prstGeom>
          <a:solidFill>
            <a:srgbClr val="14303F"/>
          </a:solidFill>
          <a:ln cap="flat" cmpd="sng" w="12700">
            <a:solidFill>
              <a:srgbClr val="1430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h404929d835aeeb39_0_105"/>
          <p:cNvSpPr txBox="1"/>
          <p:nvPr/>
        </p:nvSpPr>
        <p:spPr>
          <a:xfrm>
            <a:off x="513157" y="2969514"/>
            <a:ext cx="290400" cy="28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Arial"/>
                <a:ea typeface="Arial"/>
                <a:cs typeface="Arial"/>
                <a:sym typeface="Arial"/>
              </a:rPr>
              <a:t>3</a:t>
            </a:r>
            <a:endParaRPr b="0" i="0" sz="950" u="none" cap="none" strike="noStrike">
              <a:solidFill>
                <a:srgbClr val="000000"/>
              </a:solidFill>
              <a:latin typeface="Arial"/>
              <a:ea typeface="Arial"/>
              <a:cs typeface="Arial"/>
              <a:sym typeface="Arial"/>
            </a:endParaRPr>
          </a:p>
        </p:txBody>
      </p:sp>
      <p:sp>
        <p:nvSpPr>
          <p:cNvPr id="518" name="Google Shape;518;h404929d835aeeb39_0_105"/>
          <p:cNvSpPr txBox="1"/>
          <p:nvPr/>
        </p:nvSpPr>
        <p:spPr>
          <a:xfrm>
            <a:off x="893353" y="2969514"/>
            <a:ext cx="34563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14303F"/>
                </a:solidFill>
                <a:latin typeface="Arial"/>
                <a:ea typeface="Arial"/>
                <a:cs typeface="Arial"/>
                <a:sym typeface="Arial"/>
              </a:rPr>
              <a:t>Battery and electrical</a:t>
            </a:r>
            <a:endParaRPr b="0" i="0" sz="1100" u="none" cap="none" strike="noStrike">
              <a:solidFill>
                <a:srgbClr val="000000"/>
              </a:solidFill>
              <a:latin typeface="Arial"/>
              <a:ea typeface="Arial"/>
              <a:cs typeface="Arial"/>
              <a:sym typeface="Arial"/>
            </a:endParaRPr>
          </a:p>
        </p:txBody>
      </p:sp>
      <p:sp>
        <p:nvSpPr>
          <p:cNvPr id="519" name="Google Shape;519;h404929d835aeeb39_0_105"/>
          <p:cNvSpPr txBox="1"/>
          <p:nvPr/>
        </p:nvSpPr>
        <p:spPr>
          <a:xfrm>
            <a:off x="547720" y="3339846"/>
            <a:ext cx="3801900" cy="9258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CC-CV limits in the charger, plus a hardware overvoltage cut-off.</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Battery temperature window: no charging when too hot or too cold.</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Fuse, reverse-polarity and short-circuit protection.</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A charge timer stops a charge that never reaches its cut-off.</a:t>
            </a:r>
            <a:endParaRPr b="0" i="0" sz="800" u="none" cap="none" strike="noStrike">
              <a:solidFill>
                <a:srgbClr val="000000"/>
              </a:solidFill>
              <a:latin typeface="Arial"/>
              <a:ea typeface="Arial"/>
              <a:cs typeface="Arial"/>
              <a:sym typeface="Arial"/>
            </a:endParaRPr>
          </a:p>
        </p:txBody>
      </p:sp>
      <p:sp>
        <p:nvSpPr>
          <p:cNvPr id="520" name="Google Shape;520;h404929d835aeeb39_0_105"/>
          <p:cNvSpPr/>
          <p:nvPr/>
        </p:nvSpPr>
        <p:spPr>
          <a:xfrm>
            <a:off x="4646924" y="2846070"/>
            <a:ext cx="4113000" cy="1508700"/>
          </a:xfrm>
          <a:prstGeom prst="roundRect">
            <a:avLst>
              <a:gd fmla="val 3636" name="adj"/>
            </a:avLst>
          </a:prstGeom>
          <a:solidFill>
            <a:srgbClr val="F4F8FA"/>
          </a:solidFill>
          <a:ln cap="flat" cmpd="sng" w="9525">
            <a:solidFill>
              <a:srgbClr val="D5DE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h404929d835aeeb39_0_105"/>
          <p:cNvSpPr/>
          <p:nvPr/>
        </p:nvSpPr>
        <p:spPr>
          <a:xfrm>
            <a:off x="4785177" y="2969514"/>
            <a:ext cx="290400" cy="288000"/>
          </a:xfrm>
          <a:prstGeom prst="ellipse">
            <a:avLst/>
          </a:prstGeom>
          <a:solidFill>
            <a:srgbClr val="0E7C86"/>
          </a:solidFill>
          <a:ln cap="flat" cmpd="sng" w="12700">
            <a:solidFill>
              <a:srgbClr val="0E7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h404929d835aeeb39_0_105"/>
          <p:cNvSpPr txBox="1"/>
          <p:nvPr/>
        </p:nvSpPr>
        <p:spPr>
          <a:xfrm>
            <a:off x="4785177" y="2969514"/>
            <a:ext cx="290400" cy="28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Arial"/>
                <a:ea typeface="Arial"/>
                <a:cs typeface="Arial"/>
                <a:sym typeface="Arial"/>
              </a:rPr>
              <a:t>4</a:t>
            </a:r>
            <a:endParaRPr b="0" i="0" sz="950" u="none" cap="none" strike="noStrike">
              <a:solidFill>
                <a:srgbClr val="000000"/>
              </a:solidFill>
              <a:latin typeface="Arial"/>
              <a:ea typeface="Arial"/>
              <a:cs typeface="Arial"/>
              <a:sym typeface="Arial"/>
            </a:endParaRPr>
          </a:p>
        </p:txBody>
      </p:sp>
      <p:sp>
        <p:nvSpPr>
          <p:cNvPr id="523" name="Google Shape;523;h404929d835aeeb39_0_105"/>
          <p:cNvSpPr txBox="1"/>
          <p:nvPr/>
        </p:nvSpPr>
        <p:spPr>
          <a:xfrm>
            <a:off x="5165372" y="2969514"/>
            <a:ext cx="34563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14303F"/>
                </a:solidFill>
                <a:latin typeface="Arial"/>
                <a:ea typeface="Arial"/>
                <a:cs typeface="Arial"/>
                <a:sym typeface="Arial"/>
              </a:rPr>
              <a:t>Control and software</a:t>
            </a:r>
            <a:endParaRPr b="0" i="0" sz="1100" u="none" cap="none" strike="noStrike">
              <a:solidFill>
                <a:srgbClr val="000000"/>
              </a:solidFill>
              <a:latin typeface="Arial"/>
              <a:ea typeface="Arial"/>
              <a:cs typeface="Arial"/>
              <a:sym typeface="Arial"/>
            </a:endParaRPr>
          </a:p>
        </p:txBody>
      </p:sp>
      <p:sp>
        <p:nvSpPr>
          <p:cNvPr id="524" name="Google Shape;524;h404929d835aeeb39_0_105"/>
          <p:cNvSpPr txBox="1"/>
          <p:nvPr/>
        </p:nvSpPr>
        <p:spPr>
          <a:xfrm>
            <a:off x="4819740" y="3339846"/>
            <a:ext cx="3801900" cy="9258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Every fault → one safe state: pump off, charger off.</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Watchdog; the pump enable must be kept alive by the software.</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Cross-checks between sensors, e.g. fuel used vs energy out.</a:t>
            </a:r>
            <a:endParaRPr b="0" i="0" sz="800" u="none" cap="none" strike="noStrike">
              <a:solidFill>
                <a:srgbClr val="00000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800"/>
              <a:buFont typeface="Arial"/>
              <a:buChar char="•"/>
            </a:pPr>
            <a:r>
              <a:rPr b="0" i="0" lang="en" sz="800" u="none" cap="none" strike="noStrike">
                <a:solidFill>
                  <a:srgbClr val="14303F"/>
                </a:solidFill>
                <a:latin typeface="Arial"/>
                <a:ea typeface="Arial"/>
                <a:cs typeface="Arial"/>
                <a:sym typeface="Arial"/>
              </a:rPr>
              <a:t>Faults logged and reported; designed to IEC 62282-5-100.</a:t>
            </a:r>
            <a:endParaRPr b="0" i="0" sz="800" u="none" cap="none" strike="noStrike">
              <a:solidFill>
                <a:srgbClr val="000000"/>
              </a:solidFill>
              <a:latin typeface="Arial"/>
              <a:ea typeface="Arial"/>
              <a:cs typeface="Arial"/>
              <a:sym typeface="Arial"/>
            </a:endParaRPr>
          </a:p>
        </p:txBody>
      </p:sp>
      <p:sp>
        <p:nvSpPr>
          <p:cNvPr id="525" name="Google Shape;525;h404929d835aeeb39_0_105"/>
          <p:cNvSpPr/>
          <p:nvPr/>
        </p:nvSpPr>
        <p:spPr>
          <a:xfrm>
            <a:off x="374904" y="4457700"/>
            <a:ext cx="8385000" cy="377100"/>
          </a:xfrm>
          <a:prstGeom prst="roundRect">
            <a:avLst>
              <a:gd fmla="val 10909" name="adj"/>
            </a:avLst>
          </a:prstGeom>
          <a:solidFill>
            <a:srgbClr val="FBF1E3"/>
          </a:solidFill>
          <a:ln cap="flat" cmpd="sng" w="12700">
            <a:solidFill>
              <a:srgbClr val="FBF1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h404929d835aeeb39_0_105"/>
          <p:cNvSpPr txBox="1"/>
          <p:nvPr/>
        </p:nvSpPr>
        <p:spPr>
          <a:xfrm>
            <a:off x="513157" y="4457700"/>
            <a:ext cx="81570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4303F"/>
                </a:solidFill>
                <a:latin typeface="Arial"/>
                <a:ea typeface="Arial"/>
                <a:cs typeface="Arial"/>
                <a:sym typeface="Arial"/>
              </a:rPr>
              <a:t>Fail safe: removing power or losing the software must lead to the safe state on its own, without relying on the software to shut the system down.</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7"/>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4</a:t>
            </a:r>
            <a:r>
              <a:rPr b="1" i="0" lang="en" sz="700" u="none" cap="none" strike="noStrike">
                <a:solidFill>
                  <a:srgbClr val="C77A12"/>
                </a:solidFill>
                <a:latin typeface="Arial"/>
                <a:ea typeface="Arial"/>
                <a:cs typeface="Arial"/>
                <a:sym typeface="Arial"/>
              </a:rPr>
              <a:t> · WHAT IT PRODUCES</a:t>
            </a:r>
            <a:endParaRPr b="0" i="0" sz="1100" u="none" cap="none" strike="noStrike">
              <a:solidFill>
                <a:srgbClr val="000000"/>
              </a:solidFill>
              <a:latin typeface="Arial"/>
              <a:ea typeface="Arial"/>
              <a:cs typeface="Arial"/>
              <a:sym typeface="Arial"/>
            </a:endParaRPr>
          </a:p>
        </p:txBody>
      </p:sp>
      <p:sp>
        <p:nvSpPr>
          <p:cNvPr id="533" name="Google Shape;533;p7"/>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The polarisation curve: the cell's price list</a:t>
            </a:r>
            <a:endParaRPr b="0" i="0" sz="1100" u="none" cap="none" strike="noStrike">
              <a:solidFill>
                <a:srgbClr val="000000"/>
              </a:solidFill>
              <a:latin typeface="Arial"/>
              <a:ea typeface="Arial"/>
              <a:cs typeface="Arial"/>
              <a:sym typeface="Arial"/>
            </a:endParaRPr>
          </a:p>
        </p:txBody>
      </p:sp>
      <p:sp>
        <p:nvSpPr>
          <p:cNvPr id="534" name="Google Shape;534;p7"/>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The single most important characteristic. Every extra ampere costs voltage — and past the peak, more than it is worth.</a:t>
            </a:r>
            <a:endParaRPr b="0" i="0" sz="1100" u="none" cap="none" strike="noStrike">
              <a:solidFill>
                <a:srgbClr val="000000"/>
              </a:solidFill>
              <a:latin typeface="Arial"/>
              <a:ea typeface="Arial"/>
              <a:cs typeface="Arial"/>
              <a:sym typeface="Arial"/>
            </a:endParaRPr>
          </a:p>
        </p:txBody>
      </p:sp>
      <p:pic>
        <p:nvPicPr>
          <p:cNvPr descr="polcurve.png" id="535" name="Google Shape;535;p7"/>
          <p:cNvPicPr preferRelativeResize="0"/>
          <p:nvPr/>
        </p:nvPicPr>
        <p:blipFill rotWithShape="1">
          <a:blip r:embed="rId3">
            <a:alphaModFix/>
          </a:blip>
          <a:srcRect b="0" l="0" r="0" t="0"/>
          <a:stretch/>
        </p:blipFill>
        <p:spPr>
          <a:xfrm>
            <a:off x="411482" y="1138428"/>
            <a:ext cx="4766312" cy="2585465"/>
          </a:xfrm>
          <a:prstGeom prst="rect">
            <a:avLst/>
          </a:prstGeom>
          <a:noFill/>
          <a:ln>
            <a:noFill/>
          </a:ln>
        </p:spPr>
      </p:pic>
      <p:sp>
        <p:nvSpPr>
          <p:cNvPr id="536" name="Google Shape;536;p7"/>
          <p:cNvSpPr/>
          <p:nvPr/>
        </p:nvSpPr>
        <p:spPr>
          <a:xfrm>
            <a:off x="5383552" y="1165860"/>
            <a:ext cx="3381000" cy="645600"/>
          </a:xfrm>
          <a:prstGeom prst="roundRect">
            <a:avLst>
              <a:gd fmla="val 7436"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7" name="Google Shape;537;p7"/>
          <p:cNvSpPr txBox="1"/>
          <p:nvPr/>
        </p:nvSpPr>
        <p:spPr>
          <a:xfrm>
            <a:off x="5500139" y="1286561"/>
            <a:ext cx="31479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Activation  ·  low current</a:t>
            </a:r>
            <a:endParaRPr b="0" i="0" sz="1100" u="none" cap="none" strike="noStrike">
              <a:solidFill>
                <a:srgbClr val="000000"/>
              </a:solidFill>
              <a:latin typeface="Arial"/>
              <a:ea typeface="Arial"/>
              <a:cs typeface="Arial"/>
              <a:sym typeface="Arial"/>
            </a:endParaRPr>
          </a:p>
        </p:txBody>
      </p:sp>
      <p:sp>
        <p:nvSpPr>
          <p:cNvPr id="538" name="Google Shape;538;p7"/>
          <p:cNvSpPr txBox="1"/>
          <p:nvPr/>
        </p:nvSpPr>
        <p:spPr>
          <a:xfrm>
            <a:off x="5500139" y="1462392"/>
            <a:ext cx="31479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The reaction is slow to start and the push comes out of your voltage. This is the loss platinum exists to reduce.</a:t>
            </a:r>
            <a:endParaRPr b="0" i="0" sz="1100" u="none" cap="none" strike="noStrike">
              <a:solidFill>
                <a:srgbClr val="000000"/>
              </a:solidFill>
              <a:latin typeface="Arial"/>
              <a:ea typeface="Arial"/>
              <a:cs typeface="Arial"/>
              <a:sym typeface="Arial"/>
            </a:endParaRPr>
          </a:p>
        </p:txBody>
      </p:sp>
      <p:sp>
        <p:nvSpPr>
          <p:cNvPr id="539" name="Google Shape;539;p7"/>
          <p:cNvSpPr/>
          <p:nvPr/>
        </p:nvSpPr>
        <p:spPr>
          <a:xfrm>
            <a:off x="5383552" y="1907438"/>
            <a:ext cx="3381000" cy="645600"/>
          </a:xfrm>
          <a:prstGeom prst="roundRect">
            <a:avLst>
              <a:gd fmla="val 7436" name="adj"/>
            </a:avLst>
          </a:prstGeom>
          <a:solidFill>
            <a:srgbClr val="E6F2F3"/>
          </a:solidFill>
          <a:ln cap="flat" cmpd="sng" w="9525">
            <a:solidFill>
              <a:srgbClr val="C2DE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0" name="Google Shape;540;p7"/>
          <p:cNvSpPr txBox="1"/>
          <p:nvPr/>
        </p:nvSpPr>
        <p:spPr>
          <a:xfrm>
            <a:off x="5500139" y="2028139"/>
            <a:ext cx="31479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0E7C86"/>
                </a:solidFill>
                <a:latin typeface="Arial"/>
                <a:ea typeface="Arial"/>
                <a:cs typeface="Arial"/>
                <a:sym typeface="Arial"/>
              </a:rPr>
              <a:t>Ohmic  ·  mid-range</a:t>
            </a:r>
            <a:endParaRPr b="0" i="0" sz="1100" u="none" cap="none" strike="noStrike">
              <a:solidFill>
                <a:srgbClr val="000000"/>
              </a:solidFill>
              <a:latin typeface="Arial"/>
              <a:ea typeface="Arial"/>
              <a:cs typeface="Arial"/>
              <a:sym typeface="Arial"/>
            </a:endParaRPr>
          </a:p>
        </p:txBody>
      </p:sp>
      <p:sp>
        <p:nvSpPr>
          <p:cNvPr id="541" name="Google Shape;541;p7"/>
          <p:cNvSpPr txBox="1"/>
          <p:nvPr/>
        </p:nvSpPr>
        <p:spPr>
          <a:xfrm>
            <a:off x="5500139" y="2203970"/>
            <a:ext cx="31479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Just resistance — protons through the membrane, electrons through the plates. A straight line, because it is Ohm's law.</a:t>
            </a:r>
            <a:endParaRPr b="0" i="0" sz="1100" u="none" cap="none" strike="noStrike">
              <a:solidFill>
                <a:srgbClr val="000000"/>
              </a:solidFill>
              <a:latin typeface="Arial"/>
              <a:ea typeface="Arial"/>
              <a:cs typeface="Arial"/>
              <a:sym typeface="Arial"/>
            </a:endParaRPr>
          </a:p>
        </p:txBody>
      </p:sp>
      <p:sp>
        <p:nvSpPr>
          <p:cNvPr id="542" name="Google Shape;542;p7"/>
          <p:cNvSpPr/>
          <p:nvPr/>
        </p:nvSpPr>
        <p:spPr>
          <a:xfrm>
            <a:off x="5383552" y="2649017"/>
            <a:ext cx="3381000" cy="645600"/>
          </a:xfrm>
          <a:prstGeom prst="roundRect">
            <a:avLst>
              <a:gd fmla="val 7436"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3" name="Google Shape;543;p7"/>
          <p:cNvSpPr txBox="1"/>
          <p:nvPr/>
        </p:nvSpPr>
        <p:spPr>
          <a:xfrm>
            <a:off x="5500139" y="2769717"/>
            <a:ext cx="31479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F6FA8"/>
                </a:solidFill>
                <a:latin typeface="Arial"/>
                <a:ea typeface="Arial"/>
                <a:cs typeface="Arial"/>
                <a:sym typeface="Arial"/>
              </a:rPr>
              <a:t>Mass transport  ·  high current</a:t>
            </a:r>
            <a:endParaRPr b="0" i="0" sz="1100" u="none" cap="none" strike="noStrike">
              <a:solidFill>
                <a:srgbClr val="000000"/>
              </a:solidFill>
              <a:latin typeface="Arial"/>
              <a:ea typeface="Arial"/>
              <a:cs typeface="Arial"/>
              <a:sym typeface="Arial"/>
            </a:endParaRPr>
          </a:p>
        </p:txBody>
      </p:sp>
      <p:sp>
        <p:nvSpPr>
          <p:cNvPr id="544" name="Google Shape;544;p7"/>
          <p:cNvSpPr txBox="1"/>
          <p:nvPr/>
        </p:nvSpPr>
        <p:spPr>
          <a:xfrm>
            <a:off x="5500139" y="2945549"/>
            <a:ext cx="31479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Gas cannot reach the catalyst fast enough and product water floods the pores. Voltage falls away sharply.</a:t>
            </a:r>
            <a:endParaRPr b="0" i="0" sz="1100" u="none" cap="none" strike="noStrike">
              <a:solidFill>
                <a:srgbClr val="000000"/>
              </a:solidFill>
              <a:latin typeface="Arial"/>
              <a:ea typeface="Arial"/>
              <a:cs typeface="Arial"/>
              <a:sym typeface="Arial"/>
            </a:endParaRPr>
          </a:p>
        </p:txBody>
      </p:sp>
      <p:sp>
        <p:nvSpPr>
          <p:cNvPr id="545" name="Google Shape;545;p7"/>
          <p:cNvSpPr/>
          <p:nvPr/>
        </p:nvSpPr>
        <p:spPr>
          <a:xfrm>
            <a:off x="5383552" y="3390595"/>
            <a:ext cx="3381000" cy="713400"/>
          </a:xfrm>
          <a:prstGeom prst="roundRect">
            <a:avLst>
              <a:gd fmla="val 6730" name="adj"/>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6" name="Google Shape;546;p7"/>
          <p:cNvSpPr txBox="1"/>
          <p:nvPr/>
        </p:nvSpPr>
        <p:spPr>
          <a:xfrm>
            <a:off x="5500139" y="3511296"/>
            <a:ext cx="31479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Where we choose to sit</a:t>
            </a:r>
            <a:endParaRPr b="0" i="0" sz="1100" u="none" cap="none" strike="noStrike">
              <a:solidFill>
                <a:srgbClr val="000000"/>
              </a:solidFill>
              <a:latin typeface="Arial"/>
              <a:ea typeface="Arial"/>
              <a:cs typeface="Arial"/>
              <a:sym typeface="Arial"/>
            </a:endParaRPr>
          </a:p>
        </p:txBody>
      </p:sp>
      <p:sp>
        <p:nvSpPr>
          <p:cNvPr id="547" name="Google Shape;547;p7"/>
          <p:cNvSpPr txBox="1"/>
          <p:nvPr/>
        </p:nvSpPr>
        <p:spPr>
          <a:xfrm>
            <a:off x="5500139" y="3687128"/>
            <a:ext cx="31479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Left of the power peak — 1.0 A/cm² and 0.70 V. Higher current means lower voltage, which means lower efficiency and a shorter stack life.</a:t>
            </a:r>
            <a:endParaRPr b="0" i="0" sz="1100" u="none" cap="none" strike="noStrike">
              <a:solidFill>
                <a:srgbClr val="000000"/>
              </a:solidFill>
              <a:latin typeface="Arial"/>
              <a:ea typeface="Arial"/>
              <a:cs typeface="Arial"/>
              <a:sym typeface="Arial"/>
            </a:endParaRPr>
          </a:p>
        </p:txBody>
      </p:sp>
      <p:sp>
        <p:nvSpPr>
          <p:cNvPr id="548" name="Google Shape;548;p7"/>
          <p:cNvSpPr txBox="1"/>
          <p:nvPr/>
        </p:nvSpPr>
        <p:spPr>
          <a:xfrm>
            <a:off x="342901" y="3840480"/>
            <a:ext cx="48693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Power is the two axes multiplied, so it rises, peaks and collapses. The peak is simply where the falling voltage starts to outweigh the rising current.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8"/>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4</a:t>
            </a:r>
            <a:r>
              <a:rPr b="1" i="0" lang="en" sz="700" u="none" cap="none" strike="noStrike">
                <a:solidFill>
                  <a:srgbClr val="C77A12"/>
                </a:solidFill>
                <a:latin typeface="Arial"/>
                <a:ea typeface="Arial"/>
                <a:cs typeface="Arial"/>
                <a:sym typeface="Arial"/>
              </a:rPr>
              <a:t> · WHAT IT PRODUCES</a:t>
            </a:r>
            <a:endParaRPr b="0" i="0" sz="1100" u="none" cap="none" strike="noStrike">
              <a:solidFill>
                <a:srgbClr val="000000"/>
              </a:solidFill>
              <a:latin typeface="Arial"/>
              <a:ea typeface="Arial"/>
              <a:cs typeface="Arial"/>
              <a:sym typeface="Arial"/>
            </a:endParaRPr>
          </a:p>
        </p:txBody>
      </p:sp>
      <p:sp>
        <p:nvSpPr>
          <p:cNvPr id="555" name="Google Shape;555;p8"/>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What that gives you, in numbers</a:t>
            </a:r>
            <a:endParaRPr b="0" i="0" sz="1100" u="none" cap="none" strike="noStrike">
              <a:solidFill>
                <a:srgbClr val="000000"/>
              </a:solidFill>
              <a:latin typeface="Arial"/>
              <a:ea typeface="Arial"/>
              <a:cs typeface="Arial"/>
              <a:sym typeface="Arial"/>
            </a:endParaRPr>
          </a:p>
        </p:txBody>
      </p:sp>
      <p:sp>
        <p:nvSpPr>
          <p:cNvPr id="556" name="Google Shape;556;p8"/>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Current comes from area, voltage from cell count, and efficiency is just the cell voltage rescaled.</a:t>
            </a:r>
            <a:endParaRPr b="0" i="0" sz="1100" u="none" cap="none" strike="noStrike">
              <a:solidFill>
                <a:srgbClr val="000000"/>
              </a:solidFill>
              <a:latin typeface="Arial"/>
              <a:ea typeface="Arial"/>
              <a:cs typeface="Arial"/>
              <a:sym typeface="Arial"/>
            </a:endParaRPr>
          </a:p>
        </p:txBody>
      </p:sp>
      <p:sp>
        <p:nvSpPr>
          <p:cNvPr id="557" name="Google Shape;557;p8"/>
          <p:cNvSpPr/>
          <p:nvPr/>
        </p:nvSpPr>
        <p:spPr>
          <a:xfrm>
            <a:off x="377192" y="1193292"/>
            <a:ext cx="8389500" cy="726900"/>
          </a:xfrm>
          <a:prstGeom prst="roundRect">
            <a:avLst>
              <a:gd fmla="val 6603" name="adj"/>
            </a:avLst>
          </a:prstGeom>
          <a:solidFill>
            <a:srgbClr val="FDF3E3"/>
          </a:solidFill>
          <a:ln cap="flat" cmpd="sng" w="9525">
            <a:solidFill>
              <a:srgbClr val="F0D7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8" name="Google Shape;558;p8"/>
          <p:cNvSpPr txBox="1"/>
          <p:nvPr/>
        </p:nvSpPr>
        <p:spPr>
          <a:xfrm>
            <a:off x="521210" y="1261872"/>
            <a:ext cx="4114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ONE WORKED EXAMPLE</a:t>
            </a:r>
            <a:endParaRPr b="0" i="0" sz="1100" u="none" cap="none" strike="noStrike">
              <a:solidFill>
                <a:srgbClr val="000000"/>
              </a:solidFill>
              <a:latin typeface="Arial"/>
              <a:ea typeface="Arial"/>
              <a:cs typeface="Arial"/>
              <a:sym typeface="Arial"/>
            </a:endParaRPr>
          </a:p>
        </p:txBody>
      </p:sp>
      <p:sp>
        <p:nvSpPr>
          <p:cNvPr id="559" name="Google Shape;559;p8"/>
          <p:cNvSpPr txBox="1"/>
          <p:nvPr/>
        </p:nvSpPr>
        <p:spPr>
          <a:xfrm>
            <a:off x="521210" y="1453896"/>
            <a:ext cx="23316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Courier New"/>
                <a:ea typeface="Courier New"/>
                <a:cs typeface="Courier New"/>
                <a:sym typeface="Courier New"/>
              </a:rPr>
              <a:t>200 cm²  ×  1.0 A/cm²</a:t>
            </a:r>
            <a:endParaRPr b="0" i="0" sz="1100" u="none" cap="none" strike="noStrike">
              <a:solidFill>
                <a:srgbClr val="000000"/>
              </a:solidFill>
              <a:latin typeface="Arial"/>
              <a:ea typeface="Arial"/>
              <a:cs typeface="Arial"/>
              <a:sym typeface="Arial"/>
            </a:endParaRPr>
          </a:p>
        </p:txBody>
      </p:sp>
      <p:sp>
        <p:nvSpPr>
          <p:cNvPr id="560" name="Google Shape;560;p8"/>
          <p:cNvSpPr txBox="1"/>
          <p:nvPr/>
        </p:nvSpPr>
        <p:spPr>
          <a:xfrm>
            <a:off x="521210" y="1618488"/>
            <a:ext cx="23316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1100"/>
              <a:buFont typeface="Arial"/>
              <a:buNone/>
            </a:pPr>
            <a:r>
              <a:rPr b="1" i="0" lang="en" sz="1100" u="none" cap="none" strike="noStrike">
                <a:solidFill>
                  <a:srgbClr val="C77A12"/>
                </a:solidFill>
                <a:latin typeface="Arial"/>
                <a:ea typeface="Arial"/>
                <a:cs typeface="Arial"/>
                <a:sym typeface="Arial"/>
              </a:rPr>
              <a:t>I  =  200 A</a:t>
            </a:r>
            <a:endParaRPr b="0" i="0" sz="1100" u="none" cap="none" strike="noStrike">
              <a:solidFill>
                <a:srgbClr val="000000"/>
              </a:solidFill>
              <a:latin typeface="Arial"/>
              <a:ea typeface="Arial"/>
              <a:cs typeface="Arial"/>
              <a:sym typeface="Arial"/>
            </a:endParaRPr>
          </a:p>
        </p:txBody>
      </p:sp>
      <p:sp>
        <p:nvSpPr>
          <p:cNvPr id="561" name="Google Shape;561;p8"/>
          <p:cNvSpPr txBox="1"/>
          <p:nvPr/>
        </p:nvSpPr>
        <p:spPr>
          <a:xfrm>
            <a:off x="2270007" y="1577340"/>
            <a:ext cx="10287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8797A1"/>
                </a:solidFill>
                <a:latin typeface="Arial"/>
                <a:ea typeface="Arial"/>
                <a:cs typeface="Arial"/>
                <a:sym typeface="Arial"/>
              </a:rPr>
              <a:t>area sets the current</a:t>
            </a:r>
            <a:endParaRPr b="0" i="0" sz="1100" u="none" cap="none" strike="noStrike">
              <a:solidFill>
                <a:srgbClr val="000000"/>
              </a:solidFill>
              <a:latin typeface="Arial"/>
              <a:ea typeface="Arial"/>
              <a:cs typeface="Arial"/>
              <a:sym typeface="Arial"/>
            </a:endParaRPr>
          </a:p>
        </p:txBody>
      </p:sp>
      <p:sp>
        <p:nvSpPr>
          <p:cNvPr id="562" name="Google Shape;562;p8"/>
          <p:cNvSpPr txBox="1"/>
          <p:nvPr/>
        </p:nvSpPr>
        <p:spPr>
          <a:xfrm>
            <a:off x="3298712" y="1453896"/>
            <a:ext cx="23316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Courier New"/>
                <a:ea typeface="Courier New"/>
                <a:cs typeface="Courier New"/>
                <a:sym typeface="Courier New"/>
              </a:rPr>
              <a:t>400 cells  ×  0.70 V</a:t>
            </a:r>
            <a:endParaRPr b="0" i="0" sz="1100" u="none" cap="none" strike="noStrike">
              <a:solidFill>
                <a:srgbClr val="000000"/>
              </a:solidFill>
              <a:latin typeface="Arial"/>
              <a:ea typeface="Arial"/>
              <a:cs typeface="Arial"/>
              <a:sym typeface="Arial"/>
            </a:endParaRPr>
          </a:p>
        </p:txBody>
      </p:sp>
      <p:sp>
        <p:nvSpPr>
          <p:cNvPr id="563" name="Google Shape;563;p8"/>
          <p:cNvSpPr txBox="1"/>
          <p:nvPr/>
        </p:nvSpPr>
        <p:spPr>
          <a:xfrm>
            <a:off x="3298712" y="1618488"/>
            <a:ext cx="23316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1100"/>
              <a:buFont typeface="Arial"/>
              <a:buNone/>
            </a:pPr>
            <a:r>
              <a:rPr b="1" i="0" lang="en" sz="1100" u="none" cap="none" strike="noStrike">
                <a:solidFill>
                  <a:srgbClr val="C77A12"/>
                </a:solidFill>
                <a:latin typeface="Arial"/>
                <a:ea typeface="Arial"/>
                <a:cs typeface="Arial"/>
                <a:sym typeface="Arial"/>
              </a:rPr>
              <a:t>V  =  280 V</a:t>
            </a:r>
            <a:endParaRPr b="0" i="0" sz="1100" u="none" cap="none" strike="noStrike">
              <a:solidFill>
                <a:srgbClr val="000000"/>
              </a:solidFill>
              <a:latin typeface="Arial"/>
              <a:ea typeface="Arial"/>
              <a:cs typeface="Arial"/>
              <a:sym typeface="Arial"/>
            </a:endParaRPr>
          </a:p>
        </p:txBody>
      </p:sp>
      <p:sp>
        <p:nvSpPr>
          <p:cNvPr id="564" name="Google Shape;564;p8"/>
          <p:cNvSpPr txBox="1"/>
          <p:nvPr/>
        </p:nvSpPr>
        <p:spPr>
          <a:xfrm>
            <a:off x="5047508" y="1577340"/>
            <a:ext cx="10287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8797A1"/>
                </a:solidFill>
                <a:latin typeface="Arial"/>
                <a:ea typeface="Arial"/>
                <a:cs typeface="Arial"/>
                <a:sym typeface="Arial"/>
              </a:rPr>
              <a:t>cell count sets the voltage</a:t>
            </a:r>
            <a:endParaRPr b="0" i="0" sz="1100" u="none" cap="none" strike="noStrike">
              <a:solidFill>
                <a:srgbClr val="000000"/>
              </a:solidFill>
              <a:latin typeface="Arial"/>
              <a:ea typeface="Arial"/>
              <a:cs typeface="Arial"/>
              <a:sym typeface="Arial"/>
            </a:endParaRPr>
          </a:p>
        </p:txBody>
      </p:sp>
      <p:sp>
        <p:nvSpPr>
          <p:cNvPr id="565" name="Google Shape;565;p8"/>
          <p:cNvSpPr txBox="1"/>
          <p:nvPr/>
        </p:nvSpPr>
        <p:spPr>
          <a:xfrm>
            <a:off x="6076212" y="1453896"/>
            <a:ext cx="23316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Courier New"/>
                <a:ea typeface="Courier New"/>
                <a:cs typeface="Courier New"/>
                <a:sym typeface="Courier New"/>
              </a:rPr>
              <a:t>280 V  ×  200 A</a:t>
            </a:r>
            <a:endParaRPr b="0" i="0" sz="1100" u="none" cap="none" strike="noStrike">
              <a:solidFill>
                <a:srgbClr val="000000"/>
              </a:solidFill>
              <a:latin typeface="Arial"/>
              <a:ea typeface="Arial"/>
              <a:cs typeface="Arial"/>
              <a:sym typeface="Arial"/>
            </a:endParaRPr>
          </a:p>
        </p:txBody>
      </p:sp>
      <p:sp>
        <p:nvSpPr>
          <p:cNvPr id="566" name="Google Shape;566;p8"/>
          <p:cNvSpPr txBox="1"/>
          <p:nvPr/>
        </p:nvSpPr>
        <p:spPr>
          <a:xfrm>
            <a:off x="6076212" y="1618488"/>
            <a:ext cx="23316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1100"/>
              <a:buFont typeface="Arial"/>
              <a:buNone/>
            </a:pPr>
            <a:r>
              <a:rPr b="1" i="0" lang="en" sz="1100" u="none" cap="none" strike="noStrike">
                <a:solidFill>
                  <a:srgbClr val="C77A12"/>
                </a:solidFill>
                <a:latin typeface="Arial"/>
                <a:ea typeface="Arial"/>
                <a:cs typeface="Arial"/>
                <a:sym typeface="Arial"/>
              </a:rPr>
              <a:t>P  =  56 kW</a:t>
            </a:r>
            <a:endParaRPr b="0" i="0" sz="1100" u="none" cap="none" strike="noStrike">
              <a:solidFill>
                <a:srgbClr val="000000"/>
              </a:solidFill>
              <a:latin typeface="Arial"/>
              <a:ea typeface="Arial"/>
              <a:cs typeface="Arial"/>
              <a:sym typeface="Arial"/>
            </a:endParaRPr>
          </a:p>
        </p:txBody>
      </p:sp>
      <p:sp>
        <p:nvSpPr>
          <p:cNvPr id="567" name="Google Shape;567;p8"/>
          <p:cNvSpPr txBox="1"/>
          <p:nvPr/>
        </p:nvSpPr>
        <p:spPr>
          <a:xfrm>
            <a:off x="7825010" y="1577340"/>
            <a:ext cx="10287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8797A1"/>
                </a:solidFill>
                <a:latin typeface="Arial"/>
                <a:ea typeface="Arial"/>
                <a:cs typeface="Arial"/>
                <a:sym typeface="Arial"/>
              </a:rPr>
              <a:t>gross stack power</a:t>
            </a:r>
            <a:endParaRPr b="0" i="0" sz="1100" u="none" cap="none" strike="noStrike">
              <a:solidFill>
                <a:srgbClr val="000000"/>
              </a:solidFill>
              <a:latin typeface="Arial"/>
              <a:ea typeface="Arial"/>
              <a:cs typeface="Arial"/>
              <a:sym typeface="Arial"/>
            </a:endParaRPr>
          </a:p>
        </p:txBody>
      </p:sp>
      <p:sp>
        <p:nvSpPr>
          <p:cNvPr id="568" name="Google Shape;568;p8"/>
          <p:cNvSpPr txBox="1"/>
          <p:nvPr/>
        </p:nvSpPr>
        <p:spPr>
          <a:xfrm>
            <a:off x="342901" y="2098548"/>
            <a:ext cx="40806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0E7C86"/>
                </a:solidFill>
                <a:latin typeface="Arial"/>
                <a:ea typeface="Arial"/>
                <a:cs typeface="Arial"/>
                <a:sym typeface="Arial"/>
              </a:rPr>
              <a:t>EFFICIENCY IS TWO NUMBERS DIVIDED</a:t>
            </a:r>
            <a:endParaRPr b="0" i="0" sz="1100" u="none" cap="none" strike="noStrike">
              <a:solidFill>
                <a:srgbClr val="000000"/>
              </a:solidFill>
              <a:latin typeface="Arial"/>
              <a:ea typeface="Arial"/>
              <a:cs typeface="Arial"/>
              <a:sym typeface="Arial"/>
            </a:endParaRPr>
          </a:p>
        </p:txBody>
      </p:sp>
      <p:sp>
        <p:nvSpPr>
          <p:cNvPr id="569" name="Google Shape;569;p8"/>
          <p:cNvSpPr/>
          <p:nvPr/>
        </p:nvSpPr>
        <p:spPr>
          <a:xfrm>
            <a:off x="377192" y="2318004"/>
            <a:ext cx="4080600" cy="411600"/>
          </a:xfrm>
          <a:prstGeom prst="roundRect">
            <a:avLst>
              <a:gd fmla="val 10000" name="adj"/>
            </a:avLst>
          </a:prstGeom>
          <a:solidFill>
            <a:srgbClr val="FDF3E3"/>
          </a:solidFill>
          <a:ln cap="flat" cmpd="sng" w="9525">
            <a:solidFill>
              <a:srgbClr val="F0D7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0" name="Google Shape;570;p8"/>
          <p:cNvSpPr txBox="1"/>
          <p:nvPr/>
        </p:nvSpPr>
        <p:spPr>
          <a:xfrm>
            <a:off x="500636" y="2318004"/>
            <a:ext cx="823200" cy="4116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1100"/>
              <a:buFont typeface="Arial"/>
              <a:buNone/>
            </a:pPr>
            <a:r>
              <a:rPr b="1" i="0" lang="en" sz="1100" u="none" cap="none" strike="noStrike">
                <a:solidFill>
                  <a:srgbClr val="C77A12"/>
                </a:solidFill>
                <a:latin typeface="Arial"/>
                <a:ea typeface="Arial"/>
                <a:cs typeface="Arial"/>
                <a:sym typeface="Arial"/>
              </a:rPr>
              <a:t>1.48 V</a:t>
            </a:r>
            <a:endParaRPr b="0" i="0" sz="1100" u="none" cap="none" strike="noStrike">
              <a:solidFill>
                <a:srgbClr val="000000"/>
              </a:solidFill>
              <a:latin typeface="Arial"/>
              <a:ea typeface="Arial"/>
              <a:cs typeface="Arial"/>
              <a:sym typeface="Arial"/>
            </a:endParaRPr>
          </a:p>
        </p:txBody>
      </p:sp>
      <p:sp>
        <p:nvSpPr>
          <p:cNvPr id="571" name="Google Shape;571;p8"/>
          <p:cNvSpPr txBox="1"/>
          <p:nvPr/>
        </p:nvSpPr>
        <p:spPr>
          <a:xfrm>
            <a:off x="1371605" y="2318004"/>
            <a:ext cx="2949000" cy="4116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if none of the fuel energy became heat</a:t>
            </a:r>
            <a:endParaRPr b="0" i="0" sz="1100" u="none" cap="none" strike="noStrike">
              <a:solidFill>
                <a:srgbClr val="000000"/>
              </a:solidFill>
              <a:latin typeface="Arial"/>
              <a:ea typeface="Arial"/>
              <a:cs typeface="Arial"/>
              <a:sym typeface="Arial"/>
            </a:endParaRPr>
          </a:p>
        </p:txBody>
      </p:sp>
      <p:sp>
        <p:nvSpPr>
          <p:cNvPr id="572" name="Google Shape;572;p8"/>
          <p:cNvSpPr/>
          <p:nvPr/>
        </p:nvSpPr>
        <p:spPr>
          <a:xfrm>
            <a:off x="377192" y="2770632"/>
            <a:ext cx="4080600" cy="411600"/>
          </a:xfrm>
          <a:prstGeom prst="roundRect">
            <a:avLst>
              <a:gd fmla="val 10000" name="adj"/>
            </a:avLst>
          </a:prstGeom>
          <a:solidFill>
            <a:srgbClr val="E6F2F3"/>
          </a:solidFill>
          <a:ln cap="flat" cmpd="sng" w="9525">
            <a:solidFill>
              <a:srgbClr val="C2DE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3" name="Google Shape;573;p8"/>
          <p:cNvSpPr txBox="1"/>
          <p:nvPr/>
        </p:nvSpPr>
        <p:spPr>
          <a:xfrm>
            <a:off x="500636" y="2770632"/>
            <a:ext cx="823200" cy="4116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1100"/>
              <a:buFont typeface="Arial"/>
              <a:buNone/>
            </a:pPr>
            <a:r>
              <a:rPr b="1" i="0" lang="en" sz="1100" u="none" cap="none" strike="noStrike">
                <a:solidFill>
                  <a:srgbClr val="0E7C86"/>
                </a:solidFill>
                <a:latin typeface="Arial"/>
                <a:ea typeface="Arial"/>
                <a:cs typeface="Arial"/>
                <a:sym typeface="Arial"/>
              </a:rPr>
              <a:t>1.23 V</a:t>
            </a:r>
            <a:endParaRPr b="0" i="0" sz="1100" u="none" cap="none" strike="noStrike">
              <a:solidFill>
                <a:srgbClr val="000000"/>
              </a:solidFill>
              <a:latin typeface="Arial"/>
              <a:ea typeface="Arial"/>
              <a:cs typeface="Arial"/>
              <a:sym typeface="Arial"/>
            </a:endParaRPr>
          </a:p>
        </p:txBody>
      </p:sp>
      <p:sp>
        <p:nvSpPr>
          <p:cNvPr id="574" name="Google Shape;574;p8"/>
          <p:cNvSpPr txBox="1"/>
          <p:nvPr/>
        </p:nvSpPr>
        <p:spPr>
          <a:xfrm>
            <a:off x="1371605" y="2770632"/>
            <a:ext cx="2949000" cy="4116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the most that can become electricity</a:t>
            </a:r>
            <a:endParaRPr b="0" i="0" sz="1100" u="none" cap="none" strike="noStrike">
              <a:solidFill>
                <a:srgbClr val="000000"/>
              </a:solidFill>
              <a:latin typeface="Arial"/>
              <a:ea typeface="Arial"/>
              <a:cs typeface="Arial"/>
              <a:sym typeface="Arial"/>
            </a:endParaRPr>
          </a:p>
        </p:txBody>
      </p:sp>
      <p:sp>
        <p:nvSpPr>
          <p:cNvPr id="575" name="Google Shape;575;p8"/>
          <p:cNvSpPr/>
          <p:nvPr/>
        </p:nvSpPr>
        <p:spPr>
          <a:xfrm>
            <a:off x="377192" y="3223260"/>
            <a:ext cx="4080600" cy="411600"/>
          </a:xfrm>
          <a:prstGeom prst="roundRect">
            <a:avLst>
              <a:gd fmla="val 10000"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6" name="Google Shape;576;p8"/>
          <p:cNvSpPr txBox="1"/>
          <p:nvPr/>
        </p:nvSpPr>
        <p:spPr>
          <a:xfrm>
            <a:off x="500636" y="3223260"/>
            <a:ext cx="823200" cy="4116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1100"/>
              <a:buFont typeface="Arial"/>
              <a:buNone/>
            </a:pPr>
            <a:r>
              <a:rPr b="1" i="0" lang="en" sz="1100" u="none" cap="none" strike="noStrike">
                <a:solidFill>
                  <a:srgbClr val="1F6FA8"/>
                </a:solidFill>
                <a:latin typeface="Arial"/>
                <a:ea typeface="Arial"/>
                <a:cs typeface="Arial"/>
                <a:sym typeface="Arial"/>
              </a:rPr>
              <a:t>0.70 V</a:t>
            </a:r>
            <a:endParaRPr b="0" i="0" sz="1100" u="none" cap="none" strike="noStrike">
              <a:solidFill>
                <a:srgbClr val="000000"/>
              </a:solidFill>
              <a:latin typeface="Arial"/>
              <a:ea typeface="Arial"/>
              <a:cs typeface="Arial"/>
              <a:sym typeface="Arial"/>
            </a:endParaRPr>
          </a:p>
        </p:txBody>
      </p:sp>
      <p:sp>
        <p:nvSpPr>
          <p:cNvPr id="577" name="Google Shape;577;p8"/>
          <p:cNvSpPr txBox="1"/>
          <p:nvPr/>
        </p:nvSpPr>
        <p:spPr>
          <a:xfrm>
            <a:off x="1371605" y="3223260"/>
            <a:ext cx="2949000" cy="4116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what the cell actually gives, from the curve</a:t>
            </a:r>
            <a:endParaRPr b="0" i="0" sz="1100" u="none" cap="none" strike="noStrike">
              <a:solidFill>
                <a:srgbClr val="000000"/>
              </a:solidFill>
              <a:latin typeface="Arial"/>
              <a:ea typeface="Arial"/>
              <a:cs typeface="Arial"/>
              <a:sym typeface="Arial"/>
            </a:endParaRPr>
          </a:p>
        </p:txBody>
      </p:sp>
      <p:sp>
        <p:nvSpPr>
          <p:cNvPr id="578" name="Google Shape;578;p8"/>
          <p:cNvSpPr/>
          <p:nvPr/>
        </p:nvSpPr>
        <p:spPr>
          <a:xfrm>
            <a:off x="377192" y="3675888"/>
            <a:ext cx="4080600" cy="438900"/>
          </a:xfrm>
          <a:prstGeom prst="roundRect">
            <a:avLst>
              <a:gd fmla="val 9375" name="adj"/>
            </a:avLst>
          </a:prstGeom>
          <a:solidFill>
            <a:srgbClr val="1430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9" name="Google Shape;579;p8"/>
          <p:cNvSpPr txBox="1"/>
          <p:nvPr/>
        </p:nvSpPr>
        <p:spPr>
          <a:xfrm>
            <a:off x="480062" y="3675888"/>
            <a:ext cx="3840600" cy="4389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1000"/>
              <a:buFont typeface="Arial"/>
              <a:buNone/>
            </a:pPr>
            <a:r>
              <a:rPr b="0" i="0" lang="en" sz="1000" u="none" cap="none" strike="noStrike">
                <a:solidFill>
                  <a:srgbClr val="FFFFFF"/>
                </a:solidFill>
                <a:latin typeface="Courier New"/>
                <a:ea typeface="Courier New"/>
                <a:cs typeface="Courier New"/>
                <a:sym typeface="Courier New"/>
              </a:rPr>
              <a:t>0.70 / 1.48  =  47 %</a:t>
            </a:r>
            <a:endParaRPr b="0" i="0" sz="1100" u="none" cap="none" strike="noStrike">
              <a:solidFill>
                <a:srgbClr val="000000"/>
              </a:solidFill>
              <a:latin typeface="Arial"/>
              <a:ea typeface="Arial"/>
              <a:cs typeface="Arial"/>
              <a:sym typeface="Arial"/>
            </a:endParaRPr>
          </a:p>
        </p:txBody>
      </p:sp>
      <p:sp>
        <p:nvSpPr>
          <p:cNvPr id="580" name="Google Shape;580;p8"/>
          <p:cNvSpPr txBox="1"/>
          <p:nvPr/>
        </p:nvSpPr>
        <p:spPr>
          <a:xfrm>
            <a:off x="4649743" y="2098548"/>
            <a:ext cx="40806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WHERE 119 KW OF HYDROGEN GOES</a:t>
            </a:r>
            <a:endParaRPr b="0" i="0" sz="1100" u="none" cap="none" strike="noStrike">
              <a:solidFill>
                <a:srgbClr val="000000"/>
              </a:solidFill>
              <a:latin typeface="Arial"/>
              <a:ea typeface="Arial"/>
              <a:cs typeface="Arial"/>
              <a:sym typeface="Arial"/>
            </a:endParaRPr>
          </a:p>
        </p:txBody>
      </p:sp>
      <p:sp>
        <p:nvSpPr>
          <p:cNvPr id="581" name="Google Shape;581;p8"/>
          <p:cNvSpPr/>
          <p:nvPr/>
        </p:nvSpPr>
        <p:spPr>
          <a:xfrm>
            <a:off x="4684033" y="2318004"/>
            <a:ext cx="4080600" cy="411600"/>
          </a:xfrm>
          <a:prstGeom prst="roundRect">
            <a:avLst>
              <a:gd fmla="val 10000" name="adj"/>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2" name="Google Shape;582;p8"/>
          <p:cNvSpPr/>
          <p:nvPr/>
        </p:nvSpPr>
        <p:spPr>
          <a:xfrm>
            <a:off x="4684033" y="2318004"/>
            <a:ext cx="4080600" cy="54900"/>
          </a:xfrm>
          <a:prstGeom prst="roundRect">
            <a:avLst>
              <a:gd fmla="val 37500" name="adj"/>
            </a:avLst>
          </a:prstGeom>
          <a:solidFill>
            <a:srgbClr val="C77A1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3" name="Google Shape;583;p8"/>
          <p:cNvSpPr txBox="1"/>
          <p:nvPr/>
        </p:nvSpPr>
        <p:spPr>
          <a:xfrm>
            <a:off x="4773188" y="2345436"/>
            <a:ext cx="2331600" cy="384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C77A12"/>
                </a:solidFill>
                <a:latin typeface="Arial"/>
                <a:ea typeface="Arial"/>
                <a:cs typeface="Arial"/>
                <a:sym typeface="Arial"/>
              </a:rPr>
              <a:t>Fuel in</a:t>
            </a:r>
            <a:endParaRPr b="0" i="0" sz="1100" u="none" cap="none" strike="noStrike">
              <a:solidFill>
                <a:srgbClr val="000000"/>
              </a:solidFill>
              <a:latin typeface="Arial"/>
              <a:ea typeface="Arial"/>
              <a:cs typeface="Arial"/>
              <a:sym typeface="Arial"/>
            </a:endParaRPr>
          </a:p>
        </p:txBody>
      </p:sp>
      <p:sp>
        <p:nvSpPr>
          <p:cNvPr id="584" name="Google Shape;584;p8"/>
          <p:cNvSpPr txBox="1"/>
          <p:nvPr/>
        </p:nvSpPr>
        <p:spPr>
          <a:xfrm>
            <a:off x="7680992" y="2345436"/>
            <a:ext cx="973800" cy="384000"/>
          </a:xfrm>
          <a:prstGeom prst="rect">
            <a:avLst/>
          </a:prstGeom>
          <a:noFill/>
          <a:ln>
            <a:noFill/>
          </a:ln>
        </p:spPr>
        <p:txBody>
          <a:bodyPr anchorCtr="0" anchor="ctr" bIns="34275" lIns="34275" spcFirstLastPara="1" rIns="34275" wrap="square" tIns="34275">
            <a:noAutofit/>
          </a:bodyPr>
          <a:lstStyle/>
          <a:p>
            <a:pPr indent="0" lvl="0" marL="0" marR="0" rtl="0" algn="r">
              <a:lnSpc>
                <a:spcPct val="101666"/>
              </a:lnSpc>
              <a:spcBef>
                <a:spcPts val="0"/>
              </a:spcBef>
              <a:spcAft>
                <a:spcPts val="0"/>
              </a:spcAft>
              <a:buClr>
                <a:srgbClr val="000000"/>
              </a:buClr>
              <a:buSzPts val="1000"/>
              <a:buFont typeface="Arial"/>
              <a:buNone/>
            </a:pPr>
            <a:r>
              <a:rPr b="1" i="0" lang="en" sz="1000" u="none" cap="none" strike="noStrike">
                <a:solidFill>
                  <a:srgbClr val="C77A12"/>
                </a:solidFill>
                <a:latin typeface="Arial"/>
                <a:ea typeface="Arial"/>
                <a:cs typeface="Arial"/>
                <a:sym typeface="Arial"/>
              </a:rPr>
              <a:t>119 kW</a:t>
            </a:r>
            <a:endParaRPr b="0" i="0" sz="1100" u="none" cap="none" strike="noStrike">
              <a:solidFill>
                <a:srgbClr val="000000"/>
              </a:solidFill>
              <a:latin typeface="Arial"/>
              <a:ea typeface="Arial"/>
              <a:cs typeface="Arial"/>
              <a:sym typeface="Arial"/>
            </a:endParaRPr>
          </a:p>
        </p:txBody>
      </p:sp>
      <p:sp>
        <p:nvSpPr>
          <p:cNvPr id="585" name="Google Shape;585;p8"/>
          <p:cNvSpPr/>
          <p:nvPr/>
        </p:nvSpPr>
        <p:spPr>
          <a:xfrm>
            <a:off x="4684033" y="2770632"/>
            <a:ext cx="4080600" cy="411600"/>
          </a:xfrm>
          <a:prstGeom prst="roundRect">
            <a:avLst>
              <a:gd fmla="val 10000" name="adj"/>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6" name="Google Shape;586;p8"/>
          <p:cNvSpPr/>
          <p:nvPr/>
        </p:nvSpPr>
        <p:spPr>
          <a:xfrm>
            <a:off x="4684033" y="2770632"/>
            <a:ext cx="1917900" cy="54900"/>
          </a:xfrm>
          <a:prstGeom prst="roundRect">
            <a:avLst>
              <a:gd fmla="val 37500" name="adj"/>
            </a:avLst>
          </a:prstGeom>
          <a:solidFill>
            <a:srgbClr val="1F6FA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7" name="Google Shape;587;p8"/>
          <p:cNvSpPr txBox="1"/>
          <p:nvPr/>
        </p:nvSpPr>
        <p:spPr>
          <a:xfrm>
            <a:off x="4773188" y="2798064"/>
            <a:ext cx="2331600" cy="384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F6FA8"/>
                </a:solidFill>
                <a:latin typeface="Arial"/>
                <a:ea typeface="Arial"/>
                <a:cs typeface="Arial"/>
                <a:sym typeface="Arial"/>
              </a:rPr>
              <a:t>Electricity</a:t>
            </a:r>
            <a:endParaRPr b="0" i="0" sz="1100" u="none" cap="none" strike="noStrike">
              <a:solidFill>
                <a:srgbClr val="000000"/>
              </a:solidFill>
              <a:latin typeface="Arial"/>
              <a:ea typeface="Arial"/>
              <a:cs typeface="Arial"/>
              <a:sym typeface="Arial"/>
            </a:endParaRPr>
          </a:p>
        </p:txBody>
      </p:sp>
      <p:sp>
        <p:nvSpPr>
          <p:cNvPr id="588" name="Google Shape;588;p8"/>
          <p:cNvSpPr txBox="1"/>
          <p:nvPr/>
        </p:nvSpPr>
        <p:spPr>
          <a:xfrm>
            <a:off x="7680992" y="2798064"/>
            <a:ext cx="973800" cy="384000"/>
          </a:xfrm>
          <a:prstGeom prst="rect">
            <a:avLst/>
          </a:prstGeom>
          <a:noFill/>
          <a:ln>
            <a:noFill/>
          </a:ln>
        </p:spPr>
        <p:txBody>
          <a:bodyPr anchorCtr="0" anchor="ctr" bIns="34275" lIns="34275" spcFirstLastPara="1" rIns="34275" wrap="square" tIns="34275">
            <a:noAutofit/>
          </a:bodyPr>
          <a:lstStyle/>
          <a:p>
            <a:pPr indent="0" lvl="0" marL="0" marR="0" rtl="0" algn="r">
              <a:lnSpc>
                <a:spcPct val="101666"/>
              </a:lnSpc>
              <a:spcBef>
                <a:spcPts val="0"/>
              </a:spcBef>
              <a:spcAft>
                <a:spcPts val="0"/>
              </a:spcAft>
              <a:buClr>
                <a:srgbClr val="000000"/>
              </a:buClr>
              <a:buSzPts val="1000"/>
              <a:buFont typeface="Arial"/>
              <a:buNone/>
            </a:pPr>
            <a:r>
              <a:rPr b="1" i="0" lang="en" sz="1000" u="none" cap="none" strike="noStrike">
                <a:solidFill>
                  <a:srgbClr val="1F6FA8"/>
                </a:solidFill>
                <a:latin typeface="Arial"/>
                <a:ea typeface="Arial"/>
                <a:cs typeface="Arial"/>
                <a:sym typeface="Arial"/>
              </a:rPr>
              <a:t>56 kW</a:t>
            </a:r>
            <a:endParaRPr b="0" i="0" sz="1100" u="none" cap="none" strike="noStrike">
              <a:solidFill>
                <a:srgbClr val="000000"/>
              </a:solidFill>
              <a:latin typeface="Arial"/>
              <a:ea typeface="Arial"/>
              <a:cs typeface="Arial"/>
              <a:sym typeface="Arial"/>
            </a:endParaRPr>
          </a:p>
        </p:txBody>
      </p:sp>
      <p:sp>
        <p:nvSpPr>
          <p:cNvPr id="589" name="Google Shape;589;p8"/>
          <p:cNvSpPr/>
          <p:nvPr/>
        </p:nvSpPr>
        <p:spPr>
          <a:xfrm>
            <a:off x="4684033" y="3223260"/>
            <a:ext cx="4080600" cy="411600"/>
          </a:xfrm>
          <a:prstGeom prst="roundRect">
            <a:avLst>
              <a:gd fmla="val 10000" name="adj"/>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0" name="Google Shape;590;p8"/>
          <p:cNvSpPr/>
          <p:nvPr/>
        </p:nvSpPr>
        <p:spPr>
          <a:xfrm>
            <a:off x="4684033" y="3223260"/>
            <a:ext cx="2162700" cy="54900"/>
          </a:xfrm>
          <a:prstGeom prst="roundRect">
            <a:avLst>
              <a:gd fmla="val 37500" name="adj"/>
            </a:avLst>
          </a:prstGeom>
          <a:solidFill>
            <a:srgbClr val="B5342A"/>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1" name="Google Shape;591;p8"/>
          <p:cNvSpPr txBox="1"/>
          <p:nvPr/>
        </p:nvSpPr>
        <p:spPr>
          <a:xfrm>
            <a:off x="4773188" y="3250692"/>
            <a:ext cx="2331600" cy="3840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Heat</a:t>
            </a:r>
            <a:endParaRPr b="0" i="0" sz="1100" u="none" cap="none" strike="noStrike">
              <a:solidFill>
                <a:srgbClr val="000000"/>
              </a:solidFill>
              <a:latin typeface="Arial"/>
              <a:ea typeface="Arial"/>
              <a:cs typeface="Arial"/>
              <a:sym typeface="Arial"/>
            </a:endParaRPr>
          </a:p>
        </p:txBody>
      </p:sp>
      <p:sp>
        <p:nvSpPr>
          <p:cNvPr id="592" name="Google Shape;592;p8"/>
          <p:cNvSpPr txBox="1"/>
          <p:nvPr/>
        </p:nvSpPr>
        <p:spPr>
          <a:xfrm>
            <a:off x="7680992" y="3250692"/>
            <a:ext cx="973800" cy="384000"/>
          </a:xfrm>
          <a:prstGeom prst="rect">
            <a:avLst/>
          </a:prstGeom>
          <a:noFill/>
          <a:ln>
            <a:noFill/>
          </a:ln>
        </p:spPr>
        <p:txBody>
          <a:bodyPr anchorCtr="0" anchor="ctr" bIns="34275" lIns="34275" spcFirstLastPara="1" rIns="34275" wrap="square" tIns="34275">
            <a:noAutofit/>
          </a:bodyPr>
          <a:lstStyle/>
          <a:p>
            <a:pPr indent="0" lvl="0" marL="0" marR="0" rtl="0" algn="r">
              <a:lnSpc>
                <a:spcPct val="101666"/>
              </a:lnSpc>
              <a:spcBef>
                <a:spcPts val="0"/>
              </a:spcBef>
              <a:spcAft>
                <a:spcPts val="0"/>
              </a:spcAft>
              <a:buClr>
                <a:srgbClr val="000000"/>
              </a:buClr>
              <a:buSzPts val="1000"/>
              <a:buFont typeface="Arial"/>
              <a:buNone/>
            </a:pPr>
            <a:r>
              <a:rPr b="1" i="0" lang="en" sz="1000" u="none" cap="none" strike="noStrike">
                <a:solidFill>
                  <a:srgbClr val="B5342A"/>
                </a:solidFill>
                <a:latin typeface="Arial"/>
                <a:ea typeface="Arial"/>
                <a:cs typeface="Arial"/>
                <a:sym typeface="Arial"/>
              </a:rPr>
              <a:t>63 kW</a:t>
            </a:r>
            <a:endParaRPr b="0" i="0" sz="1100" u="none" cap="none" strike="noStrike">
              <a:solidFill>
                <a:srgbClr val="000000"/>
              </a:solidFill>
              <a:latin typeface="Arial"/>
              <a:ea typeface="Arial"/>
              <a:cs typeface="Arial"/>
              <a:sym typeface="Arial"/>
            </a:endParaRPr>
          </a:p>
        </p:txBody>
      </p:sp>
      <p:sp>
        <p:nvSpPr>
          <p:cNvPr id="593" name="Google Shape;593;p8"/>
          <p:cNvSpPr/>
          <p:nvPr/>
        </p:nvSpPr>
        <p:spPr>
          <a:xfrm>
            <a:off x="4684033" y="3675888"/>
            <a:ext cx="4080600" cy="438900"/>
          </a:xfrm>
          <a:prstGeom prst="roundRect">
            <a:avLst>
              <a:gd fmla="val 9375"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4" name="Google Shape;594;p8"/>
          <p:cNvSpPr txBox="1"/>
          <p:nvPr/>
        </p:nvSpPr>
        <p:spPr>
          <a:xfrm>
            <a:off x="4773188" y="3675888"/>
            <a:ext cx="3840600" cy="438900"/>
          </a:xfrm>
          <a:prstGeom prst="rect">
            <a:avLst/>
          </a:prstGeom>
          <a:noFill/>
          <a:ln>
            <a:noFill/>
          </a:ln>
        </p:spPr>
        <p:txBody>
          <a:bodyPr anchorCtr="0" anchor="ctr"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More heat than electricity — and at only 60–80 °C</a:t>
            </a:r>
            <a:endParaRPr b="0" i="0" sz="1100" u="none" cap="none" strike="noStrike">
              <a:solidFill>
                <a:srgbClr val="000000"/>
              </a:solidFill>
              <a:latin typeface="Arial"/>
              <a:ea typeface="Arial"/>
              <a:cs typeface="Arial"/>
              <a:sym typeface="Arial"/>
            </a:endParaRPr>
          </a:p>
        </p:txBody>
      </p:sp>
      <p:sp>
        <p:nvSpPr>
          <p:cNvPr id="595" name="Google Shape;595;p8"/>
          <p:cNvSpPr txBox="1"/>
          <p:nvPr/>
        </p:nvSpPr>
        <p:spPr>
          <a:xfrm>
            <a:off x="342901" y="4251960"/>
            <a:ext cx="83895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5A6B75"/>
                </a:solidFill>
                <a:latin typeface="Arial"/>
                <a:ea typeface="Arial"/>
                <a:cs typeface="Arial"/>
                <a:sym typeface="Arial"/>
              </a:rPr>
              <a:t>No Carnot limit, but 1.23 / 1.48 = 83 % is still a hard ceiling, and the curve takes the rest. Figures are illustrative.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9"/>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5</a:t>
            </a:r>
            <a:r>
              <a:rPr b="1" i="0" lang="en" sz="700" u="none" cap="none" strike="noStrike">
                <a:solidFill>
                  <a:srgbClr val="C77A12"/>
                </a:solidFill>
                <a:latin typeface="Arial"/>
                <a:ea typeface="Arial"/>
                <a:cs typeface="Arial"/>
                <a:sym typeface="Arial"/>
              </a:rPr>
              <a:t> · THE SYSTEM</a:t>
            </a:r>
            <a:endParaRPr b="0" i="0" sz="1100" u="none" cap="none" strike="noStrike">
              <a:solidFill>
                <a:srgbClr val="000000"/>
              </a:solidFill>
              <a:latin typeface="Arial"/>
              <a:ea typeface="Arial"/>
              <a:cs typeface="Arial"/>
              <a:sym typeface="Arial"/>
            </a:endParaRPr>
          </a:p>
        </p:txBody>
      </p:sp>
      <p:sp>
        <p:nvSpPr>
          <p:cNvPr id="602" name="Google Shape;602;p9"/>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A stack is not a system</a:t>
            </a:r>
            <a:endParaRPr b="0" i="0" sz="1100" u="none" cap="none" strike="noStrike">
              <a:solidFill>
                <a:srgbClr val="000000"/>
              </a:solidFill>
              <a:latin typeface="Arial"/>
              <a:ea typeface="Arial"/>
              <a:cs typeface="Arial"/>
              <a:sym typeface="Arial"/>
            </a:endParaRPr>
          </a:p>
        </p:txBody>
      </p:sp>
      <p:sp>
        <p:nvSpPr>
          <p:cNvPr id="603" name="Google Shape;603;p9"/>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Auxiliaries take a share of the power, the electronics condition the rest, and a controller supervises all of it.</a:t>
            </a:r>
            <a:endParaRPr b="0" i="0" sz="1100" u="none" cap="none" strike="noStrike">
              <a:solidFill>
                <a:srgbClr val="000000"/>
              </a:solidFill>
              <a:latin typeface="Arial"/>
              <a:ea typeface="Arial"/>
              <a:cs typeface="Arial"/>
              <a:sym typeface="Arial"/>
            </a:endParaRPr>
          </a:p>
        </p:txBody>
      </p:sp>
      <p:sp>
        <p:nvSpPr>
          <p:cNvPr id="604" name="Google Shape;604;p9"/>
          <p:cNvSpPr/>
          <p:nvPr/>
        </p:nvSpPr>
        <p:spPr>
          <a:xfrm>
            <a:off x="377192" y="1193292"/>
            <a:ext cx="1529400" cy="562200"/>
          </a:xfrm>
          <a:prstGeom prst="roundRect">
            <a:avLst>
              <a:gd fmla="val 7317" name="adj"/>
            </a:avLst>
          </a:prstGeom>
          <a:solidFill>
            <a:srgbClr val="FFFFFF"/>
          </a:solidFill>
          <a:ln cap="flat" cmpd="sng" w="14300">
            <a:solidFill>
              <a:srgbClr val="0E7C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5" name="Google Shape;605;p9"/>
          <p:cNvSpPr txBox="1"/>
          <p:nvPr/>
        </p:nvSpPr>
        <p:spPr>
          <a:xfrm>
            <a:off x="432056" y="1296543"/>
            <a:ext cx="1419600" cy="1965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800"/>
              <a:buFont typeface="Arial"/>
              <a:buNone/>
            </a:pPr>
            <a:r>
              <a:rPr b="1" i="0" lang="en" sz="800" u="none" cap="none" strike="noStrike">
                <a:solidFill>
                  <a:srgbClr val="0E7C86"/>
                </a:solidFill>
                <a:latin typeface="Arial"/>
                <a:ea typeface="Arial"/>
                <a:cs typeface="Arial"/>
                <a:sym typeface="Arial"/>
              </a:rPr>
              <a:t>PEMFC stack</a:t>
            </a:r>
            <a:endParaRPr b="0" i="0" sz="1100" u="none" cap="none" strike="noStrike">
              <a:solidFill>
                <a:srgbClr val="000000"/>
              </a:solidFill>
              <a:latin typeface="Arial"/>
              <a:ea typeface="Arial"/>
              <a:cs typeface="Arial"/>
              <a:sym typeface="Arial"/>
            </a:endParaRPr>
          </a:p>
        </p:txBody>
      </p:sp>
      <p:sp>
        <p:nvSpPr>
          <p:cNvPr id="606" name="Google Shape;606;p9"/>
          <p:cNvSpPr txBox="1"/>
          <p:nvPr/>
        </p:nvSpPr>
        <p:spPr>
          <a:xfrm>
            <a:off x="432056" y="1479233"/>
            <a:ext cx="1419600" cy="1734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variable DC</a:t>
            </a:r>
            <a:endParaRPr b="0" i="0" sz="1100" u="none" cap="none" strike="noStrike">
              <a:solidFill>
                <a:srgbClr val="000000"/>
              </a:solidFill>
              <a:latin typeface="Arial"/>
              <a:ea typeface="Arial"/>
              <a:cs typeface="Arial"/>
              <a:sym typeface="Arial"/>
            </a:endParaRPr>
          </a:p>
        </p:txBody>
      </p:sp>
      <p:cxnSp>
        <p:nvCxnSpPr>
          <p:cNvPr id="607" name="Google Shape;607;p9"/>
          <p:cNvCxnSpPr/>
          <p:nvPr/>
        </p:nvCxnSpPr>
        <p:spPr>
          <a:xfrm>
            <a:off x="1933964" y="1474470"/>
            <a:ext cx="130200" cy="0"/>
          </a:xfrm>
          <a:prstGeom prst="straightConnector1">
            <a:avLst/>
          </a:prstGeom>
          <a:noFill/>
          <a:ln cap="flat" cmpd="sng" w="14300">
            <a:solidFill>
              <a:srgbClr val="8A99A5"/>
            </a:solidFill>
            <a:prstDash val="solid"/>
            <a:round/>
            <a:headEnd len="sm" w="sm" type="none"/>
            <a:tailEnd len="med" w="med" type="triangle"/>
          </a:ln>
          <a:effectLst>
            <a:outerShdw blurRad="30000" rotWithShape="0" dir="5400000" dist="15000">
              <a:srgbClr val="000000">
                <a:alpha val="38039"/>
              </a:srgbClr>
            </a:outerShdw>
          </a:effectLst>
        </p:spPr>
      </p:cxnSp>
      <p:sp>
        <p:nvSpPr>
          <p:cNvPr id="608" name="Google Shape;608;p9"/>
          <p:cNvSpPr/>
          <p:nvPr/>
        </p:nvSpPr>
        <p:spPr>
          <a:xfrm>
            <a:off x="2091699" y="1193292"/>
            <a:ext cx="1529400" cy="562200"/>
          </a:xfrm>
          <a:prstGeom prst="roundRect">
            <a:avLst>
              <a:gd fmla="val 7317" name="adj"/>
            </a:avLst>
          </a:prstGeom>
          <a:solidFill>
            <a:srgbClr val="FFFFFF"/>
          </a:solidFill>
          <a:ln cap="flat" cmpd="sng" w="14300">
            <a:solidFill>
              <a:srgbClr val="1F6F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9" name="Google Shape;609;p9"/>
          <p:cNvSpPr txBox="1"/>
          <p:nvPr/>
        </p:nvSpPr>
        <p:spPr>
          <a:xfrm>
            <a:off x="2146563" y="1296543"/>
            <a:ext cx="1419600" cy="1965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800"/>
              <a:buFont typeface="Arial"/>
              <a:buNone/>
            </a:pPr>
            <a:r>
              <a:rPr b="1" i="0" lang="en" sz="800" u="none" cap="none" strike="noStrike">
                <a:solidFill>
                  <a:srgbClr val="1F6FA8"/>
                </a:solidFill>
                <a:latin typeface="Arial"/>
                <a:ea typeface="Arial"/>
                <a:cs typeface="Arial"/>
                <a:sym typeface="Arial"/>
              </a:rPr>
              <a:t>DC-DC</a:t>
            </a:r>
            <a:endParaRPr b="0" i="0" sz="1100" u="none" cap="none" strike="noStrike">
              <a:solidFill>
                <a:srgbClr val="000000"/>
              </a:solidFill>
              <a:latin typeface="Arial"/>
              <a:ea typeface="Arial"/>
              <a:cs typeface="Arial"/>
              <a:sym typeface="Arial"/>
            </a:endParaRPr>
          </a:p>
        </p:txBody>
      </p:sp>
      <p:sp>
        <p:nvSpPr>
          <p:cNvPr id="610" name="Google Shape;610;p9"/>
          <p:cNvSpPr txBox="1"/>
          <p:nvPr/>
        </p:nvSpPr>
        <p:spPr>
          <a:xfrm>
            <a:off x="2146563" y="1479233"/>
            <a:ext cx="1419600" cy="1734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regulated</a:t>
            </a:r>
            <a:endParaRPr b="0" i="0" sz="1100" u="none" cap="none" strike="noStrike">
              <a:solidFill>
                <a:srgbClr val="000000"/>
              </a:solidFill>
              <a:latin typeface="Arial"/>
              <a:ea typeface="Arial"/>
              <a:cs typeface="Arial"/>
              <a:sym typeface="Arial"/>
            </a:endParaRPr>
          </a:p>
        </p:txBody>
      </p:sp>
      <p:cxnSp>
        <p:nvCxnSpPr>
          <p:cNvPr id="611" name="Google Shape;611;p9"/>
          <p:cNvCxnSpPr/>
          <p:nvPr/>
        </p:nvCxnSpPr>
        <p:spPr>
          <a:xfrm>
            <a:off x="3648470" y="1474470"/>
            <a:ext cx="130200" cy="0"/>
          </a:xfrm>
          <a:prstGeom prst="straightConnector1">
            <a:avLst/>
          </a:prstGeom>
          <a:noFill/>
          <a:ln cap="flat" cmpd="sng" w="14300">
            <a:solidFill>
              <a:srgbClr val="8A99A5"/>
            </a:solidFill>
            <a:prstDash val="solid"/>
            <a:round/>
            <a:headEnd len="sm" w="sm" type="none"/>
            <a:tailEnd len="med" w="med" type="triangle"/>
          </a:ln>
          <a:effectLst>
            <a:outerShdw blurRad="30000" rotWithShape="0" dir="5400000" dist="15000">
              <a:srgbClr val="000000">
                <a:alpha val="38039"/>
              </a:srgbClr>
            </a:outerShdw>
          </a:effectLst>
        </p:spPr>
      </p:cxnSp>
      <p:sp>
        <p:nvSpPr>
          <p:cNvPr id="612" name="Google Shape;612;p9"/>
          <p:cNvSpPr/>
          <p:nvPr/>
        </p:nvSpPr>
        <p:spPr>
          <a:xfrm>
            <a:off x="3806206" y="1193292"/>
            <a:ext cx="1529400" cy="562200"/>
          </a:xfrm>
          <a:prstGeom prst="roundRect">
            <a:avLst>
              <a:gd fmla="val 7317" name="adj"/>
            </a:avLst>
          </a:prstGeom>
          <a:solidFill>
            <a:srgbClr val="FFFFFF"/>
          </a:solidFill>
          <a:ln cap="flat" cmpd="sng" w="14300">
            <a:solidFill>
              <a:srgbClr val="2E7D5B"/>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3" name="Google Shape;613;p9"/>
          <p:cNvSpPr txBox="1"/>
          <p:nvPr/>
        </p:nvSpPr>
        <p:spPr>
          <a:xfrm>
            <a:off x="3861070" y="1296543"/>
            <a:ext cx="1419600" cy="1965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800"/>
              <a:buFont typeface="Arial"/>
              <a:buNone/>
            </a:pPr>
            <a:r>
              <a:rPr b="1" i="0" lang="en" sz="800" u="none" cap="none" strike="noStrike">
                <a:solidFill>
                  <a:srgbClr val="2E7D5B"/>
                </a:solidFill>
                <a:latin typeface="Arial"/>
                <a:ea typeface="Arial"/>
                <a:cs typeface="Arial"/>
                <a:sym typeface="Arial"/>
              </a:rPr>
              <a:t>Battery</a:t>
            </a:r>
            <a:endParaRPr b="0" i="0" sz="1100" u="none" cap="none" strike="noStrike">
              <a:solidFill>
                <a:srgbClr val="000000"/>
              </a:solidFill>
              <a:latin typeface="Arial"/>
              <a:ea typeface="Arial"/>
              <a:cs typeface="Arial"/>
              <a:sym typeface="Arial"/>
            </a:endParaRPr>
          </a:p>
        </p:txBody>
      </p:sp>
      <p:sp>
        <p:nvSpPr>
          <p:cNvPr id="614" name="Google Shape;614;p9"/>
          <p:cNvSpPr txBox="1"/>
          <p:nvPr/>
        </p:nvSpPr>
        <p:spPr>
          <a:xfrm>
            <a:off x="3861070" y="1479233"/>
            <a:ext cx="1419600" cy="1734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transients</a:t>
            </a:r>
            <a:endParaRPr b="0" i="0" sz="1100" u="none" cap="none" strike="noStrike">
              <a:solidFill>
                <a:srgbClr val="000000"/>
              </a:solidFill>
              <a:latin typeface="Arial"/>
              <a:ea typeface="Arial"/>
              <a:cs typeface="Arial"/>
              <a:sym typeface="Arial"/>
            </a:endParaRPr>
          </a:p>
        </p:txBody>
      </p:sp>
      <p:cxnSp>
        <p:nvCxnSpPr>
          <p:cNvPr id="615" name="Google Shape;615;p9"/>
          <p:cNvCxnSpPr/>
          <p:nvPr/>
        </p:nvCxnSpPr>
        <p:spPr>
          <a:xfrm>
            <a:off x="5362977" y="1474470"/>
            <a:ext cx="130200" cy="0"/>
          </a:xfrm>
          <a:prstGeom prst="straightConnector1">
            <a:avLst/>
          </a:prstGeom>
          <a:noFill/>
          <a:ln cap="flat" cmpd="sng" w="14300">
            <a:solidFill>
              <a:srgbClr val="8A99A5"/>
            </a:solidFill>
            <a:prstDash val="solid"/>
            <a:round/>
            <a:headEnd len="sm" w="sm" type="none"/>
            <a:tailEnd len="med" w="med" type="triangle"/>
          </a:ln>
          <a:effectLst>
            <a:outerShdw blurRad="30000" rotWithShape="0" dir="5400000" dist="15000">
              <a:srgbClr val="000000">
                <a:alpha val="38039"/>
              </a:srgbClr>
            </a:outerShdw>
          </a:effectLst>
        </p:spPr>
      </p:cxnSp>
      <p:sp>
        <p:nvSpPr>
          <p:cNvPr id="616" name="Google Shape;616;p9"/>
          <p:cNvSpPr/>
          <p:nvPr/>
        </p:nvSpPr>
        <p:spPr>
          <a:xfrm>
            <a:off x="5520713" y="1193292"/>
            <a:ext cx="1529400" cy="562200"/>
          </a:xfrm>
          <a:prstGeom prst="roundRect">
            <a:avLst>
              <a:gd fmla="val 7317" name="adj"/>
            </a:avLst>
          </a:prstGeom>
          <a:solidFill>
            <a:srgbClr val="FFFFFF"/>
          </a:solidFill>
          <a:ln cap="flat" cmpd="sng" w="14300">
            <a:solidFill>
              <a:srgbClr val="1F6F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7" name="Google Shape;617;p9"/>
          <p:cNvSpPr txBox="1"/>
          <p:nvPr/>
        </p:nvSpPr>
        <p:spPr>
          <a:xfrm>
            <a:off x="5575577" y="1296543"/>
            <a:ext cx="1419600" cy="1965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800"/>
              <a:buFont typeface="Arial"/>
              <a:buNone/>
            </a:pPr>
            <a:r>
              <a:rPr b="1" i="0" lang="en" sz="800" u="none" cap="none" strike="noStrike">
                <a:solidFill>
                  <a:srgbClr val="1F6FA8"/>
                </a:solidFill>
                <a:latin typeface="Arial"/>
                <a:ea typeface="Arial"/>
                <a:cs typeface="Arial"/>
                <a:sym typeface="Arial"/>
              </a:rPr>
              <a:t>Inverter</a:t>
            </a:r>
            <a:endParaRPr b="0" i="0" sz="1100" u="none" cap="none" strike="noStrike">
              <a:solidFill>
                <a:srgbClr val="000000"/>
              </a:solidFill>
              <a:latin typeface="Arial"/>
              <a:ea typeface="Arial"/>
              <a:cs typeface="Arial"/>
              <a:sym typeface="Arial"/>
            </a:endParaRPr>
          </a:p>
        </p:txBody>
      </p:sp>
      <p:sp>
        <p:nvSpPr>
          <p:cNvPr id="618" name="Google Shape;618;p9"/>
          <p:cNvSpPr txBox="1"/>
          <p:nvPr/>
        </p:nvSpPr>
        <p:spPr>
          <a:xfrm>
            <a:off x="5575577" y="1479233"/>
            <a:ext cx="1419600" cy="1734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DC → AC</a:t>
            </a:r>
            <a:endParaRPr b="0" i="0" sz="1100" u="none" cap="none" strike="noStrike">
              <a:solidFill>
                <a:srgbClr val="000000"/>
              </a:solidFill>
              <a:latin typeface="Arial"/>
              <a:ea typeface="Arial"/>
              <a:cs typeface="Arial"/>
              <a:sym typeface="Arial"/>
            </a:endParaRPr>
          </a:p>
        </p:txBody>
      </p:sp>
      <p:cxnSp>
        <p:nvCxnSpPr>
          <p:cNvPr id="619" name="Google Shape;619;p9"/>
          <p:cNvCxnSpPr/>
          <p:nvPr/>
        </p:nvCxnSpPr>
        <p:spPr>
          <a:xfrm>
            <a:off x="7077485" y="1474470"/>
            <a:ext cx="130200" cy="0"/>
          </a:xfrm>
          <a:prstGeom prst="straightConnector1">
            <a:avLst/>
          </a:prstGeom>
          <a:noFill/>
          <a:ln cap="flat" cmpd="sng" w="14300">
            <a:solidFill>
              <a:srgbClr val="8A99A5"/>
            </a:solidFill>
            <a:prstDash val="solid"/>
            <a:round/>
            <a:headEnd len="sm" w="sm" type="none"/>
            <a:tailEnd len="med" w="med" type="triangle"/>
          </a:ln>
          <a:effectLst>
            <a:outerShdw blurRad="30000" rotWithShape="0" dir="5400000" dist="15000">
              <a:srgbClr val="000000">
                <a:alpha val="38039"/>
              </a:srgbClr>
            </a:outerShdw>
          </a:effectLst>
        </p:spPr>
      </p:cxnSp>
      <p:sp>
        <p:nvSpPr>
          <p:cNvPr id="620" name="Google Shape;620;p9"/>
          <p:cNvSpPr/>
          <p:nvPr/>
        </p:nvSpPr>
        <p:spPr>
          <a:xfrm>
            <a:off x="7235220" y="1193292"/>
            <a:ext cx="1529400" cy="562200"/>
          </a:xfrm>
          <a:prstGeom prst="roundRect">
            <a:avLst>
              <a:gd fmla="val 7317" name="adj"/>
            </a:avLst>
          </a:prstGeom>
          <a:solidFill>
            <a:srgbClr val="FFFFFF"/>
          </a:solidFill>
          <a:ln cap="flat" cmpd="sng" w="14300">
            <a:solidFill>
              <a:srgbClr val="14303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1" name="Google Shape;621;p9"/>
          <p:cNvSpPr txBox="1"/>
          <p:nvPr/>
        </p:nvSpPr>
        <p:spPr>
          <a:xfrm>
            <a:off x="7290084" y="1296543"/>
            <a:ext cx="1419600" cy="1965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Motor / load</a:t>
            </a:r>
            <a:endParaRPr b="0" i="0" sz="1100" u="none" cap="none" strike="noStrike">
              <a:solidFill>
                <a:srgbClr val="000000"/>
              </a:solidFill>
              <a:latin typeface="Arial"/>
              <a:ea typeface="Arial"/>
              <a:cs typeface="Arial"/>
              <a:sym typeface="Arial"/>
            </a:endParaRPr>
          </a:p>
        </p:txBody>
      </p:sp>
      <p:sp>
        <p:nvSpPr>
          <p:cNvPr id="622" name="Google Shape;622;p9"/>
          <p:cNvSpPr txBox="1"/>
          <p:nvPr/>
        </p:nvSpPr>
        <p:spPr>
          <a:xfrm>
            <a:off x="7290084" y="1479233"/>
            <a:ext cx="1419600" cy="1734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useful output</a:t>
            </a:r>
            <a:endParaRPr b="0" i="0" sz="1100" u="none" cap="none" strike="noStrike">
              <a:solidFill>
                <a:srgbClr val="000000"/>
              </a:solidFill>
              <a:latin typeface="Arial"/>
              <a:ea typeface="Arial"/>
              <a:cs typeface="Arial"/>
              <a:sym typeface="Arial"/>
            </a:endParaRPr>
          </a:p>
        </p:txBody>
      </p:sp>
      <p:sp>
        <p:nvSpPr>
          <p:cNvPr id="623" name="Google Shape;623;p9"/>
          <p:cNvSpPr/>
          <p:nvPr/>
        </p:nvSpPr>
        <p:spPr>
          <a:xfrm>
            <a:off x="377192" y="1933956"/>
            <a:ext cx="4389000" cy="932700"/>
          </a:xfrm>
          <a:prstGeom prst="roundRect">
            <a:avLst>
              <a:gd fmla="val 5147"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4" name="Google Shape;624;p9"/>
          <p:cNvSpPr txBox="1"/>
          <p:nvPr/>
        </p:nvSpPr>
        <p:spPr>
          <a:xfrm>
            <a:off x="493778" y="2002536"/>
            <a:ext cx="4114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B5342A"/>
                </a:solidFill>
                <a:latin typeface="Arial"/>
                <a:ea typeface="Arial"/>
                <a:cs typeface="Arial"/>
                <a:sym typeface="Arial"/>
              </a:rPr>
              <a:t>THE STACK FEEDS THESE FIRST</a:t>
            </a:r>
            <a:endParaRPr b="0" i="0" sz="1100" u="none" cap="none" strike="noStrike">
              <a:solidFill>
                <a:srgbClr val="000000"/>
              </a:solidFill>
              <a:latin typeface="Arial"/>
              <a:ea typeface="Arial"/>
              <a:cs typeface="Arial"/>
              <a:sym typeface="Arial"/>
            </a:endParaRPr>
          </a:p>
        </p:txBody>
      </p:sp>
      <p:sp>
        <p:nvSpPr>
          <p:cNvPr id="625" name="Google Shape;625;p9"/>
          <p:cNvSpPr/>
          <p:nvPr/>
        </p:nvSpPr>
        <p:spPr>
          <a:xfrm>
            <a:off x="528068" y="2208276"/>
            <a:ext cx="776400" cy="246900"/>
          </a:xfrm>
          <a:prstGeom prst="roundRect">
            <a:avLst>
              <a:gd fmla="val 13888" name="adj"/>
            </a:avLst>
          </a:prstGeom>
          <a:solidFill>
            <a:srgbClr val="FFFFFF"/>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6" name="Google Shape;626;p9"/>
          <p:cNvSpPr txBox="1"/>
          <p:nvPr/>
        </p:nvSpPr>
        <p:spPr>
          <a:xfrm>
            <a:off x="555500" y="2208276"/>
            <a:ext cx="721500" cy="2469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Air compressor</a:t>
            </a:r>
            <a:endParaRPr b="0" i="0" sz="1100" u="none" cap="none" strike="noStrike">
              <a:solidFill>
                <a:srgbClr val="000000"/>
              </a:solidFill>
              <a:latin typeface="Arial"/>
              <a:ea typeface="Arial"/>
              <a:cs typeface="Arial"/>
              <a:sym typeface="Arial"/>
            </a:endParaRPr>
          </a:p>
        </p:txBody>
      </p:sp>
      <p:sp>
        <p:nvSpPr>
          <p:cNvPr id="627" name="Google Shape;627;p9"/>
          <p:cNvSpPr/>
          <p:nvPr/>
        </p:nvSpPr>
        <p:spPr>
          <a:xfrm>
            <a:off x="1400252" y="2208276"/>
            <a:ext cx="952800" cy="246900"/>
          </a:xfrm>
          <a:prstGeom prst="roundRect">
            <a:avLst>
              <a:gd fmla="val 13888" name="adj"/>
            </a:avLst>
          </a:prstGeom>
          <a:solidFill>
            <a:srgbClr val="FFFFFF"/>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8" name="Google Shape;628;p9"/>
          <p:cNvSpPr txBox="1"/>
          <p:nvPr/>
        </p:nvSpPr>
        <p:spPr>
          <a:xfrm>
            <a:off x="1427684" y="2208276"/>
            <a:ext cx="897900" cy="2469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Coolant pump + fan</a:t>
            </a:r>
            <a:endParaRPr b="0" i="0" sz="1100" u="none" cap="none" strike="noStrike">
              <a:solidFill>
                <a:srgbClr val="000000"/>
              </a:solidFill>
              <a:latin typeface="Arial"/>
              <a:ea typeface="Arial"/>
              <a:cs typeface="Arial"/>
              <a:sym typeface="Arial"/>
            </a:endParaRPr>
          </a:p>
        </p:txBody>
      </p:sp>
      <p:sp>
        <p:nvSpPr>
          <p:cNvPr id="629" name="Google Shape;629;p9"/>
          <p:cNvSpPr/>
          <p:nvPr/>
        </p:nvSpPr>
        <p:spPr>
          <a:xfrm>
            <a:off x="2449066" y="2208276"/>
            <a:ext cx="737700" cy="246900"/>
          </a:xfrm>
          <a:prstGeom prst="roundRect">
            <a:avLst>
              <a:gd fmla="val 13888" name="adj"/>
            </a:avLst>
          </a:prstGeom>
          <a:solidFill>
            <a:srgbClr val="FFFFFF"/>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0" name="Google Shape;630;p9"/>
          <p:cNvSpPr txBox="1"/>
          <p:nvPr/>
        </p:nvSpPr>
        <p:spPr>
          <a:xfrm>
            <a:off x="2476498" y="2208276"/>
            <a:ext cx="682800" cy="246900"/>
          </a:xfrm>
          <a:prstGeom prst="rect">
            <a:avLst/>
          </a:prstGeom>
          <a:noFill/>
          <a:ln>
            <a:noFill/>
          </a:ln>
        </p:spPr>
        <p:txBody>
          <a:bodyPr anchorCtr="0" anchor="ctr"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Humidification</a:t>
            </a:r>
            <a:endParaRPr b="0" i="0" sz="1100" u="none" cap="none" strike="noStrike">
              <a:solidFill>
                <a:srgbClr val="000000"/>
              </a:solidFill>
              <a:latin typeface="Arial"/>
              <a:ea typeface="Arial"/>
              <a:cs typeface="Arial"/>
              <a:sym typeface="Arial"/>
            </a:endParaRPr>
          </a:p>
        </p:txBody>
      </p:sp>
      <p:sp>
        <p:nvSpPr>
          <p:cNvPr id="631" name="Google Shape;631;p9"/>
          <p:cNvSpPr txBox="1"/>
          <p:nvPr/>
        </p:nvSpPr>
        <p:spPr>
          <a:xfrm>
            <a:off x="493778" y="2537460"/>
            <a:ext cx="41148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5A6B75"/>
                </a:solidFill>
                <a:latin typeface="Arial"/>
                <a:ea typeface="Arial"/>
                <a:cs typeface="Arial"/>
                <a:sym typeface="Arial"/>
              </a:rPr>
              <a:t>The thermal design is sized by the heat, not by the electricity.</a:t>
            </a:r>
            <a:endParaRPr b="0" i="0" sz="800" u="none" cap="none" strike="noStrike">
              <a:solidFill>
                <a:srgbClr val="000000"/>
              </a:solidFill>
              <a:latin typeface="Arial"/>
              <a:ea typeface="Arial"/>
              <a:cs typeface="Arial"/>
              <a:sym typeface="Arial"/>
            </a:endParaRPr>
          </a:p>
        </p:txBody>
      </p:sp>
      <p:sp>
        <p:nvSpPr>
          <p:cNvPr id="632" name="Google Shape;632;p9"/>
          <p:cNvSpPr/>
          <p:nvPr/>
        </p:nvSpPr>
        <p:spPr>
          <a:xfrm>
            <a:off x="4834910" y="1933956"/>
            <a:ext cx="3929700" cy="932700"/>
          </a:xfrm>
          <a:prstGeom prst="roundRect">
            <a:avLst>
              <a:gd fmla="val 5147" name="adj"/>
            </a:avLst>
          </a:prstGeom>
          <a:solidFill>
            <a:srgbClr val="14303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3" name="Google Shape;633;p9"/>
          <p:cNvSpPr txBox="1"/>
          <p:nvPr/>
        </p:nvSpPr>
        <p:spPr>
          <a:xfrm>
            <a:off x="4951496" y="2002536"/>
            <a:ext cx="3634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NET USABLE POWER</a:t>
            </a:r>
            <a:endParaRPr b="0" i="0" sz="1100" u="none" cap="none" strike="noStrike">
              <a:solidFill>
                <a:srgbClr val="000000"/>
              </a:solidFill>
              <a:latin typeface="Arial"/>
              <a:ea typeface="Arial"/>
              <a:cs typeface="Arial"/>
              <a:sym typeface="Arial"/>
            </a:endParaRPr>
          </a:p>
        </p:txBody>
      </p:sp>
      <p:sp>
        <p:nvSpPr>
          <p:cNvPr id="634" name="Google Shape;634;p9"/>
          <p:cNvSpPr txBox="1"/>
          <p:nvPr/>
        </p:nvSpPr>
        <p:spPr>
          <a:xfrm>
            <a:off x="4951496" y="2221992"/>
            <a:ext cx="9258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56 kW</a:t>
            </a:r>
            <a:endParaRPr b="0" i="0" sz="1100" u="none" cap="none" strike="noStrike">
              <a:solidFill>
                <a:srgbClr val="000000"/>
              </a:solidFill>
              <a:latin typeface="Arial"/>
              <a:ea typeface="Arial"/>
              <a:cs typeface="Arial"/>
              <a:sym typeface="Arial"/>
            </a:endParaRPr>
          </a:p>
        </p:txBody>
      </p:sp>
      <p:sp>
        <p:nvSpPr>
          <p:cNvPr id="635" name="Google Shape;635;p9"/>
          <p:cNvSpPr txBox="1"/>
          <p:nvPr/>
        </p:nvSpPr>
        <p:spPr>
          <a:xfrm>
            <a:off x="4951496" y="2455164"/>
            <a:ext cx="925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7E97A2"/>
                </a:solidFill>
                <a:latin typeface="Arial"/>
                <a:ea typeface="Arial"/>
                <a:cs typeface="Arial"/>
                <a:sym typeface="Arial"/>
              </a:rPr>
              <a:t>gross</a:t>
            </a:r>
            <a:endParaRPr b="0" i="0" sz="1100" u="none" cap="none" strike="noStrike">
              <a:solidFill>
                <a:srgbClr val="000000"/>
              </a:solidFill>
              <a:latin typeface="Arial"/>
              <a:ea typeface="Arial"/>
              <a:cs typeface="Arial"/>
              <a:sym typeface="Arial"/>
            </a:endParaRPr>
          </a:p>
        </p:txBody>
      </p:sp>
      <p:sp>
        <p:nvSpPr>
          <p:cNvPr id="636" name="Google Shape;636;p9"/>
          <p:cNvSpPr txBox="1"/>
          <p:nvPr/>
        </p:nvSpPr>
        <p:spPr>
          <a:xfrm>
            <a:off x="5884187" y="2221992"/>
            <a:ext cx="9258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1000"/>
              <a:buFont typeface="Arial"/>
              <a:buNone/>
            </a:pPr>
            <a:r>
              <a:rPr b="1" i="0" lang="en" sz="1000" u="none" cap="none" strike="noStrike">
                <a:solidFill>
                  <a:srgbClr val="9FB6C0"/>
                </a:solidFill>
                <a:latin typeface="Arial"/>
                <a:ea typeface="Arial"/>
                <a:cs typeface="Arial"/>
                <a:sym typeface="Arial"/>
              </a:rPr>
              <a:t>− 7 kW</a:t>
            </a:r>
            <a:endParaRPr b="0" i="0" sz="1100" u="none" cap="none" strike="noStrike">
              <a:solidFill>
                <a:srgbClr val="000000"/>
              </a:solidFill>
              <a:latin typeface="Arial"/>
              <a:ea typeface="Arial"/>
              <a:cs typeface="Arial"/>
              <a:sym typeface="Arial"/>
            </a:endParaRPr>
          </a:p>
        </p:txBody>
      </p:sp>
      <p:sp>
        <p:nvSpPr>
          <p:cNvPr id="637" name="Google Shape;637;p9"/>
          <p:cNvSpPr txBox="1"/>
          <p:nvPr/>
        </p:nvSpPr>
        <p:spPr>
          <a:xfrm>
            <a:off x="5884187" y="2455164"/>
            <a:ext cx="925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7E97A2"/>
                </a:solidFill>
                <a:latin typeface="Arial"/>
                <a:ea typeface="Arial"/>
                <a:cs typeface="Arial"/>
                <a:sym typeface="Arial"/>
              </a:rPr>
              <a:t>auxiliaries</a:t>
            </a:r>
            <a:endParaRPr b="0" i="0" sz="1100" u="none" cap="none" strike="noStrike">
              <a:solidFill>
                <a:srgbClr val="000000"/>
              </a:solidFill>
              <a:latin typeface="Arial"/>
              <a:ea typeface="Arial"/>
              <a:cs typeface="Arial"/>
              <a:sym typeface="Arial"/>
            </a:endParaRPr>
          </a:p>
        </p:txBody>
      </p:sp>
      <p:sp>
        <p:nvSpPr>
          <p:cNvPr id="638" name="Google Shape;638;p9"/>
          <p:cNvSpPr txBox="1"/>
          <p:nvPr/>
        </p:nvSpPr>
        <p:spPr>
          <a:xfrm>
            <a:off x="6816879" y="2221992"/>
            <a:ext cx="9258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1000"/>
              <a:buFont typeface="Arial"/>
              <a:buNone/>
            </a:pPr>
            <a:r>
              <a:rPr b="1" i="0" lang="en" sz="1000" u="none" cap="none" strike="noStrike">
                <a:solidFill>
                  <a:srgbClr val="9FB6C0"/>
                </a:solidFill>
                <a:latin typeface="Arial"/>
                <a:ea typeface="Arial"/>
                <a:cs typeface="Arial"/>
                <a:sym typeface="Arial"/>
              </a:rPr>
              <a:t>− 2 kW</a:t>
            </a:r>
            <a:endParaRPr b="0" i="0" sz="1100" u="none" cap="none" strike="noStrike">
              <a:solidFill>
                <a:srgbClr val="000000"/>
              </a:solidFill>
              <a:latin typeface="Arial"/>
              <a:ea typeface="Arial"/>
              <a:cs typeface="Arial"/>
              <a:sym typeface="Arial"/>
            </a:endParaRPr>
          </a:p>
        </p:txBody>
      </p:sp>
      <p:sp>
        <p:nvSpPr>
          <p:cNvPr id="639" name="Google Shape;639;p9"/>
          <p:cNvSpPr txBox="1"/>
          <p:nvPr/>
        </p:nvSpPr>
        <p:spPr>
          <a:xfrm>
            <a:off x="6816879" y="2455164"/>
            <a:ext cx="925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7E97A2"/>
                </a:solidFill>
                <a:latin typeface="Arial"/>
                <a:ea typeface="Arial"/>
                <a:cs typeface="Arial"/>
                <a:sym typeface="Arial"/>
              </a:rPr>
              <a:t>conversion</a:t>
            </a:r>
            <a:endParaRPr b="0" i="0" sz="1100" u="none" cap="none" strike="noStrike">
              <a:solidFill>
                <a:srgbClr val="000000"/>
              </a:solidFill>
              <a:latin typeface="Arial"/>
              <a:ea typeface="Arial"/>
              <a:cs typeface="Arial"/>
              <a:sym typeface="Arial"/>
            </a:endParaRPr>
          </a:p>
        </p:txBody>
      </p:sp>
      <p:sp>
        <p:nvSpPr>
          <p:cNvPr id="640" name="Google Shape;640;p9"/>
          <p:cNvSpPr txBox="1"/>
          <p:nvPr/>
        </p:nvSpPr>
        <p:spPr>
          <a:xfrm>
            <a:off x="7749571" y="2221992"/>
            <a:ext cx="9258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1000"/>
              <a:buFont typeface="Arial"/>
              <a:buNone/>
            </a:pPr>
            <a:r>
              <a:rPr b="1" i="0" lang="en" sz="1000" u="none" cap="none" strike="noStrike">
                <a:solidFill>
                  <a:srgbClr val="C77A12"/>
                </a:solidFill>
                <a:latin typeface="Arial"/>
                <a:ea typeface="Arial"/>
                <a:cs typeface="Arial"/>
                <a:sym typeface="Arial"/>
              </a:rPr>
              <a:t>47 kW</a:t>
            </a:r>
            <a:endParaRPr b="0" i="0" sz="1100" u="none" cap="none" strike="noStrike">
              <a:solidFill>
                <a:srgbClr val="000000"/>
              </a:solidFill>
              <a:latin typeface="Arial"/>
              <a:ea typeface="Arial"/>
              <a:cs typeface="Arial"/>
              <a:sym typeface="Arial"/>
            </a:endParaRPr>
          </a:p>
        </p:txBody>
      </p:sp>
      <p:sp>
        <p:nvSpPr>
          <p:cNvPr id="641" name="Google Shape;641;p9"/>
          <p:cNvSpPr txBox="1"/>
          <p:nvPr/>
        </p:nvSpPr>
        <p:spPr>
          <a:xfrm>
            <a:off x="7749571" y="2455164"/>
            <a:ext cx="925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7E97A2"/>
                </a:solidFill>
                <a:latin typeface="Arial"/>
                <a:ea typeface="Arial"/>
                <a:cs typeface="Arial"/>
                <a:sym typeface="Arial"/>
              </a:rPr>
              <a:t>net</a:t>
            </a:r>
            <a:endParaRPr b="0" i="0" sz="1100" u="none" cap="none" strike="noStrike">
              <a:solidFill>
                <a:srgbClr val="000000"/>
              </a:solidFill>
              <a:latin typeface="Arial"/>
              <a:ea typeface="Arial"/>
              <a:cs typeface="Arial"/>
              <a:sym typeface="Arial"/>
            </a:endParaRPr>
          </a:p>
        </p:txBody>
      </p:sp>
      <p:sp>
        <p:nvSpPr>
          <p:cNvPr id="642" name="Google Shape;642;p9"/>
          <p:cNvSpPr/>
          <p:nvPr/>
        </p:nvSpPr>
        <p:spPr>
          <a:xfrm>
            <a:off x="377192" y="3084490"/>
            <a:ext cx="2659500" cy="987600"/>
          </a:xfrm>
          <a:prstGeom prst="roundRect">
            <a:avLst>
              <a:gd fmla="val 4861" name="adj"/>
            </a:avLst>
          </a:prstGeom>
          <a:solidFill>
            <a:srgbClr val="E6F2F3"/>
          </a:solidFill>
          <a:ln cap="flat" cmpd="sng" w="9525">
            <a:solidFill>
              <a:srgbClr val="C2DE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3" name="Google Shape;643;p9"/>
          <p:cNvSpPr txBox="1"/>
          <p:nvPr/>
        </p:nvSpPr>
        <p:spPr>
          <a:xfrm>
            <a:off x="493778" y="3205191"/>
            <a:ext cx="24261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0E7C86"/>
                </a:solidFill>
                <a:latin typeface="Arial"/>
                <a:ea typeface="Arial"/>
                <a:cs typeface="Arial"/>
                <a:sym typeface="Arial"/>
              </a:rPr>
              <a:t>Gross ≠ net</a:t>
            </a:r>
            <a:endParaRPr b="0" i="0" sz="1100" u="none" cap="none" strike="noStrike">
              <a:solidFill>
                <a:srgbClr val="000000"/>
              </a:solidFill>
              <a:latin typeface="Arial"/>
              <a:ea typeface="Arial"/>
              <a:cs typeface="Arial"/>
              <a:sym typeface="Arial"/>
            </a:endParaRPr>
          </a:p>
        </p:txBody>
      </p:sp>
      <p:sp>
        <p:nvSpPr>
          <p:cNvPr id="644" name="Google Shape;644;p9"/>
          <p:cNvSpPr txBox="1"/>
          <p:nvPr/>
        </p:nvSpPr>
        <p:spPr>
          <a:xfrm>
            <a:off x="493778" y="3381022"/>
            <a:ext cx="2426100" cy="399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Quoting stack power without naming the auxiliary load overstates the system by a wide margin.</a:t>
            </a:r>
            <a:endParaRPr b="0" i="0" sz="1100" u="none" cap="none" strike="noStrike">
              <a:solidFill>
                <a:srgbClr val="000000"/>
              </a:solidFill>
              <a:latin typeface="Arial"/>
              <a:ea typeface="Arial"/>
              <a:cs typeface="Arial"/>
              <a:sym typeface="Arial"/>
            </a:endParaRPr>
          </a:p>
        </p:txBody>
      </p:sp>
      <p:sp>
        <p:nvSpPr>
          <p:cNvPr id="645" name="Google Shape;645;p9"/>
          <p:cNvSpPr/>
          <p:nvPr/>
        </p:nvSpPr>
        <p:spPr>
          <a:xfrm>
            <a:off x="3242338" y="3084490"/>
            <a:ext cx="2659500" cy="987600"/>
          </a:xfrm>
          <a:prstGeom prst="roundRect">
            <a:avLst>
              <a:gd fmla="val 4861"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6" name="Google Shape;646;p9"/>
          <p:cNvSpPr txBox="1"/>
          <p:nvPr/>
        </p:nvSpPr>
        <p:spPr>
          <a:xfrm>
            <a:off x="3358925" y="3205191"/>
            <a:ext cx="24261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F6FA8"/>
                </a:solidFill>
                <a:latin typeface="Arial"/>
                <a:ea typeface="Arial"/>
                <a:cs typeface="Arial"/>
                <a:sym typeface="Arial"/>
              </a:rPr>
              <a:t>The compressor dominates</a:t>
            </a:r>
            <a:endParaRPr b="0" i="0" sz="1100" u="none" cap="none" strike="noStrike">
              <a:solidFill>
                <a:srgbClr val="000000"/>
              </a:solidFill>
              <a:latin typeface="Arial"/>
              <a:ea typeface="Arial"/>
              <a:cs typeface="Arial"/>
              <a:sym typeface="Arial"/>
            </a:endParaRPr>
          </a:p>
        </p:txBody>
      </p:sp>
      <p:sp>
        <p:nvSpPr>
          <p:cNvPr id="647" name="Google Shape;647;p9"/>
          <p:cNvSpPr txBox="1"/>
          <p:nvPr/>
        </p:nvSpPr>
        <p:spPr>
          <a:xfrm>
            <a:off x="3358925" y="3381022"/>
            <a:ext cx="24261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Air supply is usually the largest single parasitic load, and it grows with pressure.</a:t>
            </a:r>
            <a:endParaRPr b="0" i="0" sz="1100" u="none" cap="none" strike="noStrike">
              <a:solidFill>
                <a:srgbClr val="000000"/>
              </a:solidFill>
              <a:latin typeface="Arial"/>
              <a:ea typeface="Arial"/>
              <a:cs typeface="Arial"/>
              <a:sym typeface="Arial"/>
            </a:endParaRPr>
          </a:p>
        </p:txBody>
      </p:sp>
      <p:sp>
        <p:nvSpPr>
          <p:cNvPr id="648" name="Google Shape;648;p9"/>
          <p:cNvSpPr/>
          <p:nvPr/>
        </p:nvSpPr>
        <p:spPr>
          <a:xfrm>
            <a:off x="6107485" y="3084490"/>
            <a:ext cx="2659500" cy="987600"/>
          </a:xfrm>
          <a:prstGeom prst="roundRect">
            <a:avLst>
              <a:gd fmla="val 4861"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9" name="Google Shape;649;p9"/>
          <p:cNvSpPr txBox="1"/>
          <p:nvPr/>
        </p:nvSpPr>
        <p:spPr>
          <a:xfrm>
            <a:off x="6224072" y="3205191"/>
            <a:ext cx="24261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Conditioning costs too</a:t>
            </a:r>
            <a:endParaRPr b="0" i="0" sz="1100" u="none" cap="none" strike="noStrike">
              <a:solidFill>
                <a:srgbClr val="000000"/>
              </a:solidFill>
              <a:latin typeface="Arial"/>
              <a:ea typeface="Arial"/>
              <a:cs typeface="Arial"/>
              <a:sym typeface="Arial"/>
            </a:endParaRPr>
          </a:p>
        </p:txBody>
      </p:sp>
      <p:sp>
        <p:nvSpPr>
          <p:cNvPr id="650" name="Google Shape;650;p9"/>
          <p:cNvSpPr txBox="1"/>
          <p:nvPr/>
        </p:nvSpPr>
        <p:spPr>
          <a:xfrm>
            <a:off x="6224072" y="3381022"/>
            <a:ext cx="2426100" cy="399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Every conversion stage - DC-DC, inverter, takes its own percentage on the way to the load.</a:t>
            </a:r>
            <a:endParaRPr b="0" i="0" sz="1100" u="none" cap="none" strike="noStrike">
              <a:solidFill>
                <a:srgbClr val="000000"/>
              </a:solidFill>
              <a:latin typeface="Arial"/>
              <a:ea typeface="Arial"/>
              <a:cs typeface="Arial"/>
              <a:sym typeface="Arial"/>
            </a:endParaRPr>
          </a:p>
        </p:txBody>
      </p:sp>
      <p:sp>
        <p:nvSpPr>
          <p:cNvPr id="651" name="Google Shape;651;p9"/>
          <p:cNvSpPr txBox="1"/>
          <p:nvPr/>
        </p:nvSpPr>
        <p:spPr>
          <a:xfrm>
            <a:off x="342901" y="4361688"/>
            <a:ext cx="83895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chemeClr val="dk2"/>
                </a:solidFill>
                <a:latin typeface="Arial"/>
                <a:ea typeface="Arial"/>
                <a:cs typeface="Arial"/>
                <a:sym typeface="Arial"/>
              </a:rPr>
              <a:t>NET USABLE POWER</a:t>
            </a:r>
            <a:r>
              <a:rPr b="1" i="0" lang="en" sz="800" u="none" cap="none" strike="noStrike">
                <a:solidFill>
                  <a:srgbClr val="14303F"/>
                </a:solidFill>
                <a:latin typeface="Arial"/>
                <a:ea typeface="Arial"/>
                <a:cs typeface="Arial"/>
                <a:sym typeface="Arial"/>
              </a:rPr>
              <a:t> - gross stack power - auxiliary demand - conversion losses. Illustrative figures only - 56kW - 7kW - 2kW = 47kW</a:t>
            </a:r>
            <a:endParaRPr b="0" i="0" sz="1100" u="none" cap="none" strike="noStrike">
              <a:solidFill>
                <a:srgbClr val="000000"/>
              </a:solidFill>
              <a:latin typeface="Arial"/>
              <a:ea typeface="Arial"/>
              <a:cs typeface="Arial"/>
              <a:sym typeface="Arial"/>
            </a:endParaRPr>
          </a:p>
        </p:txBody>
      </p:sp>
      <p:sp>
        <p:nvSpPr>
          <p:cNvPr id="652" name="Google Shape;652;p9"/>
          <p:cNvSpPr/>
          <p:nvPr/>
        </p:nvSpPr>
        <p:spPr>
          <a:xfrm>
            <a:off x="3306550" y="2221850"/>
            <a:ext cx="737700" cy="219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53" name="Google Shape;653;p9"/>
          <p:cNvSpPr txBox="1"/>
          <p:nvPr/>
        </p:nvSpPr>
        <p:spPr>
          <a:xfrm>
            <a:off x="3251636" y="2184453"/>
            <a:ext cx="925800" cy="246900"/>
          </a:xfrm>
          <a:prstGeom prst="rect">
            <a:avLst/>
          </a:prstGeom>
          <a:noFill/>
          <a:ln>
            <a:noFill/>
          </a:ln>
        </p:spPr>
        <p:txBody>
          <a:bodyPr anchorCtr="0" anchor="t" bIns="91425" lIns="91425" spcFirstLastPara="1" rIns="91425" wrap="square" tIns="91425">
            <a:noAutofit/>
          </a:bodyPr>
          <a:lstStyle/>
          <a:p>
            <a:pPr indent="0" lvl="0" marL="0" marR="0" rtl="0" algn="l">
              <a:lnSpc>
                <a:spcPct val="101666"/>
              </a:lnSpc>
              <a:spcBef>
                <a:spcPts val="0"/>
              </a:spcBef>
              <a:spcAft>
                <a:spcPts val="0"/>
              </a:spcAft>
              <a:buClr>
                <a:schemeClr val="dk1"/>
              </a:buClr>
              <a:buSzPts val="700"/>
              <a:buFont typeface="Arial"/>
              <a:buNone/>
            </a:pPr>
            <a:r>
              <a:rPr b="0" i="0" lang="en" sz="700" u="none" cap="none" strike="noStrike">
                <a:solidFill>
                  <a:srgbClr val="14303F"/>
                </a:solidFill>
                <a:latin typeface="Arial"/>
                <a:ea typeface="Arial"/>
                <a:cs typeface="Arial"/>
                <a:sym typeface="Arial"/>
              </a:rPr>
              <a:t> H₂ recirculation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10"/>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5</a:t>
            </a:r>
            <a:r>
              <a:rPr b="1" i="0" lang="en" sz="700" u="none" cap="none" strike="noStrike">
                <a:solidFill>
                  <a:srgbClr val="C77A12"/>
                </a:solidFill>
                <a:latin typeface="Arial"/>
                <a:ea typeface="Arial"/>
                <a:cs typeface="Arial"/>
                <a:sym typeface="Arial"/>
              </a:rPr>
              <a:t> · THE SYSTEM</a:t>
            </a:r>
            <a:endParaRPr b="0" i="0" sz="1100" u="none" cap="none" strike="noStrike">
              <a:solidFill>
                <a:srgbClr val="000000"/>
              </a:solidFill>
              <a:latin typeface="Arial"/>
              <a:ea typeface="Arial"/>
              <a:cs typeface="Arial"/>
              <a:sym typeface="Arial"/>
            </a:endParaRPr>
          </a:p>
        </p:txBody>
      </p:sp>
      <p:sp>
        <p:nvSpPr>
          <p:cNvPr id="660" name="Google Shape;660;p10"/>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Where the microcontroller and sensors sit</a:t>
            </a:r>
            <a:endParaRPr b="0" i="0" sz="1100" u="none" cap="none" strike="noStrike">
              <a:solidFill>
                <a:srgbClr val="000000"/>
              </a:solidFill>
              <a:latin typeface="Arial"/>
              <a:ea typeface="Arial"/>
              <a:cs typeface="Arial"/>
              <a:sym typeface="Arial"/>
            </a:endParaRPr>
          </a:p>
        </p:txBody>
      </p:sp>
      <p:sp>
        <p:nvSpPr>
          <p:cNvPr id="661" name="Google Shape;661;p10"/>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The ECU supervises the system through isolated sensing and low-power commands - the high stack current never passes through it</a:t>
            </a:r>
            <a:endParaRPr b="0" i="0" sz="1100" u="none" cap="none" strike="noStrike">
              <a:solidFill>
                <a:srgbClr val="000000"/>
              </a:solidFill>
              <a:latin typeface="Arial"/>
              <a:ea typeface="Arial"/>
              <a:cs typeface="Arial"/>
              <a:sym typeface="Arial"/>
            </a:endParaRPr>
          </a:p>
        </p:txBody>
      </p:sp>
      <p:sp>
        <p:nvSpPr>
          <p:cNvPr id="662" name="Google Shape;662;p10"/>
          <p:cNvSpPr txBox="1"/>
          <p:nvPr/>
        </p:nvSpPr>
        <p:spPr>
          <a:xfrm>
            <a:off x="342901" y="4361688"/>
            <a:ext cx="83895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The ECU never carries the stack current - It measures the energy path, commands the converters and contactors, and can open the path in a fault.</a:t>
            </a:r>
            <a:endParaRPr b="0" i="0" sz="1100" u="none" cap="none" strike="noStrike">
              <a:solidFill>
                <a:srgbClr val="000000"/>
              </a:solidFill>
              <a:latin typeface="Arial"/>
              <a:ea typeface="Arial"/>
              <a:cs typeface="Arial"/>
              <a:sym typeface="Arial"/>
            </a:endParaRPr>
          </a:p>
        </p:txBody>
      </p:sp>
      <p:sp>
        <p:nvSpPr>
          <p:cNvPr id="663" name="Google Shape;663;p10"/>
          <p:cNvSpPr/>
          <p:nvPr/>
        </p:nvSpPr>
        <p:spPr>
          <a:xfrm>
            <a:off x="342900" y="1101250"/>
            <a:ext cx="1377600" cy="1084200"/>
          </a:xfrm>
          <a:prstGeom prst="roundRect">
            <a:avLst>
              <a:gd fmla="val 4500" name="adj"/>
            </a:avLst>
          </a:prstGeom>
          <a:solidFill>
            <a:srgbClr val="E3EEF4"/>
          </a:solidFill>
          <a:ln cap="flat" cmpd="sng" w="10600">
            <a:solidFill>
              <a:srgbClr val="17607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664" name="Google Shape;664;p10"/>
          <p:cNvSpPr txBox="1"/>
          <p:nvPr/>
        </p:nvSpPr>
        <p:spPr>
          <a:xfrm>
            <a:off x="436983" y="1181551"/>
            <a:ext cx="1189500" cy="94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13"/>
              <a:buFont typeface="Arial"/>
              <a:buNone/>
            </a:pPr>
            <a:r>
              <a:rPr b="1" i="0" lang="en" sz="613" u="none" cap="none" strike="noStrike">
                <a:solidFill>
                  <a:srgbClr val="17607D"/>
                </a:solidFill>
                <a:latin typeface="Arial"/>
                <a:ea typeface="Arial"/>
                <a:cs typeface="Arial"/>
                <a:sym typeface="Arial"/>
              </a:rPr>
              <a:t>REACTANT SUPPLY</a:t>
            </a:r>
            <a:endParaRPr b="0" i="0" sz="976" u="none" cap="none" strike="noStrike">
              <a:solidFill>
                <a:srgbClr val="000000"/>
              </a:solidFill>
              <a:latin typeface="Arial"/>
              <a:ea typeface="Arial"/>
              <a:cs typeface="Arial"/>
              <a:sym typeface="Arial"/>
            </a:endParaRPr>
          </a:p>
        </p:txBody>
      </p:sp>
      <p:sp>
        <p:nvSpPr>
          <p:cNvPr id="665" name="Google Shape;665;p10"/>
          <p:cNvSpPr/>
          <p:nvPr/>
        </p:nvSpPr>
        <p:spPr>
          <a:xfrm>
            <a:off x="436983" y="1409069"/>
            <a:ext cx="1189500" cy="321300"/>
          </a:xfrm>
          <a:prstGeom prst="roundRect">
            <a:avLst>
              <a:gd fmla="val 4500" name="adj"/>
            </a:avLst>
          </a:prstGeom>
          <a:solidFill>
            <a:srgbClr val="FFFFFF"/>
          </a:solidFill>
          <a:ln cap="flat" cmpd="sng" w="9725">
            <a:solidFill>
              <a:srgbClr val="17607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27"/>
              <a:buFont typeface="Arial"/>
              <a:buNone/>
            </a:pPr>
            <a:r>
              <a:rPr b="1" i="0" lang="en" sz="627" u="none" cap="none" strike="noStrike">
                <a:solidFill>
                  <a:srgbClr val="17607D"/>
                </a:solidFill>
                <a:latin typeface="Arial"/>
                <a:ea typeface="Arial"/>
                <a:cs typeface="Arial"/>
                <a:sym typeface="Arial"/>
              </a:rPr>
              <a:t>H</a:t>
            </a:r>
            <a:r>
              <a:rPr b="1" baseline="-25000" i="0" lang="en" sz="439" u="none" cap="none" strike="noStrike">
                <a:solidFill>
                  <a:srgbClr val="17607D"/>
                </a:solidFill>
                <a:latin typeface="Arial"/>
                <a:ea typeface="Arial"/>
                <a:cs typeface="Arial"/>
                <a:sym typeface="Arial"/>
              </a:rPr>
              <a:t>2</a:t>
            </a:r>
            <a:r>
              <a:rPr b="1" i="0" lang="en" sz="627" u="none" cap="none" strike="noStrike">
                <a:solidFill>
                  <a:srgbClr val="17607D"/>
                </a:solidFill>
                <a:latin typeface="Arial"/>
                <a:ea typeface="Arial"/>
                <a:cs typeface="Arial"/>
                <a:sym typeface="Arial"/>
              </a:rPr>
              <a:t> tank</a:t>
            </a:r>
            <a:endParaRPr b="0" i="0" sz="97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27"/>
              <a:buFont typeface="Arial"/>
              <a:buNone/>
            </a:pPr>
            <a:r>
              <a:rPr b="1" i="0" lang="en" sz="627" u="none" cap="none" strike="noStrike">
                <a:solidFill>
                  <a:srgbClr val="17607D"/>
                </a:solidFill>
                <a:latin typeface="Arial"/>
                <a:ea typeface="Arial"/>
                <a:cs typeface="Arial"/>
                <a:sym typeface="Arial"/>
              </a:rPr>
              <a:t>+ regulator</a:t>
            </a:r>
            <a:endParaRPr b="0" i="0" sz="976" u="none" cap="none" strike="noStrike">
              <a:solidFill>
                <a:srgbClr val="000000"/>
              </a:solidFill>
              <a:latin typeface="Arial"/>
              <a:ea typeface="Arial"/>
              <a:cs typeface="Arial"/>
              <a:sym typeface="Arial"/>
            </a:endParaRPr>
          </a:p>
        </p:txBody>
      </p:sp>
      <p:sp>
        <p:nvSpPr>
          <p:cNvPr id="666" name="Google Shape;666;p10"/>
          <p:cNvSpPr/>
          <p:nvPr/>
        </p:nvSpPr>
        <p:spPr>
          <a:xfrm>
            <a:off x="436983" y="1783806"/>
            <a:ext cx="1189500" cy="321300"/>
          </a:xfrm>
          <a:prstGeom prst="roundRect">
            <a:avLst>
              <a:gd fmla="val 4500" name="adj"/>
            </a:avLst>
          </a:prstGeom>
          <a:solidFill>
            <a:srgbClr val="FFFFFF"/>
          </a:solidFill>
          <a:ln cap="flat" cmpd="sng" w="9725">
            <a:solidFill>
              <a:srgbClr val="17607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27"/>
              <a:buFont typeface="Arial"/>
              <a:buNone/>
            </a:pPr>
            <a:r>
              <a:rPr b="1" i="0" lang="en" sz="627" u="none" cap="none" strike="noStrike">
                <a:solidFill>
                  <a:srgbClr val="17607D"/>
                </a:solidFill>
                <a:latin typeface="Arial"/>
                <a:ea typeface="Arial"/>
                <a:cs typeface="Arial"/>
                <a:sym typeface="Arial"/>
              </a:rPr>
              <a:t>Air supply</a:t>
            </a:r>
            <a:endParaRPr b="0" i="0" sz="97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27"/>
              <a:buFont typeface="Arial"/>
              <a:buNone/>
            </a:pPr>
            <a:r>
              <a:rPr b="1" i="0" lang="en" sz="627" u="none" cap="none" strike="noStrike">
                <a:solidFill>
                  <a:srgbClr val="17607D"/>
                </a:solidFill>
                <a:latin typeface="Arial"/>
                <a:ea typeface="Arial"/>
                <a:cs typeface="Arial"/>
                <a:sym typeface="Arial"/>
              </a:rPr>
              <a:t>+ compressor</a:t>
            </a:r>
            <a:endParaRPr b="0" i="0" sz="976" u="none" cap="none" strike="noStrike">
              <a:solidFill>
                <a:srgbClr val="000000"/>
              </a:solidFill>
              <a:latin typeface="Arial"/>
              <a:ea typeface="Arial"/>
              <a:cs typeface="Arial"/>
              <a:sym typeface="Arial"/>
            </a:endParaRPr>
          </a:p>
        </p:txBody>
      </p:sp>
      <p:sp>
        <p:nvSpPr>
          <p:cNvPr id="667" name="Google Shape;667;p10"/>
          <p:cNvSpPr/>
          <p:nvPr/>
        </p:nvSpPr>
        <p:spPr>
          <a:xfrm>
            <a:off x="1747422" y="1569671"/>
            <a:ext cx="161400" cy="147300"/>
          </a:xfrm>
          <a:prstGeom prst="rightArrow">
            <a:avLst>
              <a:gd fmla="val 42000" name="adj1"/>
              <a:gd fmla="val 45000" name="adj2"/>
            </a:avLst>
          </a:prstGeom>
          <a:solidFill>
            <a:srgbClr val="17607D"/>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668" name="Google Shape;668;p10"/>
          <p:cNvSpPr/>
          <p:nvPr/>
        </p:nvSpPr>
        <p:spPr>
          <a:xfrm>
            <a:off x="1949028" y="1101250"/>
            <a:ext cx="6614700" cy="1084200"/>
          </a:xfrm>
          <a:prstGeom prst="roundRect">
            <a:avLst>
              <a:gd fmla="val 4500" name="adj"/>
            </a:avLst>
          </a:prstGeom>
          <a:solidFill>
            <a:srgbClr val="FBEEE0"/>
          </a:solidFill>
          <a:ln cap="flat" cmpd="sng" w="11500">
            <a:solidFill>
              <a:srgbClr val="E879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669" name="Google Shape;669;p10"/>
          <p:cNvSpPr txBox="1"/>
          <p:nvPr/>
        </p:nvSpPr>
        <p:spPr>
          <a:xfrm>
            <a:off x="2069992" y="1181551"/>
            <a:ext cx="6372600" cy="10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69"/>
              <a:buFont typeface="Arial"/>
              <a:buNone/>
            </a:pPr>
            <a:r>
              <a:rPr b="1" i="0" lang="en" sz="669" u="none" cap="none" strike="noStrike">
                <a:solidFill>
                  <a:srgbClr val="8A4F14"/>
                </a:solidFill>
                <a:latin typeface="Arial"/>
                <a:ea typeface="Arial"/>
                <a:cs typeface="Arial"/>
                <a:sym typeface="Arial"/>
              </a:rPr>
              <a:t>HIGH-POWER ENERGY PATH   —   high current, high voltage, no controller in the loop</a:t>
            </a:r>
            <a:endParaRPr b="0" i="0" sz="976" u="none" cap="none" strike="noStrike">
              <a:solidFill>
                <a:srgbClr val="000000"/>
              </a:solidFill>
              <a:latin typeface="Arial"/>
              <a:ea typeface="Arial"/>
              <a:cs typeface="Arial"/>
              <a:sym typeface="Arial"/>
            </a:endParaRPr>
          </a:p>
        </p:txBody>
      </p:sp>
      <p:sp>
        <p:nvSpPr>
          <p:cNvPr id="670" name="Google Shape;670;p10"/>
          <p:cNvSpPr/>
          <p:nvPr/>
        </p:nvSpPr>
        <p:spPr>
          <a:xfrm>
            <a:off x="2069992" y="1435836"/>
            <a:ext cx="1113300" cy="615600"/>
          </a:xfrm>
          <a:prstGeom prst="roundRect">
            <a:avLst>
              <a:gd fmla="val 4500" name="adj"/>
            </a:avLst>
          </a:prstGeom>
          <a:solidFill>
            <a:srgbClr val="FFFFFF"/>
          </a:solidFill>
          <a:ln cap="flat" cmpd="sng" w="13275">
            <a:solidFill>
              <a:srgbClr val="8A4F1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32"/>
              <a:buFont typeface="Arial"/>
              <a:buNone/>
            </a:pPr>
            <a:r>
              <a:rPr b="1" i="0" lang="en" sz="732" u="none" cap="none" strike="noStrike">
                <a:solidFill>
                  <a:srgbClr val="123243"/>
                </a:solidFill>
                <a:latin typeface="Arial"/>
                <a:ea typeface="Arial"/>
                <a:cs typeface="Arial"/>
                <a:sym typeface="Arial"/>
              </a:rPr>
              <a:t>PEMFC</a:t>
            </a:r>
            <a:endParaRPr b="0" i="0" sz="97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32"/>
              <a:buFont typeface="Arial"/>
              <a:buNone/>
            </a:pPr>
            <a:r>
              <a:rPr b="1" i="0" lang="en" sz="732" u="none" cap="none" strike="noStrike">
                <a:solidFill>
                  <a:srgbClr val="123243"/>
                </a:solidFill>
                <a:latin typeface="Arial"/>
                <a:ea typeface="Arial"/>
                <a:cs typeface="Arial"/>
                <a:sym typeface="Arial"/>
              </a:rPr>
              <a:t>stack</a:t>
            </a:r>
            <a:endParaRPr b="0" i="0" sz="976" u="none" cap="none" strike="noStrike">
              <a:solidFill>
                <a:srgbClr val="000000"/>
              </a:solidFill>
              <a:latin typeface="Arial"/>
              <a:ea typeface="Arial"/>
              <a:cs typeface="Arial"/>
              <a:sym typeface="Arial"/>
            </a:endParaRPr>
          </a:p>
        </p:txBody>
      </p:sp>
      <p:sp>
        <p:nvSpPr>
          <p:cNvPr id="671" name="Google Shape;671;p10"/>
          <p:cNvSpPr/>
          <p:nvPr/>
        </p:nvSpPr>
        <p:spPr>
          <a:xfrm>
            <a:off x="3206783" y="1660009"/>
            <a:ext cx="154800" cy="167400"/>
          </a:xfrm>
          <a:prstGeom prst="rightArrow">
            <a:avLst>
              <a:gd fmla="val 40000" name="adj1"/>
              <a:gd fmla="val 50000" name="adj2"/>
            </a:avLst>
          </a:prstGeom>
          <a:solidFill>
            <a:srgbClr val="E8792B"/>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672" name="Google Shape;672;p10"/>
          <p:cNvSpPr/>
          <p:nvPr/>
        </p:nvSpPr>
        <p:spPr>
          <a:xfrm>
            <a:off x="3384868" y="1435836"/>
            <a:ext cx="1113300" cy="615600"/>
          </a:xfrm>
          <a:prstGeom prst="roundRect">
            <a:avLst>
              <a:gd fmla="val 4500" name="adj"/>
            </a:avLst>
          </a:prstGeom>
          <a:solidFill>
            <a:srgbClr val="FFFFFF"/>
          </a:solidFill>
          <a:ln cap="flat" cmpd="sng" w="13275">
            <a:solidFill>
              <a:srgbClr val="8A4F1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32"/>
              <a:buFont typeface="Arial"/>
              <a:buNone/>
            </a:pPr>
            <a:r>
              <a:rPr b="1" i="0" lang="en" sz="732" u="none" cap="none" strike="noStrike">
                <a:solidFill>
                  <a:srgbClr val="123243"/>
                </a:solidFill>
                <a:latin typeface="Arial"/>
                <a:ea typeface="Arial"/>
                <a:cs typeface="Arial"/>
                <a:sym typeface="Arial"/>
              </a:rPr>
              <a:t>Contactors</a:t>
            </a:r>
            <a:endParaRPr b="0" i="0" sz="97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32"/>
              <a:buFont typeface="Arial"/>
              <a:buNone/>
            </a:pPr>
            <a:r>
              <a:rPr b="1" i="0" lang="en" sz="732" u="none" cap="none" strike="noStrike">
                <a:solidFill>
                  <a:srgbClr val="123243"/>
                </a:solidFill>
                <a:latin typeface="Arial"/>
                <a:ea typeface="Arial"/>
                <a:cs typeface="Arial"/>
                <a:sym typeface="Arial"/>
              </a:rPr>
              <a:t>+ DC-DC</a:t>
            </a:r>
            <a:endParaRPr b="0" i="0" sz="976" u="none" cap="none" strike="noStrike">
              <a:solidFill>
                <a:srgbClr val="000000"/>
              </a:solidFill>
              <a:latin typeface="Arial"/>
              <a:ea typeface="Arial"/>
              <a:cs typeface="Arial"/>
              <a:sym typeface="Arial"/>
            </a:endParaRPr>
          </a:p>
        </p:txBody>
      </p:sp>
      <p:sp>
        <p:nvSpPr>
          <p:cNvPr id="673" name="Google Shape;673;p10"/>
          <p:cNvSpPr/>
          <p:nvPr/>
        </p:nvSpPr>
        <p:spPr>
          <a:xfrm>
            <a:off x="4521658" y="1660009"/>
            <a:ext cx="154800" cy="167400"/>
          </a:xfrm>
          <a:prstGeom prst="rightArrow">
            <a:avLst>
              <a:gd fmla="val 40000" name="adj1"/>
              <a:gd fmla="val 50000" name="adj2"/>
            </a:avLst>
          </a:prstGeom>
          <a:solidFill>
            <a:srgbClr val="E8792B"/>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674" name="Google Shape;674;p10"/>
          <p:cNvSpPr/>
          <p:nvPr/>
        </p:nvSpPr>
        <p:spPr>
          <a:xfrm>
            <a:off x="4699744" y="1435836"/>
            <a:ext cx="1113300" cy="615600"/>
          </a:xfrm>
          <a:prstGeom prst="roundRect">
            <a:avLst>
              <a:gd fmla="val 4500" name="adj"/>
            </a:avLst>
          </a:prstGeom>
          <a:solidFill>
            <a:srgbClr val="FFFFFF"/>
          </a:solidFill>
          <a:ln cap="flat" cmpd="sng" w="13275">
            <a:solidFill>
              <a:srgbClr val="8A4F1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32"/>
              <a:buFont typeface="Arial"/>
              <a:buNone/>
            </a:pPr>
            <a:r>
              <a:rPr b="1" i="0" lang="en" sz="732" u="none" cap="none" strike="noStrike">
                <a:solidFill>
                  <a:srgbClr val="123243"/>
                </a:solidFill>
                <a:latin typeface="Arial"/>
                <a:ea typeface="Arial"/>
                <a:cs typeface="Arial"/>
                <a:sym typeface="Arial"/>
              </a:rPr>
              <a:t>Battery /</a:t>
            </a:r>
            <a:endParaRPr b="0" i="0" sz="97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32"/>
              <a:buFont typeface="Arial"/>
              <a:buNone/>
            </a:pPr>
            <a:r>
              <a:rPr b="1" i="0" lang="en" sz="732" u="none" cap="none" strike="noStrike">
                <a:solidFill>
                  <a:srgbClr val="123243"/>
                </a:solidFill>
                <a:latin typeface="Arial"/>
                <a:ea typeface="Arial"/>
                <a:cs typeface="Arial"/>
                <a:sym typeface="Arial"/>
              </a:rPr>
              <a:t>buffer</a:t>
            </a:r>
            <a:endParaRPr b="0" i="0" sz="976" u="none" cap="none" strike="noStrike">
              <a:solidFill>
                <a:srgbClr val="000000"/>
              </a:solidFill>
              <a:latin typeface="Arial"/>
              <a:ea typeface="Arial"/>
              <a:cs typeface="Arial"/>
              <a:sym typeface="Arial"/>
            </a:endParaRPr>
          </a:p>
        </p:txBody>
      </p:sp>
      <p:sp>
        <p:nvSpPr>
          <p:cNvPr id="675" name="Google Shape;675;p10"/>
          <p:cNvSpPr/>
          <p:nvPr/>
        </p:nvSpPr>
        <p:spPr>
          <a:xfrm>
            <a:off x="5836534" y="1660009"/>
            <a:ext cx="154800" cy="167400"/>
          </a:xfrm>
          <a:prstGeom prst="rightArrow">
            <a:avLst>
              <a:gd fmla="val 40000" name="adj1"/>
              <a:gd fmla="val 50000" name="adj2"/>
            </a:avLst>
          </a:prstGeom>
          <a:solidFill>
            <a:srgbClr val="E8792B"/>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676" name="Google Shape;676;p10"/>
          <p:cNvSpPr/>
          <p:nvPr/>
        </p:nvSpPr>
        <p:spPr>
          <a:xfrm>
            <a:off x="6014619" y="1435836"/>
            <a:ext cx="1113300" cy="615600"/>
          </a:xfrm>
          <a:prstGeom prst="roundRect">
            <a:avLst>
              <a:gd fmla="val 4500" name="adj"/>
            </a:avLst>
          </a:prstGeom>
          <a:solidFill>
            <a:srgbClr val="FFFFFF"/>
          </a:solidFill>
          <a:ln cap="flat" cmpd="sng" w="13275">
            <a:solidFill>
              <a:srgbClr val="8A4F1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32"/>
              <a:buFont typeface="Arial"/>
              <a:buNone/>
            </a:pPr>
            <a:r>
              <a:rPr b="1" i="0" lang="en" sz="732" u="none" cap="none" strike="noStrike">
                <a:solidFill>
                  <a:srgbClr val="123243"/>
                </a:solidFill>
                <a:latin typeface="Arial"/>
                <a:ea typeface="Arial"/>
                <a:cs typeface="Arial"/>
                <a:sym typeface="Arial"/>
              </a:rPr>
              <a:t>Inverter</a:t>
            </a:r>
            <a:endParaRPr b="0" i="0" sz="976" u="none" cap="none" strike="noStrike">
              <a:solidFill>
                <a:srgbClr val="000000"/>
              </a:solidFill>
              <a:latin typeface="Arial"/>
              <a:ea typeface="Arial"/>
              <a:cs typeface="Arial"/>
              <a:sym typeface="Arial"/>
            </a:endParaRPr>
          </a:p>
        </p:txBody>
      </p:sp>
      <p:sp>
        <p:nvSpPr>
          <p:cNvPr id="677" name="Google Shape;677;p10"/>
          <p:cNvSpPr/>
          <p:nvPr/>
        </p:nvSpPr>
        <p:spPr>
          <a:xfrm>
            <a:off x="7151409" y="1660009"/>
            <a:ext cx="154800" cy="167400"/>
          </a:xfrm>
          <a:prstGeom prst="rightArrow">
            <a:avLst>
              <a:gd fmla="val 40000" name="adj1"/>
              <a:gd fmla="val 50000" name="adj2"/>
            </a:avLst>
          </a:prstGeom>
          <a:solidFill>
            <a:srgbClr val="E8792B"/>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678" name="Google Shape;678;p10"/>
          <p:cNvSpPr/>
          <p:nvPr/>
        </p:nvSpPr>
        <p:spPr>
          <a:xfrm>
            <a:off x="7329495" y="1435836"/>
            <a:ext cx="1113300" cy="615600"/>
          </a:xfrm>
          <a:prstGeom prst="roundRect">
            <a:avLst>
              <a:gd fmla="val 4500" name="adj"/>
            </a:avLst>
          </a:prstGeom>
          <a:solidFill>
            <a:srgbClr val="FFFFFF"/>
          </a:solidFill>
          <a:ln cap="flat" cmpd="sng" w="13275">
            <a:solidFill>
              <a:srgbClr val="8A4F1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32"/>
              <a:buFont typeface="Arial"/>
              <a:buNone/>
            </a:pPr>
            <a:r>
              <a:rPr b="1" i="0" lang="en" sz="732" u="none" cap="none" strike="noStrike">
                <a:solidFill>
                  <a:srgbClr val="123243"/>
                </a:solidFill>
                <a:latin typeface="Arial"/>
                <a:ea typeface="Arial"/>
                <a:cs typeface="Arial"/>
                <a:sym typeface="Arial"/>
              </a:rPr>
              <a:t>Motor /</a:t>
            </a:r>
            <a:endParaRPr b="0" i="0" sz="97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32"/>
              <a:buFont typeface="Arial"/>
              <a:buNone/>
            </a:pPr>
            <a:r>
              <a:rPr b="1" i="0" lang="en" sz="732" u="none" cap="none" strike="noStrike">
                <a:solidFill>
                  <a:srgbClr val="123243"/>
                </a:solidFill>
                <a:latin typeface="Arial"/>
                <a:ea typeface="Arial"/>
                <a:cs typeface="Arial"/>
                <a:sym typeface="Arial"/>
              </a:rPr>
              <a:t>final load</a:t>
            </a:r>
            <a:endParaRPr b="0" i="0" sz="976" u="none" cap="none" strike="noStrike">
              <a:solidFill>
                <a:srgbClr val="000000"/>
              </a:solidFill>
              <a:latin typeface="Arial"/>
              <a:ea typeface="Arial"/>
              <a:cs typeface="Arial"/>
              <a:sym typeface="Arial"/>
            </a:endParaRPr>
          </a:p>
        </p:txBody>
      </p:sp>
      <p:sp>
        <p:nvSpPr>
          <p:cNvPr id="679" name="Google Shape;679;p10"/>
          <p:cNvSpPr txBox="1"/>
          <p:nvPr/>
        </p:nvSpPr>
        <p:spPr>
          <a:xfrm>
            <a:off x="393302" y="2212077"/>
            <a:ext cx="1276800" cy="150900"/>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H</a:t>
            </a:r>
            <a:r>
              <a:rPr b="0" baseline="-25000" i="0" lang="en" sz="362" u="none" cap="none" strike="noStrike">
                <a:solidFill>
                  <a:srgbClr val="6B7F8C"/>
                </a:solidFill>
                <a:latin typeface="Arial"/>
                <a:ea typeface="Arial"/>
                <a:cs typeface="Arial"/>
                <a:sym typeface="Arial"/>
              </a:rPr>
              <a:t>2</a:t>
            </a:r>
            <a:r>
              <a:rPr b="0" i="0" lang="en" sz="516" u="none" cap="none" strike="noStrike">
                <a:solidFill>
                  <a:srgbClr val="6B7F8C"/>
                </a:solidFill>
                <a:latin typeface="Arial"/>
                <a:ea typeface="Arial"/>
                <a:cs typeface="Arial"/>
                <a:sym typeface="Arial"/>
              </a:rPr>
              <a:t> / air</a:t>
            </a:r>
            <a:endParaRPr b="0" i="0" sz="976" u="none" cap="none" strike="noStrike">
              <a:solidFill>
                <a:srgbClr val="000000"/>
              </a:solidFill>
              <a:latin typeface="Arial"/>
              <a:ea typeface="Arial"/>
              <a:cs typeface="Arial"/>
              <a:sym typeface="Arial"/>
            </a:endParaRPr>
          </a:p>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pressure, flow</a:t>
            </a:r>
            <a:endParaRPr b="0" i="0" sz="976" u="none" cap="none" strike="noStrike">
              <a:solidFill>
                <a:srgbClr val="000000"/>
              </a:solidFill>
              <a:latin typeface="Arial"/>
              <a:ea typeface="Arial"/>
              <a:cs typeface="Arial"/>
              <a:sym typeface="Arial"/>
            </a:endParaRPr>
          </a:p>
        </p:txBody>
      </p:sp>
      <p:sp>
        <p:nvSpPr>
          <p:cNvPr id="680" name="Google Shape;680;p10"/>
          <p:cNvSpPr txBox="1"/>
          <p:nvPr/>
        </p:nvSpPr>
        <p:spPr>
          <a:xfrm>
            <a:off x="1988208" y="2212077"/>
            <a:ext cx="1276800" cy="150900"/>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stack V, I</a:t>
            </a:r>
            <a:endParaRPr b="0" i="0" sz="976" u="none" cap="none" strike="noStrike">
              <a:solidFill>
                <a:srgbClr val="000000"/>
              </a:solidFill>
              <a:latin typeface="Arial"/>
              <a:ea typeface="Arial"/>
              <a:cs typeface="Arial"/>
              <a:sym typeface="Arial"/>
            </a:endParaRPr>
          </a:p>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cell voltages, T</a:t>
            </a:r>
            <a:endParaRPr b="0" i="0" sz="976" u="none" cap="none" strike="noStrike">
              <a:solidFill>
                <a:srgbClr val="000000"/>
              </a:solidFill>
              <a:latin typeface="Arial"/>
              <a:ea typeface="Arial"/>
              <a:cs typeface="Arial"/>
              <a:sym typeface="Arial"/>
            </a:endParaRPr>
          </a:p>
        </p:txBody>
      </p:sp>
      <p:sp>
        <p:nvSpPr>
          <p:cNvPr id="681" name="Google Shape;681;p10"/>
          <p:cNvSpPr txBox="1"/>
          <p:nvPr/>
        </p:nvSpPr>
        <p:spPr>
          <a:xfrm>
            <a:off x="3303083" y="2212077"/>
            <a:ext cx="1276800" cy="150900"/>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bus V, I</a:t>
            </a:r>
            <a:endParaRPr b="0" i="0" sz="976" u="none" cap="none" strike="noStrike">
              <a:solidFill>
                <a:srgbClr val="000000"/>
              </a:solidFill>
              <a:latin typeface="Arial"/>
              <a:ea typeface="Arial"/>
              <a:cs typeface="Arial"/>
              <a:sym typeface="Arial"/>
            </a:endParaRPr>
          </a:p>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contactor state</a:t>
            </a:r>
            <a:endParaRPr b="0" i="0" sz="976" u="none" cap="none" strike="noStrike">
              <a:solidFill>
                <a:srgbClr val="000000"/>
              </a:solidFill>
              <a:latin typeface="Arial"/>
              <a:ea typeface="Arial"/>
              <a:cs typeface="Arial"/>
              <a:sym typeface="Arial"/>
            </a:endParaRPr>
          </a:p>
        </p:txBody>
      </p:sp>
      <p:sp>
        <p:nvSpPr>
          <p:cNvPr id="682" name="Google Shape;682;p10"/>
          <p:cNvSpPr txBox="1"/>
          <p:nvPr/>
        </p:nvSpPr>
        <p:spPr>
          <a:xfrm>
            <a:off x="4617959" y="2212077"/>
            <a:ext cx="1276800" cy="150900"/>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SOC, V, I</a:t>
            </a:r>
            <a:endParaRPr b="0" i="0" sz="976" u="none" cap="none" strike="noStrike">
              <a:solidFill>
                <a:srgbClr val="000000"/>
              </a:solidFill>
              <a:latin typeface="Arial"/>
              <a:ea typeface="Arial"/>
              <a:cs typeface="Arial"/>
              <a:sym typeface="Arial"/>
            </a:endParaRPr>
          </a:p>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temperature</a:t>
            </a:r>
            <a:endParaRPr b="0" i="0" sz="976" u="none" cap="none" strike="noStrike">
              <a:solidFill>
                <a:srgbClr val="000000"/>
              </a:solidFill>
              <a:latin typeface="Arial"/>
              <a:ea typeface="Arial"/>
              <a:cs typeface="Arial"/>
              <a:sym typeface="Arial"/>
            </a:endParaRPr>
          </a:p>
        </p:txBody>
      </p:sp>
      <p:sp>
        <p:nvSpPr>
          <p:cNvPr id="683" name="Google Shape;683;p10"/>
          <p:cNvSpPr txBox="1"/>
          <p:nvPr/>
        </p:nvSpPr>
        <p:spPr>
          <a:xfrm>
            <a:off x="5932834" y="2212077"/>
            <a:ext cx="1276800" cy="150900"/>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DC-link V</a:t>
            </a:r>
            <a:endParaRPr b="0" i="0" sz="976" u="none" cap="none" strike="noStrike">
              <a:solidFill>
                <a:srgbClr val="000000"/>
              </a:solidFill>
              <a:latin typeface="Arial"/>
              <a:ea typeface="Arial"/>
              <a:cs typeface="Arial"/>
              <a:sym typeface="Arial"/>
            </a:endParaRPr>
          </a:p>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torque feedback</a:t>
            </a:r>
            <a:endParaRPr b="0" i="0" sz="976" u="none" cap="none" strike="noStrike">
              <a:solidFill>
                <a:srgbClr val="000000"/>
              </a:solidFill>
              <a:latin typeface="Arial"/>
              <a:ea typeface="Arial"/>
              <a:cs typeface="Arial"/>
              <a:sym typeface="Arial"/>
            </a:endParaRPr>
          </a:p>
        </p:txBody>
      </p:sp>
      <p:sp>
        <p:nvSpPr>
          <p:cNvPr id="684" name="Google Shape;684;p10"/>
          <p:cNvSpPr txBox="1"/>
          <p:nvPr/>
        </p:nvSpPr>
        <p:spPr>
          <a:xfrm>
            <a:off x="7247709" y="2212077"/>
            <a:ext cx="1276800" cy="150900"/>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power demand</a:t>
            </a:r>
            <a:endParaRPr b="0" i="0" sz="976" u="none" cap="none" strike="noStrike">
              <a:solidFill>
                <a:srgbClr val="000000"/>
              </a:solidFill>
              <a:latin typeface="Arial"/>
              <a:ea typeface="Arial"/>
              <a:cs typeface="Arial"/>
              <a:sym typeface="Arial"/>
            </a:endParaRPr>
          </a:p>
          <a:p>
            <a:pPr indent="0" lvl="0" marL="0" marR="0" rtl="0" algn="ctr">
              <a:lnSpc>
                <a:spcPct val="95000"/>
              </a:lnSpc>
              <a:spcBef>
                <a:spcPts val="0"/>
              </a:spcBef>
              <a:spcAft>
                <a:spcPts val="0"/>
              </a:spcAft>
              <a:buClr>
                <a:srgbClr val="000000"/>
              </a:buClr>
              <a:buSzPts val="516"/>
              <a:buFont typeface="Arial"/>
              <a:buNone/>
            </a:pPr>
            <a:r>
              <a:rPr b="0" i="0" lang="en" sz="516" u="none" cap="none" strike="noStrike">
                <a:solidFill>
                  <a:srgbClr val="6B7F8C"/>
                </a:solidFill>
                <a:latin typeface="Arial"/>
                <a:ea typeface="Arial"/>
                <a:cs typeface="Arial"/>
                <a:sym typeface="Arial"/>
              </a:rPr>
              <a:t>from the load</a:t>
            </a:r>
            <a:endParaRPr b="0" i="0" sz="976" u="none" cap="none" strike="noStrike">
              <a:solidFill>
                <a:srgbClr val="000000"/>
              </a:solidFill>
              <a:latin typeface="Arial"/>
              <a:ea typeface="Arial"/>
              <a:cs typeface="Arial"/>
              <a:sym typeface="Arial"/>
            </a:endParaRPr>
          </a:p>
        </p:txBody>
      </p:sp>
      <p:cxnSp>
        <p:nvCxnSpPr>
          <p:cNvPr id="685" name="Google Shape;685;p10"/>
          <p:cNvCxnSpPr/>
          <p:nvPr/>
        </p:nvCxnSpPr>
        <p:spPr>
          <a:xfrm>
            <a:off x="1031721" y="2064859"/>
            <a:ext cx="0" cy="1338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cxnSp>
        <p:nvCxnSpPr>
          <p:cNvPr id="686" name="Google Shape;686;p10"/>
          <p:cNvCxnSpPr/>
          <p:nvPr/>
        </p:nvCxnSpPr>
        <p:spPr>
          <a:xfrm>
            <a:off x="1031721" y="2452979"/>
            <a:ext cx="0" cy="267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sp>
        <p:nvSpPr>
          <p:cNvPr id="687" name="Google Shape;687;p10"/>
          <p:cNvSpPr/>
          <p:nvPr/>
        </p:nvSpPr>
        <p:spPr>
          <a:xfrm>
            <a:off x="984680" y="2379370"/>
            <a:ext cx="94200" cy="100500"/>
          </a:xfrm>
          <a:prstGeom prst="downArrow">
            <a:avLst>
              <a:gd fmla="val 42000" name="adj1"/>
              <a:gd fmla="val 45000" name="adj2"/>
            </a:avLst>
          </a:prstGeom>
          <a:solidFill>
            <a:srgbClr val="17607D"/>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cxnSp>
        <p:nvCxnSpPr>
          <p:cNvPr id="688" name="Google Shape;688;p10"/>
          <p:cNvCxnSpPr/>
          <p:nvPr/>
        </p:nvCxnSpPr>
        <p:spPr>
          <a:xfrm>
            <a:off x="2626627" y="2064859"/>
            <a:ext cx="0" cy="1338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cxnSp>
        <p:nvCxnSpPr>
          <p:cNvPr id="689" name="Google Shape;689;p10"/>
          <p:cNvCxnSpPr/>
          <p:nvPr/>
        </p:nvCxnSpPr>
        <p:spPr>
          <a:xfrm>
            <a:off x="2626627" y="2452979"/>
            <a:ext cx="0" cy="267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sp>
        <p:nvSpPr>
          <p:cNvPr id="690" name="Google Shape;690;p10"/>
          <p:cNvSpPr/>
          <p:nvPr/>
        </p:nvSpPr>
        <p:spPr>
          <a:xfrm>
            <a:off x="2579586" y="2379370"/>
            <a:ext cx="94200" cy="100500"/>
          </a:xfrm>
          <a:prstGeom prst="downArrow">
            <a:avLst>
              <a:gd fmla="val 42000" name="adj1"/>
              <a:gd fmla="val 45000" name="adj2"/>
            </a:avLst>
          </a:prstGeom>
          <a:solidFill>
            <a:srgbClr val="17607D"/>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cxnSp>
        <p:nvCxnSpPr>
          <p:cNvPr id="691" name="Google Shape;691;p10"/>
          <p:cNvCxnSpPr/>
          <p:nvPr/>
        </p:nvCxnSpPr>
        <p:spPr>
          <a:xfrm>
            <a:off x="3941503" y="2064859"/>
            <a:ext cx="0" cy="1338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cxnSp>
        <p:nvCxnSpPr>
          <p:cNvPr id="692" name="Google Shape;692;p10"/>
          <p:cNvCxnSpPr/>
          <p:nvPr/>
        </p:nvCxnSpPr>
        <p:spPr>
          <a:xfrm>
            <a:off x="3941503" y="2452979"/>
            <a:ext cx="0" cy="267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sp>
        <p:nvSpPr>
          <p:cNvPr id="693" name="Google Shape;693;p10"/>
          <p:cNvSpPr/>
          <p:nvPr/>
        </p:nvSpPr>
        <p:spPr>
          <a:xfrm>
            <a:off x="3894461" y="2379370"/>
            <a:ext cx="94200" cy="100500"/>
          </a:xfrm>
          <a:prstGeom prst="downArrow">
            <a:avLst>
              <a:gd fmla="val 42000" name="adj1"/>
              <a:gd fmla="val 45000" name="adj2"/>
            </a:avLst>
          </a:prstGeom>
          <a:solidFill>
            <a:srgbClr val="17607D"/>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cxnSp>
        <p:nvCxnSpPr>
          <p:cNvPr id="694" name="Google Shape;694;p10"/>
          <p:cNvCxnSpPr/>
          <p:nvPr/>
        </p:nvCxnSpPr>
        <p:spPr>
          <a:xfrm>
            <a:off x="5256378" y="2064859"/>
            <a:ext cx="0" cy="1338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cxnSp>
        <p:nvCxnSpPr>
          <p:cNvPr id="695" name="Google Shape;695;p10"/>
          <p:cNvCxnSpPr/>
          <p:nvPr/>
        </p:nvCxnSpPr>
        <p:spPr>
          <a:xfrm>
            <a:off x="5256378" y="2452979"/>
            <a:ext cx="0" cy="267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sp>
        <p:nvSpPr>
          <p:cNvPr id="696" name="Google Shape;696;p10"/>
          <p:cNvSpPr/>
          <p:nvPr/>
        </p:nvSpPr>
        <p:spPr>
          <a:xfrm>
            <a:off x="5209337" y="2379370"/>
            <a:ext cx="94200" cy="100500"/>
          </a:xfrm>
          <a:prstGeom prst="downArrow">
            <a:avLst>
              <a:gd fmla="val 42000" name="adj1"/>
              <a:gd fmla="val 45000" name="adj2"/>
            </a:avLst>
          </a:prstGeom>
          <a:solidFill>
            <a:srgbClr val="17607D"/>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cxnSp>
        <p:nvCxnSpPr>
          <p:cNvPr id="697" name="Google Shape;697;p10"/>
          <p:cNvCxnSpPr/>
          <p:nvPr/>
        </p:nvCxnSpPr>
        <p:spPr>
          <a:xfrm>
            <a:off x="6571254" y="2064859"/>
            <a:ext cx="0" cy="1338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cxnSp>
        <p:nvCxnSpPr>
          <p:cNvPr id="698" name="Google Shape;698;p10"/>
          <p:cNvCxnSpPr/>
          <p:nvPr/>
        </p:nvCxnSpPr>
        <p:spPr>
          <a:xfrm>
            <a:off x="6571254" y="2452979"/>
            <a:ext cx="0" cy="267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sp>
        <p:nvSpPr>
          <p:cNvPr id="699" name="Google Shape;699;p10"/>
          <p:cNvSpPr/>
          <p:nvPr/>
        </p:nvSpPr>
        <p:spPr>
          <a:xfrm>
            <a:off x="6524212" y="2379370"/>
            <a:ext cx="94200" cy="100500"/>
          </a:xfrm>
          <a:prstGeom prst="downArrow">
            <a:avLst>
              <a:gd fmla="val 42000" name="adj1"/>
              <a:gd fmla="val 45000" name="adj2"/>
            </a:avLst>
          </a:prstGeom>
          <a:solidFill>
            <a:srgbClr val="17607D"/>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cxnSp>
        <p:nvCxnSpPr>
          <p:cNvPr id="700" name="Google Shape;700;p10"/>
          <p:cNvCxnSpPr/>
          <p:nvPr/>
        </p:nvCxnSpPr>
        <p:spPr>
          <a:xfrm>
            <a:off x="7496441" y="2018967"/>
            <a:ext cx="0" cy="1275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cxnSp>
        <p:nvCxnSpPr>
          <p:cNvPr id="701" name="Google Shape;701;p10"/>
          <p:cNvCxnSpPr/>
          <p:nvPr/>
        </p:nvCxnSpPr>
        <p:spPr>
          <a:xfrm>
            <a:off x="7496441" y="2388604"/>
            <a:ext cx="0" cy="25500"/>
          </a:xfrm>
          <a:prstGeom prst="straightConnector1">
            <a:avLst/>
          </a:prstGeom>
          <a:noFill/>
          <a:ln cap="flat" cmpd="sng" w="11075">
            <a:solidFill>
              <a:srgbClr val="17607D"/>
            </a:solidFill>
            <a:prstDash val="dash"/>
            <a:round/>
            <a:headEnd len="sm" w="sm" type="none"/>
            <a:tailEnd len="sm" w="sm" type="none"/>
          </a:ln>
          <a:effectLst>
            <a:outerShdw blurRad="27879" rotWithShape="0" dir="5400000" dist="13939">
              <a:srgbClr val="000000">
                <a:alpha val="38039"/>
              </a:srgbClr>
            </a:outerShdw>
          </a:effectLst>
        </p:spPr>
      </p:cxnSp>
      <p:sp>
        <p:nvSpPr>
          <p:cNvPr id="702" name="Google Shape;702;p10"/>
          <p:cNvSpPr/>
          <p:nvPr/>
        </p:nvSpPr>
        <p:spPr>
          <a:xfrm>
            <a:off x="7451829" y="2318500"/>
            <a:ext cx="89400" cy="95700"/>
          </a:xfrm>
          <a:prstGeom prst="downArrow">
            <a:avLst>
              <a:gd fmla="val 42000" name="adj1"/>
              <a:gd fmla="val 45000" name="adj2"/>
            </a:avLst>
          </a:prstGeom>
          <a:solidFill>
            <a:srgbClr val="17607D"/>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703" name="Google Shape;703;p10"/>
          <p:cNvSpPr/>
          <p:nvPr/>
        </p:nvSpPr>
        <p:spPr>
          <a:xfrm>
            <a:off x="342900" y="2479746"/>
            <a:ext cx="8220900" cy="281100"/>
          </a:xfrm>
          <a:prstGeom prst="roundRect">
            <a:avLst>
              <a:gd fmla="val 4500" name="adj"/>
            </a:avLst>
          </a:prstGeom>
          <a:solidFill>
            <a:srgbClr val="E3EEF4"/>
          </a:solidFill>
          <a:ln cap="flat" cmpd="sng" w="11500">
            <a:solidFill>
              <a:srgbClr val="17607D"/>
            </a:solidFill>
            <a:prstDash val="dash"/>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704" name="Google Shape;704;p10"/>
          <p:cNvSpPr txBox="1"/>
          <p:nvPr/>
        </p:nvSpPr>
        <p:spPr>
          <a:xfrm>
            <a:off x="477304" y="2479746"/>
            <a:ext cx="7951800" cy="105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683"/>
              <a:buFont typeface="Arial"/>
              <a:buNone/>
            </a:pPr>
            <a:r>
              <a:rPr b="1" i="0" lang="en" sz="683" u="none" cap="none" strike="noStrike">
                <a:solidFill>
                  <a:srgbClr val="17607D"/>
                </a:solidFill>
                <a:latin typeface="Arial"/>
                <a:ea typeface="Arial"/>
                <a:cs typeface="Arial"/>
                <a:sym typeface="Arial"/>
              </a:rPr>
              <a:t>LOW-POWER SIGNAL LAYER     ·     measurements up ↑     ·     commands down ↓     ·     galvanically isolated from the power path</a:t>
            </a:r>
            <a:endParaRPr b="0" i="0" sz="976" u="none" cap="none" strike="noStrike">
              <a:solidFill>
                <a:srgbClr val="000000"/>
              </a:solidFill>
              <a:latin typeface="Arial"/>
              <a:ea typeface="Arial"/>
              <a:cs typeface="Arial"/>
              <a:sym typeface="Arial"/>
            </a:endParaRPr>
          </a:p>
        </p:txBody>
      </p:sp>
      <p:sp>
        <p:nvSpPr>
          <p:cNvPr id="705" name="Google Shape;705;p10"/>
          <p:cNvSpPr/>
          <p:nvPr/>
        </p:nvSpPr>
        <p:spPr>
          <a:xfrm>
            <a:off x="4372671" y="2780873"/>
            <a:ext cx="161400" cy="227400"/>
          </a:xfrm>
          <a:prstGeom prst="upDownArrow">
            <a:avLst>
              <a:gd fmla="val 45000" name="adj1"/>
              <a:gd fmla="val 50000" name="adj2"/>
            </a:avLst>
          </a:prstGeom>
          <a:solidFill>
            <a:srgbClr val="17607D"/>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706" name="Google Shape;706;p10"/>
          <p:cNvSpPr txBox="1"/>
          <p:nvPr/>
        </p:nvSpPr>
        <p:spPr>
          <a:xfrm>
            <a:off x="4587718" y="2787564"/>
            <a:ext cx="28227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99"/>
              <a:buFont typeface="Arial"/>
              <a:buNone/>
            </a:pPr>
            <a:r>
              <a:rPr b="0" i="1" lang="en" sz="599" u="none" cap="none" strike="noStrike">
                <a:solidFill>
                  <a:srgbClr val="17607D"/>
                </a:solidFill>
                <a:latin typeface="Arial"/>
                <a:ea typeface="Arial"/>
                <a:cs typeface="Arial"/>
                <a:sym typeface="Arial"/>
              </a:rPr>
              <a:t>the ECU's only connection to the energy path</a:t>
            </a:r>
            <a:endParaRPr b="0" i="0" sz="976" u="none" cap="none" strike="noStrike">
              <a:solidFill>
                <a:srgbClr val="000000"/>
              </a:solidFill>
              <a:latin typeface="Arial"/>
              <a:ea typeface="Arial"/>
              <a:cs typeface="Arial"/>
              <a:sym typeface="Arial"/>
            </a:endParaRPr>
          </a:p>
        </p:txBody>
      </p:sp>
      <p:sp>
        <p:nvSpPr>
          <p:cNvPr id="707" name="Google Shape;707;p10"/>
          <p:cNvSpPr/>
          <p:nvPr/>
        </p:nvSpPr>
        <p:spPr>
          <a:xfrm>
            <a:off x="2907666" y="3028467"/>
            <a:ext cx="3091200" cy="1204500"/>
          </a:xfrm>
          <a:prstGeom prst="roundRect">
            <a:avLst>
              <a:gd fmla="val 4500" name="adj"/>
            </a:avLst>
          </a:prstGeom>
          <a:solidFill>
            <a:srgbClr val="0E44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708" name="Google Shape;708;p10"/>
          <p:cNvSpPr txBox="1"/>
          <p:nvPr/>
        </p:nvSpPr>
        <p:spPr>
          <a:xfrm>
            <a:off x="3068951" y="3148918"/>
            <a:ext cx="2768700" cy="779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45"/>
              <a:buFont typeface="Arial"/>
              <a:buNone/>
            </a:pPr>
            <a:r>
              <a:rPr b="1" i="0" lang="en" sz="1045" u="none" cap="none" strike="noStrike">
                <a:solidFill>
                  <a:srgbClr val="FFFFFF"/>
                </a:solidFill>
                <a:latin typeface="Arial"/>
                <a:ea typeface="Arial"/>
                <a:cs typeface="Arial"/>
                <a:sym typeface="Arial"/>
              </a:rPr>
              <a:t>MICROCONTROLLER  /  ECU</a:t>
            </a:r>
            <a:endParaRPr b="0" i="0" sz="976" u="none" cap="none" strike="noStrike">
              <a:solidFill>
                <a:srgbClr val="000000"/>
              </a:solidFill>
              <a:latin typeface="Arial"/>
              <a:ea typeface="Arial"/>
              <a:cs typeface="Arial"/>
              <a:sym typeface="Arial"/>
            </a:endParaRPr>
          </a:p>
          <a:p>
            <a:pPr indent="0" lvl="0" marL="0" marR="0" rtl="0" algn="ctr">
              <a:lnSpc>
                <a:spcPct val="115000"/>
              </a:lnSpc>
              <a:spcBef>
                <a:spcPts val="627"/>
              </a:spcBef>
              <a:spcAft>
                <a:spcPts val="0"/>
              </a:spcAft>
              <a:buClr>
                <a:srgbClr val="000000"/>
              </a:buClr>
              <a:buSzPts val="697"/>
              <a:buFont typeface="Arial"/>
              <a:buNone/>
            </a:pPr>
            <a:r>
              <a:rPr b="0" i="0" lang="en" sz="697" u="none" cap="none" strike="noStrike">
                <a:solidFill>
                  <a:srgbClr val="FFFFFF"/>
                </a:solidFill>
                <a:latin typeface="Arial"/>
                <a:ea typeface="Arial"/>
                <a:cs typeface="Arial"/>
                <a:sym typeface="Arial"/>
              </a:rPr>
              <a:t>state machine  ·  closed-loop control</a:t>
            </a:r>
            <a:endParaRPr b="0" i="0" sz="976"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697"/>
              <a:buFont typeface="Arial"/>
              <a:buNone/>
            </a:pPr>
            <a:r>
              <a:rPr b="0" i="0" lang="en" sz="697" u="none" cap="none" strike="noStrike">
                <a:solidFill>
                  <a:srgbClr val="FFFFFF"/>
                </a:solidFill>
                <a:latin typeface="Arial"/>
                <a:ea typeface="Arial"/>
                <a:cs typeface="Arial"/>
                <a:sym typeface="Arial"/>
              </a:rPr>
              <a:t>operating limits and derating</a:t>
            </a:r>
            <a:endParaRPr b="0" i="0" sz="976"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697"/>
              <a:buFont typeface="Arial"/>
              <a:buNone/>
            </a:pPr>
            <a:r>
              <a:rPr b="0" i="0" lang="en" sz="697" u="none" cap="none" strike="noStrike">
                <a:solidFill>
                  <a:srgbClr val="FFFFFF"/>
                </a:solidFill>
                <a:latin typeface="Arial"/>
                <a:ea typeface="Arial"/>
                <a:cs typeface="Arial"/>
                <a:sym typeface="Arial"/>
              </a:rPr>
              <a:t>diagnostics  ·  fault response  ·  safe shutdown</a:t>
            </a:r>
            <a:endParaRPr b="0" i="0" sz="976" u="none" cap="none" strike="noStrike">
              <a:solidFill>
                <a:srgbClr val="000000"/>
              </a:solidFill>
              <a:latin typeface="Arial"/>
              <a:ea typeface="Arial"/>
              <a:cs typeface="Arial"/>
              <a:sym typeface="Arial"/>
            </a:endParaRPr>
          </a:p>
          <a:p>
            <a:pPr indent="0" lvl="0" marL="0" marR="0" rtl="0" algn="ctr">
              <a:lnSpc>
                <a:spcPct val="100000"/>
              </a:lnSpc>
              <a:spcBef>
                <a:spcPts val="558"/>
              </a:spcBef>
              <a:spcAft>
                <a:spcPts val="0"/>
              </a:spcAft>
              <a:buClr>
                <a:srgbClr val="000000"/>
              </a:buClr>
              <a:buSzPts val="627"/>
              <a:buFont typeface="Arial"/>
              <a:buNone/>
            </a:pPr>
            <a:r>
              <a:rPr b="0" i="1" lang="en" sz="627" u="none" cap="none" strike="noStrike">
                <a:solidFill>
                  <a:srgbClr val="9FC4D4"/>
                </a:solidFill>
                <a:latin typeface="Arial"/>
                <a:ea typeface="Arial"/>
                <a:cs typeface="Arial"/>
                <a:sym typeface="Arial"/>
              </a:rPr>
              <a:t>CAN to the vehicle or site controller</a:t>
            </a:r>
            <a:endParaRPr b="0" i="0" sz="976" u="none" cap="none" strike="noStrike">
              <a:solidFill>
                <a:srgbClr val="000000"/>
              </a:solidFill>
              <a:latin typeface="Arial"/>
              <a:ea typeface="Arial"/>
              <a:cs typeface="Arial"/>
              <a:sym typeface="Arial"/>
            </a:endParaRPr>
          </a:p>
        </p:txBody>
      </p:sp>
      <p:sp>
        <p:nvSpPr>
          <p:cNvPr id="709" name="Google Shape;709;p10"/>
          <p:cNvSpPr/>
          <p:nvPr/>
        </p:nvSpPr>
        <p:spPr>
          <a:xfrm>
            <a:off x="342900" y="3028467"/>
            <a:ext cx="2298300" cy="1204500"/>
          </a:xfrm>
          <a:prstGeom prst="roundRect">
            <a:avLst>
              <a:gd fmla="val 4500" name="adj"/>
            </a:avLst>
          </a:prstGeom>
          <a:solidFill>
            <a:srgbClr val="FFFFFF"/>
          </a:solidFill>
          <a:ln cap="flat" cmpd="sng" w="9725">
            <a:solidFill>
              <a:srgbClr val="17607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710" name="Google Shape;710;p10"/>
          <p:cNvSpPr/>
          <p:nvPr/>
        </p:nvSpPr>
        <p:spPr>
          <a:xfrm>
            <a:off x="342900" y="3028467"/>
            <a:ext cx="2298300" cy="36900"/>
          </a:xfrm>
          <a:prstGeom prst="rect">
            <a:avLst/>
          </a:prstGeom>
          <a:solidFill>
            <a:srgbClr val="1760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711" name="Google Shape;711;p10"/>
          <p:cNvSpPr txBox="1"/>
          <p:nvPr/>
        </p:nvSpPr>
        <p:spPr>
          <a:xfrm>
            <a:off x="450423" y="3135535"/>
            <a:ext cx="2083500" cy="973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97"/>
              <a:buFont typeface="Arial"/>
              <a:buNone/>
            </a:pPr>
            <a:r>
              <a:rPr b="1" i="0" lang="en" sz="697" u="none" cap="none" strike="noStrike">
                <a:solidFill>
                  <a:srgbClr val="17607D"/>
                </a:solidFill>
                <a:latin typeface="Arial"/>
                <a:ea typeface="Arial"/>
                <a:cs typeface="Arial"/>
                <a:sym typeface="Arial"/>
              </a:rPr>
              <a:t>SENSOR INPUTS   →</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348"/>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Stack voltage and current</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Individual cell voltages</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H</a:t>
            </a:r>
            <a:r>
              <a:rPr b="0" baseline="-25000" i="0" lang="en" sz="425" u="none" cap="none" strike="noStrike">
                <a:solidFill>
                  <a:srgbClr val="3A4E5A"/>
                </a:solidFill>
                <a:latin typeface="Arial"/>
                <a:ea typeface="Arial"/>
                <a:cs typeface="Arial"/>
                <a:sym typeface="Arial"/>
              </a:rPr>
              <a:t>2</a:t>
            </a:r>
            <a:r>
              <a:rPr b="0" i="0" lang="en" sz="606" u="none" cap="none" strike="noStrike">
                <a:solidFill>
                  <a:srgbClr val="3A4E5A"/>
                </a:solidFill>
                <a:latin typeface="Arial"/>
                <a:ea typeface="Arial"/>
                <a:cs typeface="Arial"/>
                <a:sym typeface="Arial"/>
              </a:rPr>
              <a:t> pressure and flow</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Air pressure and flow</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Stack and coolant temperature</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Humidity / hydration proxy</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Coolant flow</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Hydrogen leak detection</a:t>
            </a:r>
            <a:endParaRPr b="0" i="0" sz="976" u="none" cap="none" strike="noStrike">
              <a:solidFill>
                <a:srgbClr val="000000"/>
              </a:solidFill>
              <a:latin typeface="Arial"/>
              <a:ea typeface="Arial"/>
              <a:cs typeface="Arial"/>
              <a:sym typeface="Arial"/>
            </a:endParaRPr>
          </a:p>
        </p:txBody>
      </p:sp>
      <p:sp>
        <p:nvSpPr>
          <p:cNvPr id="712" name="Google Shape;712;p10"/>
          <p:cNvSpPr/>
          <p:nvPr/>
        </p:nvSpPr>
        <p:spPr>
          <a:xfrm>
            <a:off x="6265417" y="3028467"/>
            <a:ext cx="2298300" cy="1204500"/>
          </a:xfrm>
          <a:prstGeom prst="roundRect">
            <a:avLst>
              <a:gd fmla="val 4500" name="adj"/>
            </a:avLst>
          </a:prstGeom>
          <a:solidFill>
            <a:srgbClr val="FFFFFF"/>
          </a:solidFill>
          <a:ln cap="flat" cmpd="sng" w="9725">
            <a:solidFill>
              <a:srgbClr val="E879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713" name="Google Shape;713;p10"/>
          <p:cNvSpPr/>
          <p:nvPr/>
        </p:nvSpPr>
        <p:spPr>
          <a:xfrm>
            <a:off x="6265417" y="3028467"/>
            <a:ext cx="2298300" cy="36900"/>
          </a:xfrm>
          <a:prstGeom prst="rect">
            <a:avLst/>
          </a:prstGeom>
          <a:solidFill>
            <a:srgbClr val="E879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714" name="Google Shape;714;p10"/>
          <p:cNvSpPr txBox="1"/>
          <p:nvPr/>
        </p:nvSpPr>
        <p:spPr>
          <a:xfrm>
            <a:off x="6372941" y="3135535"/>
            <a:ext cx="2083500" cy="973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97"/>
              <a:buFont typeface="Arial"/>
              <a:buNone/>
            </a:pPr>
            <a:r>
              <a:rPr b="1" i="0" lang="en" sz="697" u="none" cap="none" strike="noStrike">
                <a:solidFill>
                  <a:srgbClr val="E8792B"/>
                </a:solidFill>
                <a:latin typeface="Arial"/>
                <a:ea typeface="Arial"/>
                <a:cs typeface="Arial"/>
                <a:sym typeface="Arial"/>
              </a:rPr>
              <a:t>→   ACTUATOR OUTPUTS</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348"/>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H</a:t>
            </a:r>
            <a:r>
              <a:rPr b="0" baseline="-25000" i="0" lang="en" sz="425" u="none" cap="none" strike="noStrike">
                <a:solidFill>
                  <a:srgbClr val="3A4E5A"/>
                </a:solidFill>
                <a:latin typeface="Arial"/>
                <a:ea typeface="Arial"/>
                <a:cs typeface="Arial"/>
                <a:sym typeface="Arial"/>
              </a:rPr>
              <a:t>2</a:t>
            </a:r>
            <a:r>
              <a:rPr b="0" i="0" lang="en" sz="606" u="none" cap="none" strike="noStrike">
                <a:solidFill>
                  <a:srgbClr val="3A4E5A"/>
                </a:solidFill>
                <a:latin typeface="Arial"/>
                <a:ea typeface="Arial"/>
                <a:cs typeface="Arial"/>
                <a:sym typeface="Arial"/>
              </a:rPr>
              <a:t> shut-off, regulator, purge valves</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Recirculation pump or ejector</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Air compressor / blower</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Coolant pump and fan</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Humidification or bypass</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Contactors + emergency shutdown</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DC-DC voltage / current setpoint</a:t>
            </a:r>
            <a:endParaRPr b="0" i="0" sz="976" u="none" cap="none" strike="noStrike">
              <a:solidFill>
                <a:srgbClr val="000000"/>
              </a:solidFill>
              <a:latin typeface="Arial"/>
              <a:ea typeface="Arial"/>
              <a:cs typeface="Arial"/>
              <a:sym typeface="Arial"/>
            </a:endParaRPr>
          </a:p>
          <a:p>
            <a:pPr indent="0" lvl="0" marL="0" marR="0" rtl="0" algn="l">
              <a:lnSpc>
                <a:spcPct val="102000"/>
              </a:lnSpc>
              <a:spcBef>
                <a:spcPts val="70"/>
              </a:spcBef>
              <a:spcAft>
                <a:spcPts val="0"/>
              </a:spcAft>
              <a:buClr>
                <a:srgbClr val="000000"/>
              </a:buClr>
              <a:buSzPts val="605"/>
              <a:buFont typeface="Arial"/>
              <a:buNone/>
            </a:pPr>
            <a:r>
              <a:rPr b="0" i="0" lang="en" sz="606" u="none" cap="none" strike="noStrike">
                <a:solidFill>
                  <a:srgbClr val="3A4E5A"/>
                </a:solidFill>
                <a:latin typeface="Arial"/>
                <a:ea typeface="Arial"/>
                <a:cs typeface="Arial"/>
                <a:sym typeface="Arial"/>
              </a:rPr>
              <a:t>·  Inverter torque or load interface</a:t>
            </a:r>
            <a:endParaRPr b="0" i="0" sz="976" u="none" cap="none" strike="noStrike">
              <a:solidFill>
                <a:srgbClr val="000000"/>
              </a:solidFill>
              <a:latin typeface="Arial"/>
              <a:ea typeface="Arial"/>
              <a:cs typeface="Arial"/>
              <a:sym typeface="Arial"/>
            </a:endParaRPr>
          </a:p>
        </p:txBody>
      </p:sp>
      <p:sp>
        <p:nvSpPr>
          <p:cNvPr id="715" name="Google Shape;715;p10"/>
          <p:cNvSpPr/>
          <p:nvPr/>
        </p:nvSpPr>
        <p:spPr>
          <a:xfrm>
            <a:off x="2674811" y="3563805"/>
            <a:ext cx="199200" cy="133800"/>
          </a:xfrm>
          <a:prstGeom prst="rightArrow">
            <a:avLst>
              <a:gd fmla="val 42000" name="adj1"/>
              <a:gd fmla="val 45000" name="adj2"/>
            </a:avLst>
          </a:prstGeom>
          <a:solidFill>
            <a:srgbClr val="17607D"/>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
        <p:nvSpPr>
          <p:cNvPr id="716" name="Google Shape;716;p10"/>
          <p:cNvSpPr/>
          <p:nvPr/>
        </p:nvSpPr>
        <p:spPr>
          <a:xfrm>
            <a:off x="6032562" y="3563805"/>
            <a:ext cx="199200" cy="133800"/>
          </a:xfrm>
          <a:prstGeom prst="rightArrow">
            <a:avLst>
              <a:gd fmla="val 42000" name="adj1"/>
              <a:gd fmla="val 45000" name="adj2"/>
            </a:avLst>
          </a:prstGeom>
          <a:solidFill>
            <a:srgbClr val="E8792B"/>
          </a:solidFill>
          <a:ln>
            <a:noFill/>
          </a:ln>
        </p:spPr>
        <p:txBody>
          <a:bodyPr anchorCtr="0" anchor="ctr" bIns="31850" lIns="63725" spcFirstLastPara="1" rIns="63725" wrap="square" tIns="31850">
            <a:noAutofit/>
          </a:bodyPr>
          <a:lstStyle/>
          <a:p>
            <a:pPr indent="0" lvl="0" marL="0" marR="0" rtl="0" algn="ctr">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1"/>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6</a:t>
            </a:r>
            <a:r>
              <a:rPr b="1" i="0" lang="en" sz="700" u="none" cap="none" strike="noStrike">
                <a:solidFill>
                  <a:srgbClr val="C77A12"/>
                </a:solidFill>
                <a:latin typeface="Arial"/>
                <a:ea typeface="Arial"/>
                <a:cs typeface="Arial"/>
                <a:sym typeface="Arial"/>
              </a:rPr>
              <a:t> · WHERE IT FITS</a:t>
            </a:r>
            <a:endParaRPr b="0" i="0" sz="1100" u="none" cap="none" strike="noStrike">
              <a:solidFill>
                <a:srgbClr val="000000"/>
              </a:solidFill>
              <a:latin typeface="Arial"/>
              <a:ea typeface="Arial"/>
              <a:cs typeface="Arial"/>
              <a:sym typeface="Arial"/>
            </a:endParaRPr>
          </a:p>
        </p:txBody>
      </p:sp>
      <p:sp>
        <p:nvSpPr>
          <p:cNvPr id="723" name="Google Shape;723;p11"/>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Advantages — where these systems create value</a:t>
            </a:r>
            <a:endParaRPr b="0" i="0" sz="1100" u="none" cap="none" strike="noStrike">
              <a:solidFill>
                <a:srgbClr val="000000"/>
              </a:solidFill>
              <a:latin typeface="Arial"/>
              <a:ea typeface="Arial"/>
              <a:cs typeface="Arial"/>
              <a:sym typeface="Arial"/>
            </a:endParaRPr>
          </a:p>
        </p:txBody>
      </p:sp>
      <p:sp>
        <p:nvSpPr>
          <p:cNvPr id="724" name="Google Shape;724;p11"/>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Strongest where utilisation is high, refuelling must be quick, or autonomy must be long.</a:t>
            </a:r>
            <a:endParaRPr b="0" i="0" sz="1100" u="none" cap="none" strike="noStrike">
              <a:solidFill>
                <a:srgbClr val="000000"/>
              </a:solidFill>
              <a:latin typeface="Arial"/>
              <a:ea typeface="Arial"/>
              <a:cs typeface="Arial"/>
              <a:sym typeface="Arial"/>
            </a:endParaRPr>
          </a:p>
        </p:txBody>
      </p:sp>
      <p:sp>
        <p:nvSpPr>
          <p:cNvPr id="725" name="Google Shape;725;p11"/>
          <p:cNvSpPr/>
          <p:nvPr/>
        </p:nvSpPr>
        <p:spPr>
          <a:xfrm>
            <a:off x="377192" y="1207008"/>
            <a:ext cx="2659200" cy="1302900"/>
          </a:xfrm>
          <a:prstGeom prst="roundRect">
            <a:avLst>
              <a:gd fmla="val 3684" name="adj"/>
            </a:avLst>
          </a:prstGeom>
          <a:solidFill>
            <a:srgbClr val="E9F3EE"/>
          </a:solidFill>
          <a:ln cap="flat" cmpd="sng" w="9525">
            <a:solidFill>
              <a:srgbClr val="C3DCD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dv0.png" id="726" name="Google Shape;726;p11"/>
          <p:cNvPicPr preferRelativeResize="0"/>
          <p:nvPr/>
        </p:nvPicPr>
        <p:blipFill rotWithShape="1">
          <a:blip r:embed="rId3">
            <a:alphaModFix/>
          </a:blip>
          <a:srcRect b="0" l="0" r="0" t="0"/>
          <a:stretch/>
        </p:blipFill>
        <p:spPr>
          <a:xfrm>
            <a:off x="528068" y="1330452"/>
            <a:ext cx="425196" cy="425196"/>
          </a:xfrm>
          <a:prstGeom prst="rect">
            <a:avLst/>
          </a:prstGeom>
          <a:noFill/>
          <a:ln>
            <a:noFill/>
          </a:ln>
        </p:spPr>
      </p:pic>
      <p:sp>
        <p:nvSpPr>
          <p:cNvPr id="727" name="Google Shape;727;p11"/>
          <p:cNvSpPr txBox="1"/>
          <p:nvPr/>
        </p:nvSpPr>
        <p:spPr>
          <a:xfrm>
            <a:off x="1001272" y="1426464"/>
            <a:ext cx="18366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2E7D5B"/>
                </a:solidFill>
                <a:latin typeface="Arial"/>
                <a:ea typeface="Arial"/>
                <a:cs typeface="Arial"/>
                <a:sym typeface="Arial"/>
              </a:rPr>
              <a:t>High efficiency</a:t>
            </a:r>
            <a:endParaRPr b="0" i="0" sz="1100" u="none" cap="none" strike="noStrike">
              <a:solidFill>
                <a:srgbClr val="000000"/>
              </a:solidFill>
              <a:latin typeface="Arial"/>
              <a:ea typeface="Arial"/>
              <a:cs typeface="Arial"/>
              <a:sym typeface="Arial"/>
            </a:endParaRPr>
          </a:p>
        </p:txBody>
      </p:sp>
      <p:sp>
        <p:nvSpPr>
          <p:cNvPr id="728" name="Google Shape;728;p11"/>
          <p:cNvSpPr txBox="1"/>
          <p:nvPr/>
        </p:nvSpPr>
        <p:spPr>
          <a:xfrm>
            <a:off x="493778" y="1851660"/>
            <a:ext cx="2357700" cy="411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Direct electrochemical conversion — no combustion, no Carnot ceiling.</a:t>
            </a:r>
            <a:endParaRPr b="0" i="0" sz="1100" u="none" cap="none" strike="noStrike">
              <a:solidFill>
                <a:srgbClr val="000000"/>
              </a:solidFill>
              <a:latin typeface="Arial"/>
              <a:ea typeface="Arial"/>
              <a:cs typeface="Arial"/>
              <a:sym typeface="Arial"/>
            </a:endParaRPr>
          </a:p>
        </p:txBody>
      </p:sp>
      <p:cxnSp>
        <p:nvCxnSpPr>
          <p:cNvPr id="729" name="Google Shape;729;p11"/>
          <p:cNvCxnSpPr/>
          <p:nvPr/>
        </p:nvCxnSpPr>
        <p:spPr>
          <a:xfrm>
            <a:off x="528068" y="2235708"/>
            <a:ext cx="2357700" cy="0"/>
          </a:xfrm>
          <a:prstGeom prst="straightConnector1">
            <a:avLst/>
          </a:prstGeom>
          <a:noFill/>
          <a:ln cap="flat" cmpd="sng" w="9525">
            <a:solidFill>
              <a:srgbClr val="C3DCD0"/>
            </a:solidFill>
            <a:prstDash val="solid"/>
            <a:round/>
            <a:headEnd len="sm" w="sm" type="none"/>
            <a:tailEnd len="sm" w="sm" type="none"/>
          </a:ln>
          <a:effectLst>
            <a:outerShdw blurRad="30000" rotWithShape="0" dir="5400000" dist="15000">
              <a:srgbClr val="000000">
                <a:alpha val="38039"/>
              </a:srgbClr>
            </a:outerShdw>
          </a:effectLst>
        </p:spPr>
      </p:cxnSp>
      <p:sp>
        <p:nvSpPr>
          <p:cNvPr id="730" name="Google Shape;730;p11"/>
          <p:cNvSpPr txBox="1"/>
          <p:nvPr/>
        </p:nvSpPr>
        <p:spPr>
          <a:xfrm>
            <a:off x="493778" y="2276856"/>
            <a:ext cx="23577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5A6B75"/>
                </a:solidFill>
                <a:latin typeface="Arial"/>
                <a:ea typeface="Arial"/>
                <a:cs typeface="Arial"/>
                <a:sym typeface="Arial"/>
              </a:rPr>
              <a:t>but it falls as you draw more power</a:t>
            </a:r>
            <a:endParaRPr b="0" i="0" sz="1100" u="none" cap="none" strike="noStrike">
              <a:solidFill>
                <a:srgbClr val="000000"/>
              </a:solidFill>
              <a:latin typeface="Arial"/>
              <a:ea typeface="Arial"/>
              <a:cs typeface="Arial"/>
              <a:sym typeface="Arial"/>
            </a:endParaRPr>
          </a:p>
        </p:txBody>
      </p:sp>
      <p:sp>
        <p:nvSpPr>
          <p:cNvPr id="731" name="Google Shape;731;p11"/>
          <p:cNvSpPr/>
          <p:nvPr/>
        </p:nvSpPr>
        <p:spPr>
          <a:xfrm>
            <a:off x="3242315" y="1207008"/>
            <a:ext cx="2659200" cy="1302900"/>
          </a:xfrm>
          <a:prstGeom prst="roundRect">
            <a:avLst>
              <a:gd fmla="val 3684" name="adj"/>
            </a:avLst>
          </a:prstGeom>
          <a:solidFill>
            <a:srgbClr val="E9F3EE"/>
          </a:solidFill>
          <a:ln cap="flat" cmpd="sng" w="9525">
            <a:solidFill>
              <a:srgbClr val="C3DCD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dv1.png" id="732" name="Google Shape;732;p11"/>
          <p:cNvPicPr preferRelativeResize="0"/>
          <p:nvPr/>
        </p:nvPicPr>
        <p:blipFill rotWithShape="1">
          <a:blip r:embed="rId4">
            <a:alphaModFix/>
          </a:blip>
          <a:srcRect b="0" l="0" r="0" t="0"/>
          <a:stretch/>
        </p:blipFill>
        <p:spPr>
          <a:xfrm>
            <a:off x="3393192" y="1330452"/>
            <a:ext cx="425196" cy="425196"/>
          </a:xfrm>
          <a:prstGeom prst="rect">
            <a:avLst/>
          </a:prstGeom>
          <a:noFill/>
          <a:ln>
            <a:noFill/>
          </a:ln>
        </p:spPr>
      </p:pic>
      <p:sp>
        <p:nvSpPr>
          <p:cNvPr id="733" name="Google Shape;733;p11"/>
          <p:cNvSpPr txBox="1"/>
          <p:nvPr/>
        </p:nvSpPr>
        <p:spPr>
          <a:xfrm>
            <a:off x="3866396" y="1426464"/>
            <a:ext cx="18366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2E7D5B"/>
                </a:solidFill>
                <a:latin typeface="Arial"/>
                <a:ea typeface="Arial"/>
                <a:cs typeface="Arial"/>
                <a:sym typeface="Arial"/>
              </a:rPr>
              <a:t>Low local emissions</a:t>
            </a:r>
            <a:endParaRPr b="0" i="0" sz="1100" u="none" cap="none" strike="noStrike">
              <a:solidFill>
                <a:srgbClr val="000000"/>
              </a:solidFill>
              <a:latin typeface="Arial"/>
              <a:ea typeface="Arial"/>
              <a:cs typeface="Arial"/>
              <a:sym typeface="Arial"/>
            </a:endParaRPr>
          </a:p>
        </p:txBody>
      </p:sp>
      <p:sp>
        <p:nvSpPr>
          <p:cNvPr id="734" name="Google Shape;734;p11"/>
          <p:cNvSpPr txBox="1"/>
          <p:nvPr/>
        </p:nvSpPr>
        <p:spPr>
          <a:xfrm>
            <a:off x="3358902" y="1851660"/>
            <a:ext cx="2357700" cy="411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Pure hydrogen gives water and heat at the point of use.</a:t>
            </a:r>
            <a:endParaRPr b="0" i="0" sz="1100" u="none" cap="none" strike="noStrike">
              <a:solidFill>
                <a:srgbClr val="000000"/>
              </a:solidFill>
              <a:latin typeface="Arial"/>
              <a:ea typeface="Arial"/>
              <a:cs typeface="Arial"/>
              <a:sym typeface="Arial"/>
            </a:endParaRPr>
          </a:p>
        </p:txBody>
      </p:sp>
      <p:cxnSp>
        <p:nvCxnSpPr>
          <p:cNvPr id="735" name="Google Shape;735;p11"/>
          <p:cNvCxnSpPr/>
          <p:nvPr/>
        </p:nvCxnSpPr>
        <p:spPr>
          <a:xfrm>
            <a:off x="3393192" y="2235708"/>
            <a:ext cx="2357700" cy="0"/>
          </a:xfrm>
          <a:prstGeom prst="straightConnector1">
            <a:avLst/>
          </a:prstGeom>
          <a:noFill/>
          <a:ln cap="flat" cmpd="sng" w="9525">
            <a:solidFill>
              <a:srgbClr val="C3DCD0"/>
            </a:solidFill>
            <a:prstDash val="solid"/>
            <a:round/>
            <a:headEnd len="sm" w="sm" type="none"/>
            <a:tailEnd len="sm" w="sm" type="none"/>
          </a:ln>
          <a:effectLst>
            <a:outerShdw blurRad="30000" rotWithShape="0" dir="5400000" dist="15000">
              <a:srgbClr val="000000">
                <a:alpha val="38039"/>
              </a:srgbClr>
            </a:outerShdw>
          </a:effectLst>
        </p:spPr>
      </p:cxnSp>
      <p:sp>
        <p:nvSpPr>
          <p:cNvPr id="736" name="Google Shape;736;p11"/>
          <p:cNvSpPr txBox="1"/>
          <p:nvPr/>
        </p:nvSpPr>
        <p:spPr>
          <a:xfrm>
            <a:off x="3358902" y="2276856"/>
            <a:ext cx="23577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5A6B75"/>
                </a:solidFill>
                <a:latin typeface="Arial"/>
                <a:ea typeface="Arial"/>
                <a:cs typeface="Arial"/>
                <a:sym typeface="Arial"/>
              </a:rPr>
              <a:t>lifecycle depends on how the H₂ was made</a:t>
            </a:r>
            <a:endParaRPr b="0" i="0" sz="1100" u="none" cap="none" strike="noStrike">
              <a:solidFill>
                <a:srgbClr val="000000"/>
              </a:solidFill>
              <a:latin typeface="Arial"/>
              <a:ea typeface="Arial"/>
              <a:cs typeface="Arial"/>
              <a:sym typeface="Arial"/>
            </a:endParaRPr>
          </a:p>
        </p:txBody>
      </p:sp>
      <p:sp>
        <p:nvSpPr>
          <p:cNvPr id="737" name="Google Shape;737;p11"/>
          <p:cNvSpPr/>
          <p:nvPr/>
        </p:nvSpPr>
        <p:spPr>
          <a:xfrm>
            <a:off x="6107439" y="1207008"/>
            <a:ext cx="2659200" cy="1302900"/>
          </a:xfrm>
          <a:prstGeom prst="roundRect">
            <a:avLst>
              <a:gd fmla="val 3684" name="adj"/>
            </a:avLst>
          </a:prstGeom>
          <a:solidFill>
            <a:srgbClr val="E9F3EE"/>
          </a:solidFill>
          <a:ln cap="flat" cmpd="sng" w="9525">
            <a:solidFill>
              <a:srgbClr val="C3DCD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dv2.png" id="738" name="Google Shape;738;p11"/>
          <p:cNvPicPr preferRelativeResize="0"/>
          <p:nvPr/>
        </p:nvPicPr>
        <p:blipFill rotWithShape="1">
          <a:blip r:embed="rId5">
            <a:alphaModFix/>
          </a:blip>
          <a:srcRect b="0" l="0" r="0" t="0"/>
          <a:stretch/>
        </p:blipFill>
        <p:spPr>
          <a:xfrm>
            <a:off x="6258316" y="1330452"/>
            <a:ext cx="425196" cy="425196"/>
          </a:xfrm>
          <a:prstGeom prst="rect">
            <a:avLst/>
          </a:prstGeom>
          <a:noFill/>
          <a:ln>
            <a:noFill/>
          </a:ln>
        </p:spPr>
      </p:pic>
      <p:sp>
        <p:nvSpPr>
          <p:cNvPr id="739" name="Google Shape;739;p11"/>
          <p:cNvSpPr txBox="1"/>
          <p:nvPr/>
        </p:nvSpPr>
        <p:spPr>
          <a:xfrm>
            <a:off x="6731520" y="1426464"/>
            <a:ext cx="18366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2E7D5B"/>
                </a:solidFill>
                <a:latin typeface="Arial"/>
                <a:ea typeface="Arial"/>
                <a:cs typeface="Arial"/>
                <a:sym typeface="Arial"/>
              </a:rPr>
              <a:t>Quiet operation</a:t>
            </a:r>
            <a:endParaRPr b="0" i="0" sz="1100" u="none" cap="none" strike="noStrike">
              <a:solidFill>
                <a:srgbClr val="000000"/>
              </a:solidFill>
              <a:latin typeface="Arial"/>
              <a:ea typeface="Arial"/>
              <a:cs typeface="Arial"/>
              <a:sym typeface="Arial"/>
            </a:endParaRPr>
          </a:p>
        </p:txBody>
      </p:sp>
      <p:sp>
        <p:nvSpPr>
          <p:cNvPr id="740" name="Google Shape;740;p11"/>
          <p:cNvSpPr txBox="1"/>
          <p:nvPr/>
        </p:nvSpPr>
        <p:spPr>
          <a:xfrm>
            <a:off x="6224026" y="1851660"/>
            <a:ext cx="2357700" cy="411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The stack has no moving parts, so the acoustic signature is low.</a:t>
            </a:r>
            <a:endParaRPr b="0" i="0" sz="1100" u="none" cap="none" strike="noStrike">
              <a:solidFill>
                <a:srgbClr val="000000"/>
              </a:solidFill>
              <a:latin typeface="Arial"/>
              <a:ea typeface="Arial"/>
              <a:cs typeface="Arial"/>
              <a:sym typeface="Arial"/>
            </a:endParaRPr>
          </a:p>
        </p:txBody>
      </p:sp>
      <p:cxnSp>
        <p:nvCxnSpPr>
          <p:cNvPr id="741" name="Google Shape;741;p11"/>
          <p:cNvCxnSpPr/>
          <p:nvPr/>
        </p:nvCxnSpPr>
        <p:spPr>
          <a:xfrm>
            <a:off x="6258316" y="2235708"/>
            <a:ext cx="2357700" cy="0"/>
          </a:xfrm>
          <a:prstGeom prst="straightConnector1">
            <a:avLst/>
          </a:prstGeom>
          <a:noFill/>
          <a:ln cap="flat" cmpd="sng" w="9525">
            <a:solidFill>
              <a:srgbClr val="C3DCD0"/>
            </a:solidFill>
            <a:prstDash val="solid"/>
            <a:round/>
            <a:headEnd len="sm" w="sm" type="none"/>
            <a:tailEnd len="sm" w="sm" type="none"/>
          </a:ln>
          <a:effectLst>
            <a:outerShdw blurRad="30000" rotWithShape="0" dir="5400000" dist="15000">
              <a:srgbClr val="000000">
                <a:alpha val="38039"/>
              </a:srgbClr>
            </a:outerShdw>
          </a:effectLst>
        </p:spPr>
      </p:cxnSp>
      <p:sp>
        <p:nvSpPr>
          <p:cNvPr id="742" name="Google Shape;742;p11"/>
          <p:cNvSpPr txBox="1"/>
          <p:nvPr/>
        </p:nvSpPr>
        <p:spPr>
          <a:xfrm>
            <a:off x="6224026" y="2276856"/>
            <a:ext cx="23577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5A6B75"/>
                </a:solidFill>
                <a:latin typeface="Arial"/>
                <a:ea typeface="Arial"/>
                <a:cs typeface="Arial"/>
                <a:sym typeface="Arial"/>
              </a:rPr>
              <a:t>compressors and fans still add noise</a:t>
            </a:r>
            <a:endParaRPr b="0" i="0" sz="1100" u="none" cap="none" strike="noStrike">
              <a:solidFill>
                <a:srgbClr val="000000"/>
              </a:solidFill>
              <a:latin typeface="Arial"/>
              <a:ea typeface="Arial"/>
              <a:cs typeface="Arial"/>
              <a:sym typeface="Arial"/>
            </a:endParaRPr>
          </a:p>
        </p:txBody>
      </p:sp>
      <p:sp>
        <p:nvSpPr>
          <p:cNvPr id="743" name="Google Shape;743;p11"/>
          <p:cNvSpPr/>
          <p:nvPr/>
        </p:nvSpPr>
        <p:spPr>
          <a:xfrm>
            <a:off x="377192" y="2606040"/>
            <a:ext cx="2659200" cy="1302900"/>
          </a:xfrm>
          <a:prstGeom prst="roundRect">
            <a:avLst>
              <a:gd fmla="val 3684" name="adj"/>
            </a:avLst>
          </a:prstGeom>
          <a:solidFill>
            <a:srgbClr val="E9F3EE"/>
          </a:solidFill>
          <a:ln cap="flat" cmpd="sng" w="9525">
            <a:solidFill>
              <a:srgbClr val="C3DCD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dv3.png" id="744" name="Google Shape;744;p11"/>
          <p:cNvPicPr preferRelativeResize="0"/>
          <p:nvPr/>
        </p:nvPicPr>
        <p:blipFill rotWithShape="1">
          <a:blip r:embed="rId6">
            <a:alphaModFix/>
          </a:blip>
          <a:srcRect b="0" l="0" r="0" t="0"/>
          <a:stretch/>
        </p:blipFill>
        <p:spPr>
          <a:xfrm>
            <a:off x="528068" y="2729484"/>
            <a:ext cx="425196" cy="425196"/>
          </a:xfrm>
          <a:prstGeom prst="rect">
            <a:avLst/>
          </a:prstGeom>
          <a:noFill/>
          <a:ln>
            <a:noFill/>
          </a:ln>
        </p:spPr>
      </p:pic>
      <p:sp>
        <p:nvSpPr>
          <p:cNvPr id="745" name="Google Shape;745;p11"/>
          <p:cNvSpPr txBox="1"/>
          <p:nvPr/>
        </p:nvSpPr>
        <p:spPr>
          <a:xfrm>
            <a:off x="1001272" y="2825496"/>
            <a:ext cx="18366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2E7D5B"/>
                </a:solidFill>
                <a:latin typeface="Arial"/>
                <a:ea typeface="Arial"/>
                <a:cs typeface="Arial"/>
                <a:sym typeface="Arial"/>
              </a:rPr>
              <a:t>Rapid refuelling</a:t>
            </a:r>
            <a:endParaRPr b="0" i="0" sz="1100" u="none" cap="none" strike="noStrike">
              <a:solidFill>
                <a:srgbClr val="000000"/>
              </a:solidFill>
              <a:latin typeface="Arial"/>
              <a:ea typeface="Arial"/>
              <a:cs typeface="Arial"/>
              <a:sym typeface="Arial"/>
            </a:endParaRPr>
          </a:p>
        </p:txBody>
      </p:sp>
      <p:sp>
        <p:nvSpPr>
          <p:cNvPr id="746" name="Google Shape;746;p11"/>
          <p:cNvSpPr txBox="1"/>
          <p:nvPr/>
        </p:nvSpPr>
        <p:spPr>
          <a:xfrm>
            <a:off x="493778" y="3250692"/>
            <a:ext cx="2357700" cy="411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Minutes, not hours — it runs as long as fuel is supplied.</a:t>
            </a:r>
            <a:endParaRPr b="0" i="0" sz="1100" u="none" cap="none" strike="noStrike">
              <a:solidFill>
                <a:srgbClr val="000000"/>
              </a:solidFill>
              <a:latin typeface="Arial"/>
              <a:ea typeface="Arial"/>
              <a:cs typeface="Arial"/>
              <a:sym typeface="Arial"/>
            </a:endParaRPr>
          </a:p>
        </p:txBody>
      </p:sp>
      <p:cxnSp>
        <p:nvCxnSpPr>
          <p:cNvPr id="747" name="Google Shape;747;p11"/>
          <p:cNvCxnSpPr/>
          <p:nvPr/>
        </p:nvCxnSpPr>
        <p:spPr>
          <a:xfrm>
            <a:off x="528068" y="3634740"/>
            <a:ext cx="2357700" cy="0"/>
          </a:xfrm>
          <a:prstGeom prst="straightConnector1">
            <a:avLst/>
          </a:prstGeom>
          <a:noFill/>
          <a:ln cap="flat" cmpd="sng" w="9525">
            <a:solidFill>
              <a:srgbClr val="C3DCD0"/>
            </a:solidFill>
            <a:prstDash val="solid"/>
            <a:round/>
            <a:headEnd len="sm" w="sm" type="none"/>
            <a:tailEnd len="sm" w="sm" type="none"/>
          </a:ln>
          <a:effectLst>
            <a:outerShdw blurRad="30000" rotWithShape="0" dir="5400000" dist="15000">
              <a:srgbClr val="000000">
                <a:alpha val="38039"/>
              </a:srgbClr>
            </a:outerShdw>
          </a:effectLst>
        </p:spPr>
      </p:cxnSp>
      <p:sp>
        <p:nvSpPr>
          <p:cNvPr id="748" name="Google Shape;748;p11"/>
          <p:cNvSpPr txBox="1"/>
          <p:nvPr/>
        </p:nvSpPr>
        <p:spPr>
          <a:xfrm>
            <a:off x="493778" y="3675887"/>
            <a:ext cx="23577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5A6B75"/>
                </a:solidFill>
                <a:latin typeface="Arial"/>
                <a:ea typeface="Arial"/>
                <a:cs typeface="Arial"/>
                <a:sym typeface="Arial"/>
              </a:rPr>
              <a:t>needs accessible hydrogen infrastructure</a:t>
            </a:r>
            <a:endParaRPr b="0" i="0" sz="1100" u="none" cap="none" strike="noStrike">
              <a:solidFill>
                <a:srgbClr val="000000"/>
              </a:solidFill>
              <a:latin typeface="Arial"/>
              <a:ea typeface="Arial"/>
              <a:cs typeface="Arial"/>
              <a:sym typeface="Arial"/>
            </a:endParaRPr>
          </a:p>
        </p:txBody>
      </p:sp>
      <p:sp>
        <p:nvSpPr>
          <p:cNvPr id="749" name="Google Shape;749;p11"/>
          <p:cNvSpPr/>
          <p:nvPr/>
        </p:nvSpPr>
        <p:spPr>
          <a:xfrm>
            <a:off x="3242315" y="2606040"/>
            <a:ext cx="2659200" cy="1302900"/>
          </a:xfrm>
          <a:prstGeom prst="roundRect">
            <a:avLst>
              <a:gd fmla="val 3684" name="adj"/>
            </a:avLst>
          </a:prstGeom>
          <a:solidFill>
            <a:srgbClr val="E9F3EE"/>
          </a:solidFill>
          <a:ln cap="flat" cmpd="sng" w="9525">
            <a:solidFill>
              <a:srgbClr val="C3DCD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dv4.png" id="750" name="Google Shape;750;p11"/>
          <p:cNvPicPr preferRelativeResize="0"/>
          <p:nvPr/>
        </p:nvPicPr>
        <p:blipFill rotWithShape="1">
          <a:blip r:embed="rId7">
            <a:alphaModFix/>
          </a:blip>
          <a:srcRect b="0" l="0" r="0" t="0"/>
          <a:stretch/>
        </p:blipFill>
        <p:spPr>
          <a:xfrm>
            <a:off x="3393192" y="2729484"/>
            <a:ext cx="425196" cy="425196"/>
          </a:xfrm>
          <a:prstGeom prst="rect">
            <a:avLst/>
          </a:prstGeom>
          <a:noFill/>
          <a:ln>
            <a:noFill/>
          </a:ln>
        </p:spPr>
      </p:pic>
      <p:sp>
        <p:nvSpPr>
          <p:cNvPr id="751" name="Google Shape;751;p11"/>
          <p:cNvSpPr txBox="1"/>
          <p:nvPr/>
        </p:nvSpPr>
        <p:spPr>
          <a:xfrm>
            <a:off x="3866396" y="2825496"/>
            <a:ext cx="18366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2E7D5B"/>
                </a:solidFill>
                <a:latin typeface="Arial"/>
                <a:ea typeface="Arial"/>
                <a:cs typeface="Arial"/>
                <a:sym typeface="Arial"/>
              </a:rPr>
              <a:t>Modular scaling</a:t>
            </a:r>
            <a:endParaRPr b="0" i="0" sz="1100" u="none" cap="none" strike="noStrike">
              <a:solidFill>
                <a:srgbClr val="000000"/>
              </a:solidFill>
              <a:latin typeface="Arial"/>
              <a:ea typeface="Arial"/>
              <a:cs typeface="Arial"/>
              <a:sym typeface="Arial"/>
            </a:endParaRPr>
          </a:p>
        </p:txBody>
      </p:sp>
      <p:sp>
        <p:nvSpPr>
          <p:cNvPr id="752" name="Google Shape;752;p11"/>
          <p:cNvSpPr txBox="1"/>
          <p:nvPr/>
        </p:nvSpPr>
        <p:spPr>
          <a:xfrm>
            <a:off x="3358902" y="3250692"/>
            <a:ext cx="2357700" cy="411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Add area, add cells, or add stacks to reach the power you need.</a:t>
            </a:r>
            <a:endParaRPr b="0" i="0" sz="1100" u="none" cap="none" strike="noStrike">
              <a:solidFill>
                <a:srgbClr val="000000"/>
              </a:solidFill>
              <a:latin typeface="Arial"/>
              <a:ea typeface="Arial"/>
              <a:cs typeface="Arial"/>
              <a:sym typeface="Arial"/>
            </a:endParaRPr>
          </a:p>
        </p:txBody>
      </p:sp>
      <p:cxnSp>
        <p:nvCxnSpPr>
          <p:cNvPr id="753" name="Google Shape;753;p11"/>
          <p:cNvCxnSpPr/>
          <p:nvPr/>
        </p:nvCxnSpPr>
        <p:spPr>
          <a:xfrm>
            <a:off x="3393192" y="3634740"/>
            <a:ext cx="2357700" cy="0"/>
          </a:xfrm>
          <a:prstGeom prst="straightConnector1">
            <a:avLst/>
          </a:prstGeom>
          <a:noFill/>
          <a:ln cap="flat" cmpd="sng" w="9525">
            <a:solidFill>
              <a:srgbClr val="C3DCD0"/>
            </a:solidFill>
            <a:prstDash val="solid"/>
            <a:round/>
            <a:headEnd len="sm" w="sm" type="none"/>
            <a:tailEnd len="sm" w="sm" type="none"/>
          </a:ln>
          <a:effectLst>
            <a:outerShdw blurRad="30000" rotWithShape="0" dir="5400000" dist="15000">
              <a:srgbClr val="000000">
                <a:alpha val="38039"/>
              </a:srgbClr>
            </a:outerShdw>
          </a:effectLst>
        </p:spPr>
      </p:cxnSp>
      <p:sp>
        <p:nvSpPr>
          <p:cNvPr id="754" name="Google Shape;754;p11"/>
          <p:cNvSpPr txBox="1"/>
          <p:nvPr/>
        </p:nvSpPr>
        <p:spPr>
          <a:xfrm>
            <a:off x="3358902" y="3675887"/>
            <a:ext cx="23577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5A6B75"/>
                </a:solidFill>
                <a:latin typeface="Arial"/>
                <a:ea typeface="Arial"/>
                <a:cs typeface="Arial"/>
                <a:sym typeface="Arial"/>
              </a:rPr>
              <a:t>packaging and cooling scale too</a:t>
            </a:r>
            <a:endParaRPr b="0" i="0" sz="1100" u="none" cap="none" strike="noStrike">
              <a:solidFill>
                <a:srgbClr val="000000"/>
              </a:solidFill>
              <a:latin typeface="Arial"/>
              <a:ea typeface="Arial"/>
              <a:cs typeface="Arial"/>
              <a:sym typeface="Arial"/>
            </a:endParaRPr>
          </a:p>
        </p:txBody>
      </p:sp>
      <p:sp>
        <p:nvSpPr>
          <p:cNvPr id="755" name="Google Shape;755;p11"/>
          <p:cNvSpPr/>
          <p:nvPr/>
        </p:nvSpPr>
        <p:spPr>
          <a:xfrm>
            <a:off x="6107439" y="2606040"/>
            <a:ext cx="2659200" cy="1302900"/>
          </a:xfrm>
          <a:prstGeom prst="roundRect">
            <a:avLst>
              <a:gd fmla="val 3684" name="adj"/>
            </a:avLst>
          </a:prstGeom>
          <a:solidFill>
            <a:srgbClr val="E9F3EE"/>
          </a:solidFill>
          <a:ln cap="flat" cmpd="sng" w="9525">
            <a:solidFill>
              <a:srgbClr val="C3DCD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dv5.png" id="756" name="Google Shape;756;p11"/>
          <p:cNvPicPr preferRelativeResize="0"/>
          <p:nvPr/>
        </p:nvPicPr>
        <p:blipFill rotWithShape="1">
          <a:blip r:embed="rId8">
            <a:alphaModFix/>
          </a:blip>
          <a:srcRect b="0" l="0" r="0" t="0"/>
          <a:stretch/>
        </p:blipFill>
        <p:spPr>
          <a:xfrm>
            <a:off x="6258316" y="2729484"/>
            <a:ext cx="425196" cy="425196"/>
          </a:xfrm>
          <a:prstGeom prst="rect">
            <a:avLst/>
          </a:prstGeom>
          <a:noFill/>
          <a:ln>
            <a:noFill/>
          </a:ln>
        </p:spPr>
      </p:pic>
      <p:sp>
        <p:nvSpPr>
          <p:cNvPr id="757" name="Google Shape;757;p11"/>
          <p:cNvSpPr txBox="1"/>
          <p:nvPr/>
        </p:nvSpPr>
        <p:spPr>
          <a:xfrm>
            <a:off x="6731520" y="2825496"/>
            <a:ext cx="18366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2E7D5B"/>
                </a:solidFill>
                <a:latin typeface="Arial"/>
                <a:ea typeface="Arial"/>
                <a:cs typeface="Arial"/>
                <a:sym typeface="Arial"/>
              </a:rPr>
              <a:t>Long-duration duty</a:t>
            </a:r>
            <a:endParaRPr b="0" i="0" sz="1100" u="none" cap="none" strike="noStrike">
              <a:solidFill>
                <a:srgbClr val="000000"/>
              </a:solidFill>
              <a:latin typeface="Arial"/>
              <a:ea typeface="Arial"/>
              <a:cs typeface="Arial"/>
              <a:sym typeface="Arial"/>
            </a:endParaRPr>
          </a:p>
        </p:txBody>
      </p:sp>
      <p:sp>
        <p:nvSpPr>
          <p:cNvPr id="758" name="Google Shape;758;p11"/>
          <p:cNvSpPr txBox="1"/>
          <p:nvPr/>
        </p:nvSpPr>
        <p:spPr>
          <a:xfrm>
            <a:off x="6224026" y="3250692"/>
            <a:ext cx="2357700" cy="411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Sustained power and long autonomy from stored fuel.</a:t>
            </a:r>
            <a:endParaRPr b="0" i="0" sz="1100" u="none" cap="none" strike="noStrike">
              <a:solidFill>
                <a:srgbClr val="000000"/>
              </a:solidFill>
              <a:latin typeface="Arial"/>
              <a:ea typeface="Arial"/>
              <a:cs typeface="Arial"/>
              <a:sym typeface="Arial"/>
            </a:endParaRPr>
          </a:p>
        </p:txBody>
      </p:sp>
      <p:cxnSp>
        <p:nvCxnSpPr>
          <p:cNvPr id="759" name="Google Shape;759;p11"/>
          <p:cNvCxnSpPr/>
          <p:nvPr/>
        </p:nvCxnSpPr>
        <p:spPr>
          <a:xfrm>
            <a:off x="6258316" y="3634740"/>
            <a:ext cx="2357700" cy="0"/>
          </a:xfrm>
          <a:prstGeom prst="straightConnector1">
            <a:avLst/>
          </a:prstGeom>
          <a:noFill/>
          <a:ln cap="flat" cmpd="sng" w="9525">
            <a:solidFill>
              <a:srgbClr val="C3DCD0"/>
            </a:solidFill>
            <a:prstDash val="solid"/>
            <a:round/>
            <a:headEnd len="sm" w="sm" type="none"/>
            <a:tailEnd len="sm" w="sm" type="none"/>
          </a:ln>
          <a:effectLst>
            <a:outerShdw blurRad="30000" rotWithShape="0" dir="5400000" dist="15000">
              <a:srgbClr val="000000">
                <a:alpha val="38039"/>
              </a:srgbClr>
            </a:outerShdw>
          </a:effectLst>
        </p:spPr>
      </p:cxnSp>
      <p:sp>
        <p:nvSpPr>
          <p:cNvPr id="760" name="Google Shape;760;p11"/>
          <p:cNvSpPr txBox="1"/>
          <p:nvPr/>
        </p:nvSpPr>
        <p:spPr>
          <a:xfrm>
            <a:off x="6224026" y="3675887"/>
            <a:ext cx="23577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600"/>
              <a:buFont typeface="Arial"/>
              <a:buNone/>
            </a:pPr>
            <a:r>
              <a:rPr b="0" i="0" lang="en" sz="600" u="none" cap="none" strike="noStrike">
                <a:solidFill>
                  <a:srgbClr val="5A6B75"/>
                </a:solidFill>
                <a:latin typeface="Arial"/>
                <a:ea typeface="Arial"/>
                <a:cs typeface="Arial"/>
                <a:sym typeface="Arial"/>
              </a:rPr>
              <a:t>storage volume and cost still matter</a:t>
            </a:r>
            <a:endParaRPr b="0" i="0" sz="1100" u="none" cap="none" strike="noStrike">
              <a:solidFill>
                <a:srgbClr val="000000"/>
              </a:solidFill>
              <a:latin typeface="Arial"/>
              <a:ea typeface="Arial"/>
              <a:cs typeface="Arial"/>
              <a:sym typeface="Arial"/>
            </a:endParaRPr>
          </a:p>
        </p:txBody>
      </p:sp>
      <p:sp>
        <p:nvSpPr>
          <p:cNvPr id="761" name="Google Shape;761;p11"/>
          <p:cNvSpPr txBox="1"/>
          <p:nvPr/>
        </p:nvSpPr>
        <p:spPr>
          <a:xfrm>
            <a:off x="342901" y="4114800"/>
            <a:ext cx="83895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Read the grey line under each claim — every advantage is conditional at system level. Clean at the point of use does not mean clean upstream.</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2"/>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6</a:t>
            </a:r>
            <a:r>
              <a:rPr b="1" i="0" lang="en" sz="700" u="none" cap="none" strike="noStrike">
                <a:solidFill>
                  <a:srgbClr val="C77A12"/>
                </a:solidFill>
                <a:latin typeface="Arial"/>
                <a:ea typeface="Arial"/>
                <a:cs typeface="Arial"/>
                <a:sym typeface="Arial"/>
              </a:rPr>
              <a:t> · WHERE IT FITS</a:t>
            </a:r>
            <a:endParaRPr b="0" i="0" sz="1100" u="none" cap="none" strike="noStrike">
              <a:solidFill>
                <a:srgbClr val="000000"/>
              </a:solidFill>
              <a:latin typeface="Arial"/>
              <a:ea typeface="Arial"/>
              <a:cs typeface="Arial"/>
              <a:sym typeface="Arial"/>
            </a:endParaRPr>
          </a:p>
        </p:txBody>
      </p:sp>
      <p:sp>
        <p:nvSpPr>
          <p:cNvPr id="768" name="Google Shape;768;p12"/>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Limits and engineering challenges</a:t>
            </a:r>
            <a:endParaRPr b="0" i="0" sz="1100" u="none" cap="none" strike="noStrike">
              <a:solidFill>
                <a:srgbClr val="000000"/>
              </a:solidFill>
              <a:latin typeface="Arial"/>
              <a:ea typeface="Arial"/>
              <a:cs typeface="Arial"/>
              <a:sym typeface="Arial"/>
            </a:endParaRPr>
          </a:p>
        </p:txBody>
      </p:sp>
      <p:sp>
        <p:nvSpPr>
          <p:cNvPr id="769" name="Google Shape;769;p12"/>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The simple net reaction hides a demanding fuel, thermal, water, safety and cost problem.</a:t>
            </a:r>
            <a:endParaRPr b="0" i="0" sz="1100" u="none" cap="none" strike="noStrike">
              <a:solidFill>
                <a:srgbClr val="000000"/>
              </a:solidFill>
              <a:latin typeface="Arial"/>
              <a:ea typeface="Arial"/>
              <a:cs typeface="Arial"/>
              <a:sym typeface="Arial"/>
            </a:endParaRPr>
          </a:p>
        </p:txBody>
      </p:sp>
      <p:sp>
        <p:nvSpPr>
          <p:cNvPr id="770" name="Google Shape;770;p12"/>
          <p:cNvSpPr/>
          <p:nvPr/>
        </p:nvSpPr>
        <p:spPr>
          <a:xfrm>
            <a:off x="377192" y="1207008"/>
            <a:ext cx="1963500" cy="1261800"/>
          </a:xfrm>
          <a:prstGeom prst="roundRect">
            <a:avLst>
              <a:gd fmla="val 3804"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lim0.png" id="771" name="Google Shape;771;p12"/>
          <p:cNvPicPr preferRelativeResize="0"/>
          <p:nvPr/>
        </p:nvPicPr>
        <p:blipFill rotWithShape="1">
          <a:blip r:embed="rId3">
            <a:alphaModFix/>
          </a:blip>
          <a:srcRect b="0" l="0" r="0" t="0"/>
          <a:stretch/>
        </p:blipFill>
        <p:spPr>
          <a:xfrm>
            <a:off x="514352" y="1330452"/>
            <a:ext cx="384048" cy="384048"/>
          </a:xfrm>
          <a:prstGeom prst="rect">
            <a:avLst/>
          </a:prstGeom>
          <a:noFill/>
          <a:ln>
            <a:noFill/>
          </a:ln>
        </p:spPr>
      </p:pic>
      <p:sp>
        <p:nvSpPr>
          <p:cNvPr id="772" name="Google Shape;772;p12"/>
          <p:cNvSpPr txBox="1"/>
          <p:nvPr/>
        </p:nvSpPr>
        <p:spPr>
          <a:xfrm>
            <a:off x="480062" y="1783080"/>
            <a:ext cx="16893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Carbon intensity</a:t>
            </a:r>
            <a:endParaRPr b="0" i="0" sz="1100" u="none" cap="none" strike="noStrike">
              <a:solidFill>
                <a:srgbClr val="000000"/>
              </a:solidFill>
              <a:latin typeface="Arial"/>
              <a:ea typeface="Arial"/>
              <a:cs typeface="Arial"/>
              <a:sym typeface="Arial"/>
            </a:endParaRPr>
          </a:p>
        </p:txBody>
      </p:sp>
      <p:sp>
        <p:nvSpPr>
          <p:cNvPr id="773" name="Google Shape;773;p12"/>
          <p:cNvSpPr txBox="1"/>
          <p:nvPr/>
        </p:nvSpPr>
        <p:spPr>
          <a:xfrm>
            <a:off x="480062" y="2016252"/>
            <a:ext cx="16893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Lifecycle emissions depend on how the hydrogen was produced.</a:t>
            </a:r>
            <a:endParaRPr b="0" i="0" sz="1100" u="none" cap="none" strike="noStrike">
              <a:solidFill>
                <a:srgbClr val="000000"/>
              </a:solidFill>
              <a:latin typeface="Arial"/>
              <a:ea typeface="Arial"/>
              <a:cs typeface="Arial"/>
              <a:sym typeface="Arial"/>
            </a:endParaRPr>
          </a:p>
        </p:txBody>
      </p:sp>
      <p:sp>
        <p:nvSpPr>
          <p:cNvPr id="774" name="Google Shape;774;p12"/>
          <p:cNvSpPr/>
          <p:nvPr/>
        </p:nvSpPr>
        <p:spPr>
          <a:xfrm>
            <a:off x="2519176" y="1207008"/>
            <a:ext cx="1963500" cy="1261800"/>
          </a:xfrm>
          <a:prstGeom prst="roundRect">
            <a:avLst>
              <a:gd fmla="val 3804"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lim1.png" id="775" name="Google Shape;775;p12"/>
          <p:cNvPicPr preferRelativeResize="0"/>
          <p:nvPr/>
        </p:nvPicPr>
        <p:blipFill rotWithShape="1">
          <a:blip r:embed="rId4">
            <a:alphaModFix/>
          </a:blip>
          <a:srcRect b="0" l="0" r="0" t="0"/>
          <a:stretch/>
        </p:blipFill>
        <p:spPr>
          <a:xfrm>
            <a:off x="2656337" y="1330452"/>
            <a:ext cx="384048" cy="384048"/>
          </a:xfrm>
          <a:prstGeom prst="rect">
            <a:avLst/>
          </a:prstGeom>
          <a:noFill/>
          <a:ln>
            <a:noFill/>
          </a:ln>
        </p:spPr>
      </p:pic>
      <p:sp>
        <p:nvSpPr>
          <p:cNvPr id="776" name="Google Shape;776;p12"/>
          <p:cNvSpPr txBox="1"/>
          <p:nvPr/>
        </p:nvSpPr>
        <p:spPr>
          <a:xfrm>
            <a:off x="2622047" y="1783080"/>
            <a:ext cx="16893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Storage and infrastructure</a:t>
            </a:r>
            <a:endParaRPr b="0" i="0" sz="1100" u="none" cap="none" strike="noStrike">
              <a:solidFill>
                <a:srgbClr val="000000"/>
              </a:solidFill>
              <a:latin typeface="Arial"/>
              <a:ea typeface="Arial"/>
              <a:cs typeface="Arial"/>
              <a:sym typeface="Arial"/>
            </a:endParaRPr>
          </a:p>
        </p:txBody>
      </p:sp>
      <p:sp>
        <p:nvSpPr>
          <p:cNvPr id="777" name="Google Shape;777;p12"/>
          <p:cNvSpPr txBox="1"/>
          <p:nvPr/>
        </p:nvSpPr>
        <p:spPr>
          <a:xfrm>
            <a:off x="2622047" y="2016252"/>
            <a:ext cx="16893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Low volumetric density forces high pressure, cryogenics or carriers.</a:t>
            </a:r>
            <a:endParaRPr b="0" i="0" sz="1100" u="none" cap="none" strike="noStrike">
              <a:solidFill>
                <a:srgbClr val="000000"/>
              </a:solidFill>
              <a:latin typeface="Arial"/>
              <a:ea typeface="Arial"/>
              <a:cs typeface="Arial"/>
              <a:sym typeface="Arial"/>
            </a:endParaRPr>
          </a:p>
        </p:txBody>
      </p:sp>
      <p:sp>
        <p:nvSpPr>
          <p:cNvPr id="778" name="Google Shape;778;p12"/>
          <p:cNvSpPr/>
          <p:nvPr/>
        </p:nvSpPr>
        <p:spPr>
          <a:xfrm>
            <a:off x="4661161" y="1207008"/>
            <a:ext cx="1963500" cy="1261800"/>
          </a:xfrm>
          <a:prstGeom prst="roundRect">
            <a:avLst>
              <a:gd fmla="val 3804"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lim2.png" id="779" name="Google Shape;779;p12"/>
          <p:cNvPicPr preferRelativeResize="0"/>
          <p:nvPr/>
        </p:nvPicPr>
        <p:blipFill rotWithShape="1">
          <a:blip r:embed="rId5">
            <a:alphaModFix/>
          </a:blip>
          <a:srcRect b="0" l="0" r="0" t="0"/>
          <a:stretch/>
        </p:blipFill>
        <p:spPr>
          <a:xfrm>
            <a:off x="4798322" y="1330452"/>
            <a:ext cx="384048" cy="384048"/>
          </a:xfrm>
          <a:prstGeom prst="rect">
            <a:avLst/>
          </a:prstGeom>
          <a:noFill/>
          <a:ln>
            <a:noFill/>
          </a:ln>
        </p:spPr>
      </p:pic>
      <p:sp>
        <p:nvSpPr>
          <p:cNvPr id="780" name="Google Shape;780;p12"/>
          <p:cNvSpPr txBox="1"/>
          <p:nvPr/>
        </p:nvSpPr>
        <p:spPr>
          <a:xfrm>
            <a:off x="4764032" y="1783080"/>
            <a:ext cx="16893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Cost and platinum</a:t>
            </a:r>
            <a:endParaRPr b="0" i="0" sz="1100" u="none" cap="none" strike="noStrike">
              <a:solidFill>
                <a:srgbClr val="000000"/>
              </a:solidFill>
              <a:latin typeface="Arial"/>
              <a:ea typeface="Arial"/>
              <a:cs typeface="Arial"/>
              <a:sym typeface="Arial"/>
            </a:endParaRPr>
          </a:p>
        </p:txBody>
      </p:sp>
      <p:sp>
        <p:nvSpPr>
          <p:cNvPr id="781" name="Google Shape;781;p12"/>
          <p:cNvSpPr txBox="1"/>
          <p:nvPr/>
        </p:nvSpPr>
        <p:spPr>
          <a:xfrm>
            <a:off x="4764032" y="2016252"/>
            <a:ext cx="16893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Catalysts, membranes, tanks and balance-of-plant all add cost.</a:t>
            </a:r>
            <a:endParaRPr b="0" i="0" sz="1100" u="none" cap="none" strike="noStrike">
              <a:solidFill>
                <a:srgbClr val="000000"/>
              </a:solidFill>
              <a:latin typeface="Arial"/>
              <a:ea typeface="Arial"/>
              <a:cs typeface="Arial"/>
              <a:sym typeface="Arial"/>
            </a:endParaRPr>
          </a:p>
        </p:txBody>
      </p:sp>
      <p:sp>
        <p:nvSpPr>
          <p:cNvPr id="782" name="Google Shape;782;p12"/>
          <p:cNvSpPr/>
          <p:nvPr/>
        </p:nvSpPr>
        <p:spPr>
          <a:xfrm>
            <a:off x="6803147" y="1207008"/>
            <a:ext cx="1963500" cy="1261800"/>
          </a:xfrm>
          <a:prstGeom prst="roundRect">
            <a:avLst>
              <a:gd fmla="val 3804"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lim3.png" id="783" name="Google Shape;783;p12"/>
          <p:cNvPicPr preferRelativeResize="0"/>
          <p:nvPr/>
        </p:nvPicPr>
        <p:blipFill rotWithShape="1">
          <a:blip r:embed="rId6">
            <a:alphaModFix/>
          </a:blip>
          <a:srcRect b="0" l="0" r="0" t="0"/>
          <a:stretch/>
        </p:blipFill>
        <p:spPr>
          <a:xfrm>
            <a:off x="6940307" y="1330452"/>
            <a:ext cx="384048" cy="384048"/>
          </a:xfrm>
          <a:prstGeom prst="rect">
            <a:avLst/>
          </a:prstGeom>
          <a:noFill/>
          <a:ln>
            <a:noFill/>
          </a:ln>
        </p:spPr>
      </p:pic>
      <p:sp>
        <p:nvSpPr>
          <p:cNvPr id="784" name="Google Shape;784;p12"/>
          <p:cNvSpPr txBox="1"/>
          <p:nvPr/>
        </p:nvSpPr>
        <p:spPr>
          <a:xfrm>
            <a:off x="6906017" y="1783080"/>
            <a:ext cx="16893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Durability</a:t>
            </a:r>
            <a:endParaRPr b="0" i="0" sz="1100" u="none" cap="none" strike="noStrike">
              <a:solidFill>
                <a:srgbClr val="000000"/>
              </a:solidFill>
              <a:latin typeface="Arial"/>
              <a:ea typeface="Arial"/>
              <a:cs typeface="Arial"/>
              <a:sym typeface="Arial"/>
            </a:endParaRPr>
          </a:p>
        </p:txBody>
      </p:sp>
      <p:sp>
        <p:nvSpPr>
          <p:cNvPr id="785" name="Google Shape;785;p12"/>
          <p:cNvSpPr txBox="1"/>
          <p:nvPr/>
        </p:nvSpPr>
        <p:spPr>
          <a:xfrm>
            <a:off x="6906017" y="2016252"/>
            <a:ext cx="16893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Load cycling, start–stop and impurities shorten stack life.</a:t>
            </a:r>
            <a:endParaRPr b="0" i="0" sz="1100" u="none" cap="none" strike="noStrike">
              <a:solidFill>
                <a:srgbClr val="000000"/>
              </a:solidFill>
              <a:latin typeface="Arial"/>
              <a:ea typeface="Arial"/>
              <a:cs typeface="Arial"/>
              <a:sym typeface="Arial"/>
            </a:endParaRPr>
          </a:p>
        </p:txBody>
      </p:sp>
      <p:sp>
        <p:nvSpPr>
          <p:cNvPr id="786" name="Google Shape;786;p12"/>
          <p:cNvSpPr/>
          <p:nvPr/>
        </p:nvSpPr>
        <p:spPr>
          <a:xfrm>
            <a:off x="377192" y="2564892"/>
            <a:ext cx="1963500" cy="1261800"/>
          </a:xfrm>
          <a:prstGeom prst="roundRect">
            <a:avLst>
              <a:gd fmla="val 3804"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lim4.png" id="787" name="Google Shape;787;p12"/>
          <p:cNvPicPr preferRelativeResize="0"/>
          <p:nvPr/>
        </p:nvPicPr>
        <p:blipFill rotWithShape="1">
          <a:blip r:embed="rId7">
            <a:alphaModFix/>
          </a:blip>
          <a:srcRect b="0" l="0" r="0" t="0"/>
          <a:stretch/>
        </p:blipFill>
        <p:spPr>
          <a:xfrm>
            <a:off x="514352" y="2688336"/>
            <a:ext cx="384048" cy="384048"/>
          </a:xfrm>
          <a:prstGeom prst="rect">
            <a:avLst/>
          </a:prstGeom>
          <a:noFill/>
          <a:ln>
            <a:noFill/>
          </a:ln>
        </p:spPr>
      </p:pic>
      <p:sp>
        <p:nvSpPr>
          <p:cNvPr id="788" name="Google Shape;788;p12"/>
          <p:cNvSpPr txBox="1"/>
          <p:nvPr/>
        </p:nvSpPr>
        <p:spPr>
          <a:xfrm>
            <a:off x="480062" y="3140964"/>
            <a:ext cx="16893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Water and heat</a:t>
            </a:r>
            <a:endParaRPr b="0" i="0" sz="1100" u="none" cap="none" strike="noStrike">
              <a:solidFill>
                <a:srgbClr val="000000"/>
              </a:solidFill>
              <a:latin typeface="Arial"/>
              <a:ea typeface="Arial"/>
              <a:cs typeface="Arial"/>
              <a:sym typeface="Arial"/>
            </a:endParaRPr>
          </a:p>
        </p:txBody>
      </p:sp>
      <p:sp>
        <p:nvSpPr>
          <p:cNvPr id="789" name="Google Shape;789;p12"/>
          <p:cNvSpPr txBox="1"/>
          <p:nvPr/>
        </p:nvSpPr>
        <p:spPr>
          <a:xfrm>
            <a:off x="480062" y="3374136"/>
            <a:ext cx="16893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Dry-out raises resistance; flooding blocks gas. A narrow window.</a:t>
            </a:r>
            <a:endParaRPr b="0" i="0" sz="1100" u="none" cap="none" strike="noStrike">
              <a:solidFill>
                <a:srgbClr val="000000"/>
              </a:solidFill>
              <a:latin typeface="Arial"/>
              <a:ea typeface="Arial"/>
              <a:cs typeface="Arial"/>
              <a:sym typeface="Arial"/>
            </a:endParaRPr>
          </a:p>
        </p:txBody>
      </p:sp>
      <p:sp>
        <p:nvSpPr>
          <p:cNvPr id="790" name="Google Shape;790;p12"/>
          <p:cNvSpPr/>
          <p:nvPr/>
        </p:nvSpPr>
        <p:spPr>
          <a:xfrm>
            <a:off x="2519176" y="2564892"/>
            <a:ext cx="1963500" cy="1261800"/>
          </a:xfrm>
          <a:prstGeom prst="roundRect">
            <a:avLst>
              <a:gd fmla="val 3804"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lim5.png" id="791" name="Google Shape;791;p12"/>
          <p:cNvPicPr preferRelativeResize="0"/>
          <p:nvPr/>
        </p:nvPicPr>
        <p:blipFill rotWithShape="1">
          <a:blip r:embed="rId8">
            <a:alphaModFix/>
          </a:blip>
          <a:srcRect b="0" l="0" r="0" t="0"/>
          <a:stretch/>
        </p:blipFill>
        <p:spPr>
          <a:xfrm>
            <a:off x="2656337" y="2688336"/>
            <a:ext cx="384048" cy="384048"/>
          </a:xfrm>
          <a:prstGeom prst="rect">
            <a:avLst/>
          </a:prstGeom>
          <a:noFill/>
          <a:ln>
            <a:noFill/>
          </a:ln>
        </p:spPr>
      </p:pic>
      <p:sp>
        <p:nvSpPr>
          <p:cNvPr id="792" name="Google Shape;792;p12"/>
          <p:cNvSpPr txBox="1"/>
          <p:nvPr/>
        </p:nvSpPr>
        <p:spPr>
          <a:xfrm>
            <a:off x="2622047" y="3140964"/>
            <a:ext cx="16893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Parasitic loads</a:t>
            </a:r>
            <a:endParaRPr b="0" i="0" sz="1100" u="none" cap="none" strike="noStrike">
              <a:solidFill>
                <a:srgbClr val="000000"/>
              </a:solidFill>
              <a:latin typeface="Arial"/>
              <a:ea typeface="Arial"/>
              <a:cs typeface="Arial"/>
              <a:sym typeface="Arial"/>
            </a:endParaRPr>
          </a:p>
        </p:txBody>
      </p:sp>
      <p:sp>
        <p:nvSpPr>
          <p:cNvPr id="793" name="Google Shape;793;p12"/>
          <p:cNvSpPr txBox="1"/>
          <p:nvPr/>
        </p:nvSpPr>
        <p:spPr>
          <a:xfrm>
            <a:off x="2622047" y="3374136"/>
            <a:ext cx="16893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Compressors, pumps and cooling eat into net output.</a:t>
            </a:r>
            <a:endParaRPr b="0" i="0" sz="1100" u="none" cap="none" strike="noStrike">
              <a:solidFill>
                <a:srgbClr val="000000"/>
              </a:solidFill>
              <a:latin typeface="Arial"/>
              <a:ea typeface="Arial"/>
              <a:cs typeface="Arial"/>
              <a:sym typeface="Arial"/>
            </a:endParaRPr>
          </a:p>
        </p:txBody>
      </p:sp>
      <p:sp>
        <p:nvSpPr>
          <p:cNvPr id="794" name="Google Shape;794;p12"/>
          <p:cNvSpPr/>
          <p:nvPr/>
        </p:nvSpPr>
        <p:spPr>
          <a:xfrm>
            <a:off x="4661161" y="2564892"/>
            <a:ext cx="1963500" cy="1261800"/>
          </a:xfrm>
          <a:prstGeom prst="roundRect">
            <a:avLst>
              <a:gd fmla="val 3804"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lim6.png" id="795" name="Google Shape;795;p12"/>
          <p:cNvPicPr preferRelativeResize="0"/>
          <p:nvPr/>
        </p:nvPicPr>
        <p:blipFill rotWithShape="1">
          <a:blip r:embed="rId9">
            <a:alphaModFix/>
          </a:blip>
          <a:srcRect b="0" l="0" r="0" t="0"/>
          <a:stretch/>
        </p:blipFill>
        <p:spPr>
          <a:xfrm>
            <a:off x="4798322" y="2688336"/>
            <a:ext cx="384048" cy="384048"/>
          </a:xfrm>
          <a:prstGeom prst="rect">
            <a:avLst/>
          </a:prstGeom>
          <a:noFill/>
          <a:ln>
            <a:noFill/>
          </a:ln>
        </p:spPr>
      </p:pic>
      <p:sp>
        <p:nvSpPr>
          <p:cNvPr id="796" name="Google Shape;796;p12"/>
          <p:cNvSpPr txBox="1"/>
          <p:nvPr/>
        </p:nvSpPr>
        <p:spPr>
          <a:xfrm>
            <a:off x="4764032" y="3140964"/>
            <a:ext cx="16893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Cold start</a:t>
            </a:r>
            <a:endParaRPr b="0" i="0" sz="1100" u="none" cap="none" strike="noStrike">
              <a:solidFill>
                <a:srgbClr val="000000"/>
              </a:solidFill>
              <a:latin typeface="Arial"/>
              <a:ea typeface="Arial"/>
              <a:cs typeface="Arial"/>
              <a:sym typeface="Arial"/>
            </a:endParaRPr>
          </a:p>
        </p:txBody>
      </p:sp>
      <p:sp>
        <p:nvSpPr>
          <p:cNvPr id="797" name="Google Shape;797;p12"/>
          <p:cNvSpPr txBox="1"/>
          <p:nvPr/>
        </p:nvSpPr>
        <p:spPr>
          <a:xfrm>
            <a:off x="4764032" y="3374136"/>
            <a:ext cx="16893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Freeze conditions and delivery limits demand careful sequencing.</a:t>
            </a:r>
            <a:endParaRPr b="0" i="0" sz="1100" u="none" cap="none" strike="noStrike">
              <a:solidFill>
                <a:srgbClr val="000000"/>
              </a:solidFill>
              <a:latin typeface="Arial"/>
              <a:ea typeface="Arial"/>
              <a:cs typeface="Arial"/>
              <a:sym typeface="Arial"/>
            </a:endParaRPr>
          </a:p>
        </p:txBody>
      </p:sp>
      <p:sp>
        <p:nvSpPr>
          <p:cNvPr id="798" name="Google Shape;798;p12"/>
          <p:cNvSpPr/>
          <p:nvPr/>
        </p:nvSpPr>
        <p:spPr>
          <a:xfrm>
            <a:off x="6803147" y="2564892"/>
            <a:ext cx="1963500" cy="1261800"/>
          </a:xfrm>
          <a:prstGeom prst="roundRect">
            <a:avLst>
              <a:gd fmla="val 3804" name="adj"/>
            </a:avLst>
          </a:prstGeom>
          <a:solidFill>
            <a:srgbClr val="FBEDEA"/>
          </a:solidFill>
          <a:ln cap="flat" cmpd="sng" w="9525">
            <a:solidFill>
              <a:srgbClr val="EFCFC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lim7.png" id="799" name="Google Shape;799;p12"/>
          <p:cNvPicPr preferRelativeResize="0"/>
          <p:nvPr/>
        </p:nvPicPr>
        <p:blipFill rotWithShape="1">
          <a:blip r:embed="rId10">
            <a:alphaModFix/>
          </a:blip>
          <a:srcRect b="0" l="0" r="0" t="0"/>
          <a:stretch/>
        </p:blipFill>
        <p:spPr>
          <a:xfrm>
            <a:off x="6940307" y="2688336"/>
            <a:ext cx="384048" cy="384048"/>
          </a:xfrm>
          <a:prstGeom prst="rect">
            <a:avLst/>
          </a:prstGeom>
          <a:noFill/>
          <a:ln>
            <a:noFill/>
          </a:ln>
        </p:spPr>
      </p:pic>
      <p:sp>
        <p:nvSpPr>
          <p:cNvPr id="800" name="Google Shape;800;p12"/>
          <p:cNvSpPr txBox="1"/>
          <p:nvPr/>
        </p:nvSpPr>
        <p:spPr>
          <a:xfrm>
            <a:off x="6906017" y="3140964"/>
            <a:ext cx="1689300" cy="2193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B5342A"/>
                </a:solidFill>
                <a:latin typeface="Arial"/>
                <a:ea typeface="Arial"/>
                <a:cs typeface="Arial"/>
                <a:sym typeface="Arial"/>
              </a:rPr>
              <a:t>Safety engineering</a:t>
            </a:r>
            <a:endParaRPr b="0" i="0" sz="1100" u="none" cap="none" strike="noStrike">
              <a:solidFill>
                <a:srgbClr val="000000"/>
              </a:solidFill>
              <a:latin typeface="Arial"/>
              <a:ea typeface="Arial"/>
              <a:cs typeface="Arial"/>
              <a:sym typeface="Arial"/>
            </a:endParaRPr>
          </a:p>
        </p:txBody>
      </p:sp>
      <p:sp>
        <p:nvSpPr>
          <p:cNvPr id="801" name="Google Shape;801;p12"/>
          <p:cNvSpPr txBox="1"/>
          <p:nvPr/>
        </p:nvSpPr>
        <p:spPr>
          <a:xfrm>
            <a:off x="6906017" y="3374136"/>
            <a:ext cx="16893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Leak detection, ventilation, isolation and safe shutdown.</a:t>
            </a:r>
            <a:endParaRPr b="0" i="0" sz="1100" u="none" cap="none" strike="noStrike">
              <a:solidFill>
                <a:srgbClr val="000000"/>
              </a:solidFill>
              <a:latin typeface="Arial"/>
              <a:ea typeface="Arial"/>
              <a:cs typeface="Arial"/>
              <a:sym typeface="Arial"/>
            </a:endParaRPr>
          </a:p>
        </p:txBody>
      </p:sp>
      <p:sp>
        <p:nvSpPr>
          <p:cNvPr id="802" name="Google Shape;802;p12"/>
          <p:cNvSpPr/>
          <p:nvPr/>
        </p:nvSpPr>
        <p:spPr>
          <a:xfrm>
            <a:off x="377192" y="4032504"/>
            <a:ext cx="4080600" cy="672000"/>
          </a:xfrm>
          <a:prstGeom prst="roundRect">
            <a:avLst>
              <a:gd fmla="val 7142" name="adj"/>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3" name="Google Shape;803;p12"/>
          <p:cNvSpPr txBox="1"/>
          <p:nvPr/>
        </p:nvSpPr>
        <p:spPr>
          <a:xfrm>
            <a:off x="493778" y="4153205"/>
            <a:ext cx="38472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Two separate problem families</a:t>
            </a:r>
            <a:endParaRPr b="0" i="0" sz="1100" u="none" cap="none" strike="noStrike">
              <a:solidFill>
                <a:srgbClr val="000000"/>
              </a:solidFill>
              <a:latin typeface="Arial"/>
              <a:ea typeface="Arial"/>
              <a:cs typeface="Arial"/>
              <a:sym typeface="Arial"/>
            </a:endParaRPr>
          </a:p>
        </p:txBody>
      </p:sp>
      <p:sp>
        <p:nvSpPr>
          <p:cNvPr id="804" name="Google Shape;804;p12"/>
          <p:cNvSpPr txBox="1"/>
          <p:nvPr/>
        </p:nvSpPr>
        <p:spPr>
          <a:xfrm>
            <a:off x="493778" y="4329036"/>
            <a:ext cx="38472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Four of these are about hydrogen the fuel and sit outside the stack. The other four are electrochemical.</a:t>
            </a:r>
            <a:endParaRPr b="0" i="0" sz="1100" u="none" cap="none" strike="noStrike">
              <a:solidFill>
                <a:srgbClr val="000000"/>
              </a:solidFill>
              <a:latin typeface="Arial"/>
              <a:ea typeface="Arial"/>
              <a:cs typeface="Arial"/>
              <a:sym typeface="Arial"/>
            </a:endParaRPr>
          </a:p>
        </p:txBody>
      </p:sp>
      <p:sp>
        <p:nvSpPr>
          <p:cNvPr id="805" name="Google Shape;805;p12"/>
          <p:cNvSpPr/>
          <p:nvPr/>
        </p:nvSpPr>
        <p:spPr>
          <a:xfrm>
            <a:off x="4684033" y="4032504"/>
            <a:ext cx="4080600" cy="672000"/>
          </a:xfrm>
          <a:prstGeom prst="roundRect">
            <a:avLst>
              <a:gd fmla="val 7142" name="adj"/>
            </a:avLst>
          </a:prstGeom>
          <a:solidFill>
            <a:srgbClr val="F4F8FA"/>
          </a:solidFill>
          <a:ln cap="flat" cmpd="sng" w="9525">
            <a:solidFill>
              <a:srgbClr val="D5DEE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6" name="Google Shape;806;p12"/>
          <p:cNvSpPr txBox="1"/>
          <p:nvPr/>
        </p:nvSpPr>
        <p:spPr>
          <a:xfrm>
            <a:off x="4800620" y="4153205"/>
            <a:ext cx="3847200" cy="1965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1" i="0" lang="en" sz="800" u="none" cap="none" strike="noStrike">
                <a:solidFill>
                  <a:srgbClr val="14303F"/>
                </a:solidFill>
                <a:latin typeface="Arial"/>
                <a:ea typeface="Arial"/>
                <a:cs typeface="Arial"/>
                <a:sym typeface="Arial"/>
              </a:rPr>
              <a:t>The honest comparison</a:t>
            </a:r>
            <a:endParaRPr b="0" i="0" sz="1100" u="none" cap="none" strike="noStrike">
              <a:solidFill>
                <a:srgbClr val="000000"/>
              </a:solidFill>
              <a:latin typeface="Arial"/>
              <a:ea typeface="Arial"/>
              <a:cs typeface="Arial"/>
              <a:sym typeface="Arial"/>
            </a:endParaRPr>
          </a:p>
        </p:txBody>
      </p:sp>
      <p:sp>
        <p:nvSpPr>
          <p:cNvPr id="807" name="Google Shape;807;p12"/>
          <p:cNvSpPr txBox="1"/>
          <p:nvPr/>
        </p:nvSpPr>
        <p:spPr>
          <a:xfrm>
            <a:off x="4800620" y="4329036"/>
            <a:ext cx="38472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For short-range or grid-connected duty, batteries remain more efficient and considerably simpler.</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3"/>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6</a:t>
            </a:r>
            <a:r>
              <a:rPr b="1" i="0" lang="en" sz="700" u="none" cap="none" strike="noStrike">
                <a:solidFill>
                  <a:srgbClr val="C77A12"/>
                </a:solidFill>
                <a:latin typeface="Arial"/>
                <a:ea typeface="Arial"/>
                <a:cs typeface="Arial"/>
                <a:sym typeface="Arial"/>
              </a:rPr>
              <a:t> · WHERE IT FITS</a:t>
            </a:r>
            <a:endParaRPr b="0" i="0" sz="1100" u="none" cap="none" strike="noStrike">
              <a:solidFill>
                <a:srgbClr val="000000"/>
              </a:solidFill>
              <a:latin typeface="Arial"/>
              <a:ea typeface="Arial"/>
              <a:cs typeface="Arial"/>
              <a:sym typeface="Arial"/>
            </a:endParaRPr>
          </a:p>
        </p:txBody>
      </p:sp>
      <p:sp>
        <p:nvSpPr>
          <p:cNvPr id="814" name="Google Shape;814;p13"/>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Applications: where the duty cycle fits</a:t>
            </a:r>
            <a:endParaRPr b="0" i="0" sz="1100" u="none" cap="none" strike="noStrike">
              <a:solidFill>
                <a:srgbClr val="000000"/>
              </a:solidFill>
              <a:latin typeface="Arial"/>
              <a:ea typeface="Arial"/>
              <a:cs typeface="Arial"/>
              <a:sym typeface="Arial"/>
            </a:endParaRPr>
          </a:p>
        </p:txBody>
      </p:sp>
      <p:sp>
        <p:nvSpPr>
          <p:cNvPr id="815" name="Google Shape;815;p13"/>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Strongest when demand is high and hydrogen can be supplied at concentrated nodes.</a:t>
            </a:r>
            <a:endParaRPr b="0" i="0" sz="1100" u="none" cap="none" strike="noStrike">
              <a:solidFill>
                <a:srgbClr val="000000"/>
              </a:solidFill>
              <a:latin typeface="Arial"/>
              <a:ea typeface="Arial"/>
              <a:cs typeface="Arial"/>
              <a:sym typeface="Arial"/>
            </a:endParaRPr>
          </a:p>
        </p:txBody>
      </p:sp>
      <p:sp>
        <p:nvSpPr>
          <p:cNvPr id="816" name="Google Shape;816;p13"/>
          <p:cNvSpPr/>
          <p:nvPr/>
        </p:nvSpPr>
        <p:spPr>
          <a:xfrm>
            <a:off x="377192" y="1207008"/>
            <a:ext cx="2659200" cy="1261800"/>
          </a:xfrm>
          <a:prstGeom prst="roundRect">
            <a:avLst>
              <a:gd fmla="val 3804"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pp0.png" id="817" name="Google Shape;817;p13"/>
          <p:cNvPicPr preferRelativeResize="0"/>
          <p:nvPr/>
        </p:nvPicPr>
        <p:blipFill rotWithShape="1">
          <a:blip r:embed="rId3">
            <a:alphaModFix/>
          </a:blip>
          <a:srcRect b="0" l="0" r="0" t="0"/>
          <a:stretch/>
        </p:blipFill>
        <p:spPr>
          <a:xfrm>
            <a:off x="528068" y="1330452"/>
            <a:ext cx="425196" cy="425196"/>
          </a:xfrm>
          <a:prstGeom prst="rect">
            <a:avLst/>
          </a:prstGeom>
          <a:noFill/>
          <a:ln>
            <a:noFill/>
          </a:ln>
        </p:spPr>
      </p:pic>
      <p:sp>
        <p:nvSpPr>
          <p:cNvPr id="818" name="Google Shape;818;p13"/>
          <p:cNvSpPr txBox="1"/>
          <p:nvPr/>
        </p:nvSpPr>
        <p:spPr>
          <a:xfrm>
            <a:off x="1001272" y="1371600"/>
            <a:ext cx="18366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1F6FA8"/>
                </a:solidFill>
                <a:latin typeface="Arial"/>
                <a:ea typeface="Arial"/>
                <a:cs typeface="Arial"/>
                <a:sym typeface="Arial"/>
              </a:rPr>
              <a:t>Heavy-duty road</a:t>
            </a:r>
            <a:endParaRPr b="0" i="0" sz="1100" u="none" cap="none" strike="noStrike">
              <a:solidFill>
                <a:srgbClr val="000000"/>
              </a:solidFill>
              <a:latin typeface="Arial"/>
              <a:ea typeface="Arial"/>
              <a:cs typeface="Arial"/>
              <a:sym typeface="Arial"/>
            </a:endParaRPr>
          </a:p>
        </p:txBody>
      </p:sp>
      <p:sp>
        <p:nvSpPr>
          <p:cNvPr id="819" name="Google Shape;819;p13"/>
          <p:cNvSpPr txBox="1"/>
          <p:nvPr/>
        </p:nvSpPr>
        <p:spPr>
          <a:xfrm>
            <a:off x="1001272" y="1591056"/>
            <a:ext cx="18366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Trucks and buses.</a:t>
            </a:r>
            <a:endParaRPr b="0" i="0" sz="1100" u="none" cap="none" strike="noStrike">
              <a:solidFill>
                <a:srgbClr val="000000"/>
              </a:solidFill>
              <a:latin typeface="Arial"/>
              <a:ea typeface="Arial"/>
              <a:cs typeface="Arial"/>
              <a:sym typeface="Arial"/>
            </a:endParaRPr>
          </a:p>
        </p:txBody>
      </p:sp>
      <p:cxnSp>
        <p:nvCxnSpPr>
          <p:cNvPr id="820" name="Google Shape;820;p13"/>
          <p:cNvCxnSpPr/>
          <p:nvPr/>
        </p:nvCxnSpPr>
        <p:spPr>
          <a:xfrm>
            <a:off x="528068" y="1906524"/>
            <a:ext cx="2357700" cy="0"/>
          </a:xfrm>
          <a:prstGeom prst="straightConnector1">
            <a:avLst/>
          </a:prstGeom>
          <a:noFill/>
          <a:ln cap="flat" cmpd="sng" w="9525">
            <a:solidFill>
              <a:srgbClr val="C6DCEA"/>
            </a:solidFill>
            <a:prstDash val="solid"/>
            <a:round/>
            <a:headEnd len="sm" w="sm" type="none"/>
            <a:tailEnd len="sm" w="sm" type="none"/>
          </a:ln>
          <a:effectLst>
            <a:outerShdw blurRad="30000" rotWithShape="0" dir="5400000" dist="15000">
              <a:srgbClr val="000000">
                <a:alpha val="38039"/>
              </a:srgbClr>
            </a:outerShdw>
          </a:effectLst>
        </p:spPr>
      </p:cxnSp>
      <p:sp>
        <p:nvSpPr>
          <p:cNvPr id="821" name="Google Shape;821;p13"/>
          <p:cNvSpPr txBox="1"/>
          <p:nvPr/>
        </p:nvSpPr>
        <p:spPr>
          <a:xfrm>
            <a:off x="493778" y="1961388"/>
            <a:ext cx="23577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Long range, fast turnaround</a:t>
            </a:r>
            <a:endParaRPr b="0" i="0" sz="1100" u="none" cap="none" strike="noStrike">
              <a:solidFill>
                <a:srgbClr val="000000"/>
              </a:solidFill>
              <a:latin typeface="Arial"/>
              <a:ea typeface="Arial"/>
              <a:cs typeface="Arial"/>
              <a:sym typeface="Arial"/>
            </a:endParaRPr>
          </a:p>
        </p:txBody>
      </p:sp>
      <p:sp>
        <p:nvSpPr>
          <p:cNvPr id="822" name="Google Shape;822;p13"/>
          <p:cNvSpPr/>
          <p:nvPr/>
        </p:nvSpPr>
        <p:spPr>
          <a:xfrm>
            <a:off x="3242315" y="1207008"/>
            <a:ext cx="2659200" cy="1261800"/>
          </a:xfrm>
          <a:prstGeom prst="roundRect">
            <a:avLst>
              <a:gd fmla="val 3804"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pp1.png" id="823" name="Google Shape;823;p13"/>
          <p:cNvPicPr preferRelativeResize="0"/>
          <p:nvPr/>
        </p:nvPicPr>
        <p:blipFill rotWithShape="1">
          <a:blip r:embed="rId4">
            <a:alphaModFix/>
          </a:blip>
          <a:srcRect b="0" l="0" r="0" t="0"/>
          <a:stretch/>
        </p:blipFill>
        <p:spPr>
          <a:xfrm>
            <a:off x="3393192" y="1330452"/>
            <a:ext cx="425196" cy="425196"/>
          </a:xfrm>
          <a:prstGeom prst="rect">
            <a:avLst/>
          </a:prstGeom>
          <a:noFill/>
          <a:ln>
            <a:noFill/>
          </a:ln>
        </p:spPr>
      </p:pic>
      <p:sp>
        <p:nvSpPr>
          <p:cNvPr id="824" name="Google Shape;824;p13"/>
          <p:cNvSpPr txBox="1"/>
          <p:nvPr/>
        </p:nvSpPr>
        <p:spPr>
          <a:xfrm>
            <a:off x="3866396" y="1371600"/>
            <a:ext cx="18366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1F6FA8"/>
                </a:solidFill>
                <a:latin typeface="Arial"/>
                <a:ea typeface="Arial"/>
                <a:cs typeface="Arial"/>
                <a:sym typeface="Arial"/>
              </a:rPr>
              <a:t>Material handling</a:t>
            </a:r>
            <a:endParaRPr b="0" i="0" sz="1100" u="none" cap="none" strike="noStrike">
              <a:solidFill>
                <a:srgbClr val="000000"/>
              </a:solidFill>
              <a:latin typeface="Arial"/>
              <a:ea typeface="Arial"/>
              <a:cs typeface="Arial"/>
              <a:sym typeface="Arial"/>
            </a:endParaRPr>
          </a:p>
        </p:txBody>
      </p:sp>
      <p:sp>
        <p:nvSpPr>
          <p:cNvPr id="825" name="Google Shape;825;p13"/>
          <p:cNvSpPr txBox="1"/>
          <p:nvPr/>
        </p:nvSpPr>
        <p:spPr>
          <a:xfrm>
            <a:off x="3866396" y="1591056"/>
            <a:ext cx="18366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Forklifts and warehouse fleets.</a:t>
            </a:r>
            <a:endParaRPr b="0" i="0" sz="1100" u="none" cap="none" strike="noStrike">
              <a:solidFill>
                <a:srgbClr val="000000"/>
              </a:solidFill>
              <a:latin typeface="Arial"/>
              <a:ea typeface="Arial"/>
              <a:cs typeface="Arial"/>
              <a:sym typeface="Arial"/>
            </a:endParaRPr>
          </a:p>
        </p:txBody>
      </p:sp>
      <p:cxnSp>
        <p:nvCxnSpPr>
          <p:cNvPr id="826" name="Google Shape;826;p13"/>
          <p:cNvCxnSpPr/>
          <p:nvPr/>
        </p:nvCxnSpPr>
        <p:spPr>
          <a:xfrm>
            <a:off x="3393192" y="1906524"/>
            <a:ext cx="2357700" cy="0"/>
          </a:xfrm>
          <a:prstGeom prst="straightConnector1">
            <a:avLst/>
          </a:prstGeom>
          <a:noFill/>
          <a:ln cap="flat" cmpd="sng" w="9525">
            <a:solidFill>
              <a:srgbClr val="C6DCEA"/>
            </a:solidFill>
            <a:prstDash val="solid"/>
            <a:round/>
            <a:headEnd len="sm" w="sm" type="none"/>
            <a:tailEnd len="sm" w="sm" type="none"/>
          </a:ln>
          <a:effectLst>
            <a:outerShdw blurRad="30000" rotWithShape="0" dir="5400000" dist="15000">
              <a:srgbClr val="000000">
                <a:alpha val="38039"/>
              </a:srgbClr>
            </a:outerShdw>
          </a:effectLst>
        </p:spPr>
      </p:cxnSp>
      <p:sp>
        <p:nvSpPr>
          <p:cNvPr id="827" name="Google Shape;827;p13"/>
          <p:cNvSpPr txBox="1"/>
          <p:nvPr/>
        </p:nvSpPr>
        <p:spPr>
          <a:xfrm>
            <a:off x="3358902" y="1961388"/>
            <a:ext cx="23577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Central fuelling, multi-shift use</a:t>
            </a:r>
            <a:endParaRPr b="0" i="0" sz="1100" u="none" cap="none" strike="noStrike">
              <a:solidFill>
                <a:srgbClr val="000000"/>
              </a:solidFill>
              <a:latin typeface="Arial"/>
              <a:ea typeface="Arial"/>
              <a:cs typeface="Arial"/>
              <a:sym typeface="Arial"/>
            </a:endParaRPr>
          </a:p>
        </p:txBody>
      </p:sp>
      <p:sp>
        <p:nvSpPr>
          <p:cNvPr id="828" name="Google Shape;828;p13"/>
          <p:cNvSpPr/>
          <p:nvPr/>
        </p:nvSpPr>
        <p:spPr>
          <a:xfrm>
            <a:off x="6107439" y="1207008"/>
            <a:ext cx="2659200" cy="1261800"/>
          </a:xfrm>
          <a:prstGeom prst="roundRect">
            <a:avLst>
              <a:gd fmla="val 3804"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pp2.png" id="829" name="Google Shape;829;p13"/>
          <p:cNvPicPr preferRelativeResize="0"/>
          <p:nvPr/>
        </p:nvPicPr>
        <p:blipFill rotWithShape="1">
          <a:blip r:embed="rId5">
            <a:alphaModFix/>
          </a:blip>
          <a:srcRect b="0" l="0" r="0" t="0"/>
          <a:stretch/>
        </p:blipFill>
        <p:spPr>
          <a:xfrm>
            <a:off x="6258316" y="1330452"/>
            <a:ext cx="425196" cy="425196"/>
          </a:xfrm>
          <a:prstGeom prst="rect">
            <a:avLst/>
          </a:prstGeom>
          <a:noFill/>
          <a:ln>
            <a:noFill/>
          </a:ln>
        </p:spPr>
      </p:pic>
      <p:sp>
        <p:nvSpPr>
          <p:cNvPr id="830" name="Google Shape;830;p13"/>
          <p:cNvSpPr txBox="1"/>
          <p:nvPr/>
        </p:nvSpPr>
        <p:spPr>
          <a:xfrm>
            <a:off x="6731520" y="1371600"/>
            <a:ext cx="18366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1F6FA8"/>
                </a:solidFill>
                <a:latin typeface="Arial"/>
                <a:ea typeface="Arial"/>
                <a:cs typeface="Arial"/>
                <a:sym typeface="Arial"/>
              </a:rPr>
              <a:t>Stationary backup</a:t>
            </a:r>
            <a:endParaRPr b="0" i="0" sz="1100" u="none" cap="none" strike="noStrike">
              <a:solidFill>
                <a:srgbClr val="000000"/>
              </a:solidFill>
              <a:latin typeface="Arial"/>
              <a:ea typeface="Arial"/>
              <a:cs typeface="Arial"/>
              <a:sym typeface="Arial"/>
            </a:endParaRPr>
          </a:p>
        </p:txBody>
      </p:sp>
      <p:sp>
        <p:nvSpPr>
          <p:cNvPr id="831" name="Google Shape;831;p13"/>
          <p:cNvSpPr txBox="1"/>
          <p:nvPr/>
        </p:nvSpPr>
        <p:spPr>
          <a:xfrm>
            <a:off x="6731520" y="1591056"/>
            <a:ext cx="18366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Data centres and microgrids.</a:t>
            </a:r>
            <a:endParaRPr b="0" i="0" sz="1100" u="none" cap="none" strike="noStrike">
              <a:solidFill>
                <a:srgbClr val="000000"/>
              </a:solidFill>
              <a:latin typeface="Arial"/>
              <a:ea typeface="Arial"/>
              <a:cs typeface="Arial"/>
              <a:sym typeface="Arial"/>
            </a:endParaRPr>
          </a:p>
        </p:txBody>
      </p:sp>
      <p:cxnSp>
        <p:nvCxnSpPr>
          <p:cNvPr id="832" name="Google Shape;832;p13"/>
          <p:cNvCxnSpPr/>
          <p:nvPr/>
        </p:nvCxnSpPr>
        <p:spPr>
          <a:xfrm>
            <a:off x="6258316" y="1906524"/>
            <a:ext cx="2357700" cy="0"/>
          </a:xfrm>
          <a:prstGeom prst="straightConnector1">
            <a:avLst/>
          </a:prstGeom>
          <a:noFill/>
          <a:ln cap="flat" cmpd="sng" w="9525">
            <a:solidFill>
              <a:srgbClr val="C6DCEA"/>
            </a:solidFill>
            <a:prstDash val="solid"/>
            <a:round/>
            <a:headEnd len="sm" w="sm" type="none"/>
            <a:tailEnd len="sm" w="sm" type="none"/>
          </a:ln>
          <a:effectLst>
            <a:outerShdw blurRad="30000" rotWithShape="0" dir="5400000" dist="15000">
              <a:srgbClr val="000000">
                <a:alpha val="38039"/>
              </a:srgbClr>
            </a:outerShdw>
          </a:effectLst>
        </p:spPr>
      </p:cxnSp>
      <p:sp>
        <p:nvSpPr>
          <p:cNvPr id="833" name="Google Shape;833;p13"/>
          <p:cNvSpPr txBox="1"/>
          <p:nvPr/>
        </p:nvSpPr>
        <p:spPr>
          <a:xfrm>
            <a:off x="6224026" y="1961388"/>
            <a:ext cx="23577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Quiet, modular resilience</a:t>
            </a:r>
            <a:endParaRPr b="0" i="0" sz="1100" u="none" cap="none" strike="noStrike">
              <a:solidFill>
                <a:srgbClr val="000000"/>
              </a:solidFill>
              <a:latin typeface="Arial"/>
              <a:ea typeface="Arial"/>
              <a:cs typeface="Arial"/>
              <a:sym typeface="Arial"/>
            </a:endParaRPr>
          </a:p>
        </p:txBody>
      </p:sp>
      <p:sp>
        <p:nvSpPr>
          <p:cNvPr id="834" name="Google Shape;834;p13"/>
          <p:cNvSpPr/>
          <p:nvPr/>
        </p:nvSpPr>
        <p:spPr>
          <a:xfrm>
            <a:off x="377192" y="2564892"/>
            <a:ext cx="2659200" cy="1261800"/>
          </a:xfrm>
          <a:prstGeom prst="roundRect">
            <a:avLst>
              <a:gd fmla="val 3804"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pp3.png" id="835" name="Google Shape;835;p13"/>
          <p:cNvPicPr preferRelativeResize="0"/>
          <p:nvPr/>
        </p:nvPicPr>
        <p:blipFill rotWithShape="1">
          <a:blip r:embed="rId6">
            <a:alphaModFix/>
          </a:blip>
          <a:srcRect b="0" l="0" r="0" t="0"/>
          <a:stretch/>
        </p:blipFill>
        <p:spPr>
          <a:xfrm>
            <a:off x="528068" y="2688336"/>
            <a:ext cx="425196" cy="425196"/>
          </a:xfrm>
          <a:prstGeom prst="rect">
            <a:avLst/>
          </a:prstGeom>
          <a:noFill/>
          <a:ln>
            <a:noFill/>
          </a:ln>
        </p:spPr>
      </p:pic>
      <p:sp>
        <p:nvSpPr>
          <p:cNvPr id="836" name="Google Shape;836;p13"/>
          <p:cNvSpPr txBox="1"/>
          <p:nvPr/>
        </p:nvSpPr>
        <p:spPr>
          <a:xfrm>
            <a:off x="1001272" y="2729484"/>
            <a:ext cx="18366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1F6FA8"/>
                </a:solidFill>
                <a:latin typeface="Arial"/>
                <a:ea typeface="Arial"/>
                <a:cs typeface="Arial"/>
                <a:sym typeface="Arial"/>
              </a:rPr>
              <a:t>Rail</a:t>
            </a:r>
            <a:endParaRPr b="0" i="0" sz="1100" u="none" cap="none" strike="noStrike">
              <a:solidFill>
                <a:srgbClr val="000000"/>
              </a:solidFill>
              <a:latin typeface="Arial"/>
              <a:ea typeface="Arial"/>
              <a:cs typeface="Arial"/>
              <a:sym typeface="Arial"/>
            </a:endParaRPr>
          </a:p>
        </p:txBody>
      </p:sp>
      <p:sp>
        <p:nvSpPr>
          <p:cNvPr id="837" name="Google Shape;837;p13"/>
          <p:cNvSpPr txBox="1"/>
          <p:nvPr/>
        </p:nvSpPr>
        <p:spPr>
          <a:xfrm>
            <a:off x="1001272" y="2948940"/>
            <a:ext cx="18366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Selected non-electrified routes.</a:t>
            </a:r>
            <a:endParaRPr b="0" i="0" sz="1100" u="none" cap="none" strike="noStrike">
              <a:solidFill>
                <a:srgbClr val="000000"/>
              </a:solidFill>
              <a:latin typeface="Arial"/>
              <a:ea typeface="Arial"/>
              <a:cs typeface="Arial"/>
              <a:sym typeface="Arial"/>
            </a:endParaRPr>
          </a:p>
        </p:txBody>
      </p:sp>
      <p:cxnSp>
        <p:nvCxnSpPr>
          <p:cNvPr id="838" name="Google Shape;838;p13"/>
          <p:cNvCxnSpPr/>
          <p:nvPr/>
        </p:nvCxnSpPr>
        <p:spPr>
          <a:xfrm>
            <a:off x="528068" y="3264408"/>
            <a:ext cx="2357700" cy="0"/>
          </a:xfrm>
          <a:prstGeom prst="straightConnector1">
            <a:avLst/>
          </a:prstGeom>
          <a:noFill/>
          <a:ln cap="flat" cmpd="sng" w="9525">
            <a:solidFill>
              <a:srgbClr val="C6DCEA"/>
            </a:solidFill>
            <a:prstDash val="solid"/>
            <a:round/>
            <a:headEnd len="sm" w="sm" type="none"/>
            <a:tailEnd len="sm" w="sm" type="none"/>
          </a:ln>
          <a:effectLst>
            <a:outerShdw blurRad="30000" rotWithShape="0" dir="5400000" dist="15000">
              <a:srgbClr val="000000">
                <a:alpha val="38039"/>
              </a:srgbClr>
            </a:outerShdw>
          </a:effectLst>
        </p:spPr>
      </p:cxnSp>
      <p:sp>
        <p:nvSpPr>
          <p:cNvPr id="839" name="Google Shape;839;p13"/>
          <p:cNvSpPr txBox="1"/>
          <p:nvPr/>
        </p:nvSpPr>
        <p:spPr>
          <a:xfrm>
            <a:off x="493778" y="3319272"/>
            <a:ext cx="23577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Predictable routes and fuelling nodes</a:t>
            </a:r>
            <a:endParaRPr b="0" i="0" sz="1100" u="none" cap="none" strike="noStrike">
              <a:solidFill>
                <a:srgbClr val="000000"/>
              </a:solidFill>
              <a:latin typeface="Arial"/>
              <a:ea typeface="Arial"/>
              <a:cs typeface="Arial"/>
              <a:sym typeface="Arial"/>
            </a:endParaRPr>
          </a:p>
        </p:txBody>
      </p:sp>
      <p:sp>
        <p:nvSpPr>
          <p:cNvPr id="840" name="Google Shape;840;p13"/>
          <p:cNvSpPr/>
          <p:nvPr/>
        </p:nvSpPr>
        <p:spPr>
          <a:xfrm>
            <a:off x="3242315" y="2564892"/>
            <a:ext cx="2659200" cy="1261800"/>
          </a:xfrm>
          <a:prstGeom prst="roundRect">
            <a:avLst>
              <a:gd fmla="val 3804"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pp4.png" id="841" name="Google Shape;841;p13"/>
          <p:cNvPicPr preferRelativeResize="0"/>
          <p:nvPr/>
        </p:nvPicPr>
        <p:blipFill rotWithShape="1">
          <a:blip r:embed="rId7">
            <a:alphaModFix/>
          </a:blip>
          <a:srcRect b="0" l="0" r="0" t="0"/>
          <a:stretch/>
        </p:blipFill>
        <p:spPr>
          <a:xfrm>
            <a:off x="3393192" y="2688336"/>
            <a:ext cx="425196" cy="425196"/>
          </a:xfrm>
          <a:prstGeom prst="rect">
            <a:avLst/>
          </a:prstGeom>
          <a:noFill/>
          <a:ln>
            <a:noFill/>
          </a:ln>
        </p:spPr>
      </p:pic>
      <p:sp>
        <p:nvSpPr>
          <p:cNvPr id="842" name="Google Shape;842;p13"/>
          <p:cNvSpPr txBox="1"/>
          <p:nvPr/>
        </p:nvSpPr>
        <p:spPr>
          <a:xfrm>
            <a:off x="3866396" y="2729484"/>
            <a:ext cx="18366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1F6FA8"/>
                </a:solidFill>
                <a:latin typeface="Arial"/>
                <a:ea typeface="Arial"/>
                <a:cs typeface="Arial"/>
                <a:sym typeface="Arial"/>
              </a:rPr>
              <a:t>Maritime and ports</a:t>
            </a:r>
            <a:endParaRPr b="0" i="0" sz="1100" u="none" cap="none" strike="noStrike">
              <a:solidFill>
                <a:srgbClr val="000000"/>
              </a:solidFill>
              <a:latin typeface="Arial"/>
              <a:ea typeface="Arial"/>
              <a:cs typeface="Arial"/>
              <a:sym typeface="Arial"/>
            </a:endParaRPr>
          </a:p>
        </p:txBody>
      </p:sp>
      <p:sp>
        <p:nvSpPr>
          <p:cNvPr id="843" name="Google Shape;843;p13"/>
          <p:cNvSpPr txBox="1"/>
          <p:nvPr/>
        </p:nvSpPr>
        <p:spPr>
          <a:xfrm>
            <a:off x="3866396" y="2948940"/>
            <a:ext cx="18366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Ferries and harbour equipment.</a:t>
            </a:r>
            <a:endParaRPr b="0" i="0" sz="1100" u="none" cap="none" strike="noStrike">
              <a:solidFill>
                <a:srgbClr val="000000"/>
              </a:solidFill>
              <a:latin typeface="Arial"/>
              <a:ea typeface="Arial"/>
              <a:cs typeface="Arial"/>
              <a:sym typeface="Arial"/>
            </a:endParaRPr>
          </a:p>
        </p:txBody>
      </p:sp>
      <p:cxnSp>
        <p:nvCxnSpPr>
          <p:cNvPr id="844" name="Google Shape;844;p13"/>
          <p:cNvCxnSpPr/>
          <p:nvPr/>
        </p:nvCxnSpPr>
        <p:spPr>
          <a:xfrm>
            <a:off x="3393192" y="3264408"/>
            <a:ext cx="2357700" cy="0"/>
          </a:xfrm>
          <a:prstGeom prst="straightConnector1">
            <a:avLst/>
          </a:prstGeom>
          <a:noFill/>
          <a:ln cap="flat" cmpd="sng" w="9525">
            <a:solidFill>
              <a:srgbClr val="C6DCEA"/>
            </a:solidFill>
            <a:prstDash val="solid"/>
            <a:round/>
            <a:headEnd len="sm" w="sm" type="none"/>
            <a:tailEnd len="sm" w="sm" type="none"/>
          </a:ln>
          <a:effectLst>
            <a:outerShdw blurRad="30000" rotWithShape="0" dir="5400000" dist="15000">
              <a:srgbClr val="000000">
                <a:alpha val="38039"/>
              </a:srgbClr>
            </a:outerShdw>
          </a:effectLst>
        </p:spPr>
      </p:cxnSp>
      <p:sp>
        <p:nvSpPr>
          <p:cNvPr id="845" name="Google Shape;845;p13"/>
          <p:cNvSpPr txBox="1"/>
          <p:nvPr/>
        </p:nvSpPr>
        <p:spPr>
          <a:xfrm>
            <a:off x="3358902" y="3319272"/>
            <a:ext cx="23577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High utilisation, constrained routes</a:t>
            </a:r>
            <a:endParaRPr b="0" i="0" sz="1100" u="none" cap="none" strike="noStrike">
              <a:solidFill>
                <a:srgbClr val="000000"/>
              </a:solidFill>
              <a:latin typeface="Arial"/>
              <a:ea typeface="Arial"/>
              <a:cs typeface="Arial"/>
              <a:sym typeface="Arial"/>
            </a:endParaRPr>
          </a:p>
        </p:txBody>
      </p:sp>
      <p:sp>
        <p:nvSpPr>
          <p:cNvPr id="846" name="Google Shape;846;p13"/>
          <p:cNvSpPr/>
          <p:nvPr/>
        </p:nvSpPr>
        <p:spPr>
          <a:xfrm>
            <a:off x="6107439" y="2564892"/>
            <a:ext cx="2659200" cy="1261800"/>
          </a:xfrm>
          <a:prstGeom prst="roundRect">
            <a:avLst>
              <a:gd fmla="val 3804" name="adj"/>
            </a:avLst>
          </a:prstGeom>
          <a:solidFill>
            <a:srgbClr val="EAF2F8"/>
          </a:solidFill>
          <a:ln cap="flat" cmpd="sng" w="9525">
            <a:solidFill>
              <a:srgbClr val="C6DCE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pp5.png" id="847" name="Google Shape;847;p13"/>
          <p:cNvPicPr preferRelativeResize="0"/>
          <p:nvPr/>
        </p:nvPicPr>
        <p:blipFill rotWithShape="1">
          <a:blip r:embed="rId8">
            <a:alphaModFix/>
          </a:blip>
          <a:srcRect b="0" l="0" r="0" t="0"/>
          <a:stretch/>
        </p:blipFill>
        <p:spPr>
          <a:xfrm>
            <a:off x="6258316" y="2688336"/>
            <a:ext cx="425196" cy="425196"/>
          </a:xfrm>
          <a:prstGeom prst="rect">
            <a:avLst/>
          </a:prstGeom>
          <a:noFill/>
          <a:ln>
            <a:noFill/>
          </a:ln>
        </p:spPr>
      </p:pic>
      <p:sp>
        <p:nvSpPr>
          <p:cNvPr id="848" name="Google Shape;848;p13"/>
          <p:cNvSpPr txBox="1"/>
          <p:nvPr/>
        </p:nvSpPr>
        <p:spPr>
          <a:xfrm>
            <a:off x="6731520" y="2729484"/>
            <a:ext cx="1836600" cy="205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1F6FA8"/>
                </a:solidFill>
                <a:latin typeface="Arial"/>
                <a:ea typeface="Arial"/>
                <a:cs typeface="Arial"/>
                <a:sym typeface="Arial"/>
              </a:rPr>
              <a:t>Remote and specialised</a:t>
            </a:r>
            <a:endParaRPr b="0" i="0" sz="1100" u="none" cap="none" strike="noStrike">
              <a:solidFill>
                <a:srgbClr val="000000"/>
              </a:solidFill>
              <a:latin typeface="Arial"/>
              <a:ea typeface="Arial"/>
              <a:cs typeface="Arial"/>
              <a:sym typeface="Arial"/>
            </a:endParaRPr>
          </a:p>
        </p:txBody>
      </p:sp>
      <p:sp>
        <p:nvSpPr>
          <p:cNvPr id="849" name="Google Shape;849;p13"/>
          <p:cNvSpPr txBox="1"/>
          <p:nvPr/>
        </p:nvSpPr>
        <p:spPr>
          <a:xfrm>
            <a:off x="6731520" y="2948940"/>
            <a:ext cx="1836600" cy="192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14303F"/>
                </a:solidFill>
                <a:latin typeface="Arial"/>
                <a:ea typeface="Arial"/>
                <a:cs typeface="Arial"/>
                <a:sym typeface="Arial"/>
              </a:rPr>
              <a:t>Telecoms and field power.</a:t>
            </a:r>
            <a:endParaRPr b="0" i="0" sz="1100" u="none" cap="none" strike="noStrike">
              <a:solidFill>
                <a:srgbClr val="000000"/>
              </a:solidFill>
              <a:latin typeface="Arial"/>
              <a:ea typeface="Arial"/>
              <a:cs typeface="Arial"/>
              <a:sym typeface="Arial"/>
            </a:endParaRPr>
          </a:p>
        </p:txBody>
      </p:sp>
      <p:cxnSp>
        <p:nvCxnSpPr>
          <p:cNvPr id="850" name="Google Shape;850;p13"/>
          <p:cNvCxnSpPr/>
          <p:nvPr/>
        </p:nvCxnSpPr>
        <p:spPr>
          <a:xfrm>
            <a:off x="6258316" y="3264408"/>
            <a:ext cx="2357700" cy="0"/>
          </a:xfrm>
          <a:prstGeom prst="straightConnector1">
            <a:avLst/>
          </a:prstGeom>
          <a:noFill/>
          <a:ln cap="flat" cmpd="sng" w="9525">
            <a:solidFill>
              <a:srgbClr val="C6DCEA"/>
            </a:solidFill>
            <a:prstDash val="solid"/>
            <a:round/>
            <a:headEnd len="sm" w="sm" type="none"/>
            <a:tailEnd len="sm" w="sm" type="none"/>
          </a:ln>
          <a:effectLst>
            <a:outerShdw blurRad="30000" rotWithShape="0" dir="5400000" dist="15000">
              <a:srgbClr val="000000">
                <a:alpha val="38039"/>
              </a:srgbClr>
            </a:outerShdw>
          </a:effectLst>
        </p:spPr>
      </p:cxnSp>
      <p:sp>
        <p:nvSpPr>
          <p:cNvPr id="851" name="Google Shape;851;p13"/>
          <p:cNvSpPr txBox="1"/>
          <p:nvPr/>
        </p:nvSpPr>
        <p:spPr>
          <a:xfrm>
            <a:off x="6224026" y="3319272"/>
            <a:ext cx="2357700" cy="3840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5A6B75"/>
                </a:solidFill>
                <a:latin typeface="Arial"/>
                <a:ea typeface="Arial"/>
                <a:cs typeface="Arial"/>
                <a:sym typeface="Arial"/>
              </a:rPr>
              <a:t>Long autonomy, low local emissions</a:t>
            </a:r>
            <a:endParaRPr b="0" i="0" sz="1100" u="none" cap="none" strike="noStrike">
              <a:solidFill>
                <a:srgbClr val="000000"/>
              </a:solidFill>
              <a:latin typeface="Arial"/>
              <a:ea typeface="Arial"/>
              <a:cs typeface="Arial"/>
              <a:sym typeface="Arial"/>
            </a:endParaRPr>
          </a:p>
        </p:txBody>
      </p:sp>
      <p:sp>
        <p:nvSpPr>
          <p:cNvPr id="852" name="Google Shape;852;p13"/>
          <p:cNvSpPr/>
          <p:nvPr/>
        </p:nvSpPr>
        <p:spPr>
          <a:xfrm>
            <a:off x="377192" y="4018788"/>
            <a:ext cx="8389500" cy="630900"/>
          </a:xfrm>
          <a:prstGeom prst="roundRect">
            <a:avLst>
              <a:gd fmla="val 7608" name="adj"/>
            </a:avLst>
          </a:prstGeom>
          <a:solidFill>
            <a:srgbClr val="E6F2F3"/>
          </a:solidFill>
          <a:ln cap="flat" cmpd="sng" w="9525">
            <a:solidFill>
              <a:srgbClr val="C2DE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3" name="Google Shape;853;p13"/>
          <p:cNvSpPr txBox="1"/>
          <p:nvPr/>
        </p:nvSpPr>
        <p:spPr>
          <a:xfrm>
            <a:off x="521210" y="4087368"/>
            <a:ext cx="4114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0E7C86"/>
                </a:solidFill>
                <a:latin typeface="Arial"/>
                <a:ea typeface="Arial"/>
                <a:cs typeface="Arial"/>
                <a:sym typeface="Arial"/>
              </a:rPr>
              <a:t>THE COMMON PATTERN</a:t>
            </a:r>
            <a:endParaRPr b="0" i="0" sz="1100" u="none" cap="none" strike="noStrike">
              <a:solidFill>
                <a:srgbClr val="000000"/>
              </a:solidFill>
              <a:latin typeface="Arial"/>
              <a:ea typeface="Arial"/>
              <a:cs typeface="Arial"/>
              <a:sym typeface="Arial"/>
            </a:endParaRPr>
          </a:p>
        </p:txBody>
      </p:sp>
      <p:sp>
        <p:nvSpPr>
          <p:cNvPr id="854" name="Google Shape;854;p13"/>
          <p:cNvSpPr txBox="1"/>
          <p:nvPr/>
        </p:nvSpPr>
        <p:spPr>
          <a:xfrm>
            <a:off x="521210" y="4265676"/>
            <a:ext cx="8033100" cy="301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Every strong case shares three traits: high utilisation, a predictable route or site, and one concentrated fuelling node. Passenger cars have none of the three — which is why that market has not followed.</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4"/>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a:t>
            </a:r>
            <a:r>
              <a:rPr b="1" lang="en" sz="700">
                <a:solidFill>
                  <a:srgbClr val="C77A12"/>
                </a:solidFill>
              </a:rPr>
              <a:t>6</a:t>
            </a:r>
            <a:r>
              <a:rPr b="1" i="0" lang="en" sz="700" u="none" cap="none" strike="noStrike">
                <a:solidFill>
                  <a:srgbClr val="C77A12"/>
                </a:solidFill>
                <a:latin typeface="Arial"/>
                <a:ea typeface="Arial"/>
                <a:cs typeface="Arial"/>
                <a:sym typeface="Arial"/>
              </a:rPr>
              <a:t> · WHERE IT FITS</a:t>
            </a:r>
            <a:endParaRPr b="0" i="0" sz="1100" u="none" cap="none" strike="noStrike">
              <a:solidFill>
                <a:srgbClr val="000000"/>
              </a:solidFill>
              <a:latin typeface="Arial"/>
              <a:ea typeface="Arial"/>
              <a:cs typeface="Arial"/>
              <a:sym typeface="Arial"/>
            </a:endParaRPr>
          </a:p>
        </p:txBody>
      </p:sp>
      <p:sp>
        <p:nvSpPr>
          <p:cNvPr id="861" name="Google Shape;861;p14"/>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14303F"/>
                </a:solidFill>
                <a:latin typeface="Arial"/>
                <a:ea typeface="Arial"/>
                <a:cs typeface="Arial"/>
                <a:sym typeface="Arial"/>
              </a:rPr>
              <a:t>Future scope - the next generation of fuel cell technology</a:t>
            </a:r>
            <a:endParaRPr b="0" i="0" sz="1100" u="none" cap="none" strike="noStrike">
              <a:solidFill>
                <a:srgbClr val="000000"/>
              </a:solidFill>
              <a:latin typeface="Arial"/>
              <a:ea typeface="Arial"/>
              <a:cs typeface="Arial"/>
              <a:sym typeface="Arial"/>
            </a:endParaRPr>
          </a:p>
        </p:txBody>
      </p:sp>
      <p:sp>
        <p:nvSpPr>
          <p:cNvPr id="862" name="Google Shape;862;p14"/>
          <p:cNvSpPr txBox="1"/>
          <p:nvPr/>
        </p:nvSpPr>
        <p:spPr>
          <a:xfrm>
            <a:off x="342901" y="795909"/>
            <a:ext cx="84582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0" i="0" lang="en" sz="900" u="none" cap="none" strike="noStrike">
                <a:solidFill>
                  <a:srgbClr val="5A6B75"/>
                </a:solidFill>
                <a:latin typeface="Arial"/>
                <a:ea typeface="Arial"/>
                <a:cs typeface="Arial"/>
                <a:sym typeface="Arial"/>
              </a:rPr>
              <a:t>Progress will depend on efficiency, durability, cost, manufacturing scale, and intelligent system control</a:t>
            </a:r>
            <a:endParaRPr b="0" i="0" sz="1100" u="none" cap="none" strike="noStrike">
              <a:solidFill>
                <a:srgbClr val="000000"/>
              </a:solidFill>
              <a:latin typeface="Arial"/>
              <a:ea typeface="Arial"/>
              <a:cs typeface="Arial"/>
              <a:sym typeface="Arial"/>
            </a:endParaRPr>
          </a:p>
        </p:txBody>
      </p:sp>
      <p:sp>
        <p:nvSpPr>
          <p:cNvPr id="863" name="Google Shape;863;p14"/>
          <p:cNvSpPr/>
          <p:nvPr/>
        </p:nvSpPr>
        <p:spPr>
          <a:xfrm>
            <a:off x="377192" y="4018788"/>
            <a:ext cx="8389500" cy="630900"/>
          </a:xfrm>
          <a:prstGeom prst="roundRect">
            <a:avLst>
              <a:gd fmla="val 7608" name="adj"/>
            </a:avLst>
          </a:prstGeom>
          <a:solidFill>
            <a:srgbClr val="E6F2F3"/>
          </a:solidFill>
          <a:ln cap="flat" cmpd="sng" w="9525">
            <a:solidFill>
              <a:srgbClr val="C2DE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4" name="Google Shape;864;p14"/>
          <p:cNvSpPr txBox="1"/>
          <p:nvPr/>
        </p:nvSpPr>
        <p:spPr>
          <a:xfrm>
            <a:off x="521210" y="4087368"/>
            <a:ext cx="4114800" cy="1647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0E7C86"/>
                </a:solidFill>
                <a:latin typeface="Arial"/>
                <a:ea typeface="Arial"/>
                <a:cs typeface="Arial"/>
                <a:sym typeface="Arial"/>
              </a:rPr>
              <a:t>BALANCED OUTLOOK</a:t>
            </a:r>
            <a:endParaRPr b="0" i="0" sz="1100" u="none" cap="none" strike="noStrike">
              <a:solidFill>
                <a:srgbClr val="000000"/>
              </a:solidFill>
              <a:latin typeface="Arial"/>
              <a:ea typeface="Arial"/>
              <a:cs typeface="Arial"/>
              <a:sym typeface="Arial"/>
            </a:endParaRPr>
          </a:p>
        </p:txBody>
      </p:sp>
      <p:sp>
        <p:nvSpPr>
          <p:cNvPr id="865" name="Google Shape;865;p14"/>
          <p:cNvSpPr txBox="1"/>
          <p:nvPr/>
        </p:nvSpPr>
        <p:spPr>
          <a:xfrm>
            <a:off x="521210" y="4265676"/>
            <a:ext cx="8033100" cy="301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14303F"/>
                </a:solidFill>
                <a:latin typeface="Arial"/>
                <a:ea typeface="Arial"/>
                <a:cs typeface="Arial"/>
                <a:sym typeface="Arial"/>
              </a:rPr>
              <a:t>Fuel cell technology is evolving towards cleaner, cheaper, longer-lived and more intelligent energy systems and applications include Mobility, Backup power systems and much more.</a:t>
            </a:r>
            <a:endParaRPr b="0" i="0" sz="1100" u="none" cap="none" strike="noStrike">
              <a:solidFill>
                <a:srgbClr val="000000"/>
              </a:solidFill>
              <a:latin typeface="Arial"/>
              <a:ea typeface="Arial"/>
              <a:cs typeface="Arial"/>
              <a:sym typeface="Arial"/>
            </a:endParaRPr>
          </a:p>
        </p:txBody>
      </p:sp>
      <p:sp>
        <p:nvSpPr>
          <p:cNvPr id="866" name="Google Shape;866;p14"/>
          <p:cNvSpPr txBox="1"/>
          <p:nvPr/>
        </p:nvSpPr>
        <p:spPr>
          <a:xfrm>
            <a:off x="342900" y="1227124"/>
            <a:ext cx="3429000" cy="109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13"/>
              <a:buFont typeface="Arial"/>
              <a:buNone/>
            </a:pPr>
            <a:r>
              <a:rPr b="1" i="0" lang="en" sz="713" u="none" cap="none" strike="noStrike">
                <a:solidFill>
                  <a:srgbClr val="6B7F8C"/>
                </a:solidFill>
                <a:latin typeface="Arial"/>
                <a:ea typeface="Arial"/>
                <a:cs typeface="Arial"/>
                <a:sym typeface="Arial"/>
              </a:rPr>
              <a:t>KEY TECHNOLOGY DIRECTIONS</a:t>
            </a:r>
            <a:endParaRPr b="0" i="0" sz="1050" u="none" cap="none" strike="noStrike">
              <a:solidFill>
                <a:srgbClr val="000000"/>
              </a:solidFill>
              <a:latin typeface="Arial"/>
              <a:ea typeface="Arial"/>
              <a:cs typeface="Arial"/>
              <a:sym typeface="Arial"/>
            </a:endParaRPr>
          </a:p>
        </p:txBody>
      </p:sp>
      <p:sp>
        <p:nvSpPr>
          <p:cNvPr id="867" name="Google Shape;867;p14"/>
          <p:cNvSpPr/>
          <p:nvPr/>
        </p:nvSpPr>
        <p:spPr>
          <a:xfrm>
            <a:off x="342900" y="1432863"/>
            <a:ext cx="1881300" cy="720000"/>
          </a:xfrm>
          <a:prstGeom prst="roundRect">
            <a:avLst>
              <a:gd fmla="val 4500" name="adj"/>
            </a:avLst>
          </a:prstGeom>
          <a:solidFill>
            <a:srgbClr val="2E8B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13"/>
              <a:buFont typeface="Arial"/>
              <a:buNone/>
            </a:pPr>
            <a:r>
              <a:rPr b="1" i="0" lang="en" sz="1013" u="none" cap="none" strike="noStrike">
                <a:solidFill>
                  <a:srgbClr val="FFFFFF"/>
                </a:solidFill>
                <a:latin typeface="Arial"/>
                <a:ea typeface="Arial"/>
                <a:cs typeface="Arial"/>
                <a:sym typeface="Arial"/>
              </a:rPr>
              <a:t>BETTER MATERIALS</a:t>
            </a:r>
            <a:endParaRPr b="0" i="0" sz="1050" u="none" cap="none" strike="noStrike">
              <a:solidFill>
                <a:srgbClr val="000000"/>
              </a:solidFill>
              <a:latin typeface="Arial"/>
              <a:ea typeface="Arial"/>
              <a:cs typeface="Arial"/>
              <a:sym typeface="Arial"/>
            </a:endParaRPr>
          </a:p>
        </p:txBody>
      </p:sp>
      <p:sp>
        <p:nvSpPr>
          <p:cNvPr id="868" name="Google Shape;868;p14"/>
          <p:cNvSpPr/>
          <p:nvPr/>
        </p:nvSpPr>
        <p:spPr>
          <a:xfrm>
            <a:off x="2258517" y="1703754"/>
            <a:ext cx="219300" cy="178200"/>
          </a:xfrm>
          <a:prstGeom prst="rightArrow">
            <a:avLst>
              <a:gd fmla="val 42000" name="adj1"/>
              <a:gd fmla="val 45000" name="adj2"/>
            </a:avLst>
          </a:prstGeom>
          <a:solidFill>
            <a:srgbClr val="8A99A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69" name="Google Shape;869;p14"/>
          <p:cNvSpPr/>
          <p:nvPr/>
        </p:nvSpPr>
        <p:spPr>
          <a:xfrm>
            <a:off x="2512264" y="1432863"/>
            <a:ext cx="1881300" cy="720000"/>
          </a:xfrm>
          <a:prstGeom prst="roundRect">
            <a:avLst>
              <a:gd fmla="val 4500" name="adj"/>
            </a:avLst>
          </a:prstGeom>
          <a:solidFill>
            <a:srgbClr val="2C7BB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13"/>
              <a:buFont typeface="Arial"/>
              <a:buNone/>
            </a:pPr>
            <a:r>
              <a:rPr b="1" i="0" lang="en" sz="1013" u="none" cap="none" strike="noStrike">
                <a:solidFill>
                  <a:srgbClr val="FFFFFF"/>
                </a:solidFill>
                <a:latin typeface="Arial"/>
                <a:ea typeface="Arial"/>
                <a:cs typeface="Arial"/>
                <a:sym typeface="Arial"/>
              </a:rPr>
              <a:t>HIGHER EFFICIENCY</a:t>
            </a:r>
            <a:endParaRPr b="0" i="0" sz="1050" u="none" cap="none" strike="noStrike">
              <a:solidFill>
                <a:srgbClr val="000000"/>
              </a:solidFill>
              <a:latin typeface="Arial"/>
              <a:ea typeface="Arial"/>
              <a:cs typeface="Arial"/>
              <a:sym typeface="Arial"/>
            </a:endParaRPr>
          </a:p>
        </p:txBody>
      </p:sp>
      <p:sp>
        <p:nvSpPr>
          <p:cNvPr id="870" name="Google Shape;870;p14"/>
          <p:cNvSpPr/>
          <p:nvPr/>
        </p:nvSpPr>
        <p:spPr>
          <a:xfrm>
            <a:off x="4427882" y="1703754"/>
            <a:ext cx="219300" cy="178200"/>
          </a:xfrm>
          <a:prstGeom prst="rightArrow">
            <a:avLst>
              <a:gd fmla="val 42000" name="adj1"/>
              <a:gd fmla="val 45000" name="adj2"/>
            </a:avLst>
          </a:prstGeom>
          <a:solidFill>
            <a:srgbClr val="8A99A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71" name="Google Shape;871;p14"/>
          <p:cNvSpPr/>
          <p:nvPr/>
        </p:nvSpPr>
        <p:spPr>
          <a:xfrm>
            <a:off x="4681629" y="1432863"/>
            <a:ext cx="1881300" cy="720000"/>
          </a:xfrm>
          <a:prstGeom prst="roundRect">
            <a:avLst>
              <a:gd fmla="val 4500" name="adj"/>
            </a:avLst>
          </a:prstGeom>
          <a:solidFill>
            <a:srgbClr val="1760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13"/>
              <a:buFont typeface="Arial"/>
              <a:buNone/>
            </a:pPr>
            <a:r>
              <a:rPr b="1" i="0" lang="en" sz="1013" u="none" cap="none" strike="noStrike">
                <a:solidFill>
                  <a:srgbClr val="FFFFFF"/>
                </a:solidFill>
                <a:latin typeface="Arial"/>
                <a:ea typeface="Arial"/>
                <a:cs typeface="Arial"/>
                <a:sym typeface="Arial"/>
              </a:rPr>
              <a:t>LONGER LIFETIME</a:t>
            </a:r>
            <a:endParaRPr b="0" i="0" sz="1050" u="none" cap="none" strike="noStrike">
              <a:solidFill>
                <a:srgbClr val="000000"/>
              </a:solidFill>
              <a:latin typeface="Arial"/>
              <a:ea typeface="Arial"/>
              <a:cs typeface="Arial"/>
              <a:sym typeface="Arial"/>
            </a:endParaRPr>
          </a:p>
        </p:txBody>
      </p:sp>
      <p:sp>
        <p:nvSpPr>
          <p:cNvPr id="872" name="Google Shape;872;p14"/>
          <p:cNvSpPr/>
          <p:nvPr/>
        </p:nvSpPr>
        <p:spPr>
          <a:xfrm>
            <a:off x="6597247" y="1703754"/>
            <a:ext cx="219300" cy="178200"/>
          </a:xfrm>
          <a:prstGeom prst="rightArrow">
            <a:avLst>
              <a:gd fmla="val 42000" name="adj1"/>
              <a:gd fmla="val 45000" name="adj2"/>
            </a:avLst>
          </a:prstGeom>
          <a:solidFill>
            <a:srgbClr val="8A99A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73" name="Google Shape;873;p14"/>
          <p:cNvSpPr/>
          <p:nvPr/>
        </p:nvSpPr>
        <p:spPr>
          <a:xfrm>
            <a:off x="6850994" y="1432863"/>
            <a:ext cx="1881300" cy="720000"/>
          </a:xfrm>
          <a:prstGeom prst="roundRect">
            <a:avLst>
              <a:gd fmla="val 4500" name="adj"/>
            </a:avLst>
          </a:prstGeom>
          <a:solidFill>
            <a:srgbClr val="E879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13"/>
              <a:buFont typeface="Arial"/>
              <a:buNone/>
            </a:pPr>
            <a:r>
              <a:rPr b="1" i="0" lang="en" sz="1013" u="none" cap="none" strike="noStrike">
                <a:solidFill>
                  <a:srgbClr val="FFFFFF"/>
                </a:solidFill>
                <a:latin typeface="Arial"/>
                <a:ea typeface="Arial"/>
                <a:cs typeface="Arial"/>
                <a:sym typeface="Arial"/>
              </a:rPr>
              <a:t>LOWER SYSTEM COST</a:t>
            </a:r>
            <a:endParaRPr b="0" i="0" sz="1050" u="none" cap="none" strike="noStrike">
              <a:solidFill>
                <a:srgbClr val="000000"/>
              </a:solidFill>
              <a:latin typeface="Arial"/>
              <a:ea typeface="Arial"/>
              <a:cs typeface="Arial"/>
              <a:sym typeface="Arial"/>
            </a:endParaRPr>
          </a:p>
        </p:txBody>
      </p:sp>
      <p:sp>
        <p:nvSpPr>
          <p:cNvPr id="874" name="Google Shape;874;p14"/>
          <p:cNvSpPr/>
          <p:nvPr/>
        </p:nvSpPr>
        <p:spPr>
          <a:xfrm>
            <a:off x="342900" y="2530141"/>
            <a:ext cx="1578900" cy="1042500"/>
          </a:xfrm>
          <a:prstGeom prst="roundRect">
            <a:avLst>
              <a:gd fmla="val 4500" name="adj"/>
            </a:avLst>
          </a:prstGeom>
          <a:solidFill>
            <a:srgbClr val="FFFFFF"/>
          </a:solidFill>
          <a:ln cap="flat" cmpd="sng" w="9525">
            <a:solidFill>
              <a:srgbClr val="D5DF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75" name="Google Shape;875;p14"/>
          <p:cNvSpPr/>
          <p:nvPr/>
        </p:nvSpPr>
        <p:spPr>
          <a:xfrm>
            <a:off x="342900" y="2530141"/>
            <a:ext cx="1578900" cy="37800"/>
          </a:xfrm>
          <a:prstGeom prst="rect">
            <a:avLst/>
          </a:prstGeom>
          <a:solidFill>
            <a:srgbClr val="2E8B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76" name="Google Shape;876;p14"/>
          <p:cNvSpPr txBox="1"/>
          <p:nvPr/>
        </p:nvSpPr>
        <p:spPr>
          <a:xfrm>
            <a:off x="445771" y="2660443"/>
            <a:ext cx="1373700" cy="41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63"/>
              <a:buFont typeface="Arial"/>
              <a:buNone/>
            </a:pPr>
            <a:r>
              <a:rPr b="1" i="0" lang="en" sz="863" u="none" cap="none" strike="noStrike">
                <a:solidFill>
                  <a:srgbClr val="123243"/>
                </a:solidFill>
                <a:latin typeface="Arial"/>
                <a:ea typeface="Arial"/>
                <a:cs typeface="Arial"/>
                <a:sym typeface="Arial"/>
              </a:rPr>
              <a:t>Power Density</a:t>
            </a:r>
            <a:endParaRPr b="0" i="0" sz="1050" u="none" cap="none" strike="noStrike">
              <a:solidFill>
                <a:srgbClr val="000000"/>
              </a:solidFill>
              <a:latin typeface="Arial"/>
              <a:ea typeface="Arial"/>
              <a:cs typeface="Arial"/>
              <a:sym typeface="Arial"/>
            </a:endParaRPr>
          </a:p>
          <a:p>
            <a:pPr indent="0" lvl="0" marL="0" marR="0" rtl="0" algn="l">
              <a:lnSpc>
                <a:spcPct val="108000"/>
              </a:lnSpc>
              <a:spcBef>
                <a:spcPts val="375"/>
              </a:spcBef>
              <a:spcAft>
                <a:spcPts val="0"/>
              </a:spcAft>
              <a:buClr>
                <a:srgbClr val="000000"/>
              </a:buClr>
              <a:buSzPts val="720"/>
              <a:buFont typeface="Arial"/>
              <a:buNone/>
            </a:pPr>
            <a:r>
              <a:rPr b="0" i="0" lang="en" sz="720" u="none" cap="none" strike="noStrike">
                <a:solidFill>
                  <a:srgbClr val="3A4E5A"/>
                </a:solidFill>
                <a:latin typeface="Arial"/>
                <a:ea typeface="Arial"/>
                <a:cs typeface="Arial"/>
                <a:sym typeface="Arial"/>
              </a:rPr>
              <a:t>More output from smaller, lighter stacks</a:t>
            </a:r>
            <a:endParaRPr b="0" i="0" sz="1050" u="none" cap="none" strike="noStrike">
              <a:solidFill>
                <a:srgbClr val="000000"/>
              </a:solidFill>
              <a:latin typeface="Arial"/>
              <a:ea typeface="Arial"/>
              <a:cs typeface="Arial"/>
              <a:sym typeface="Arial"/>
            </a:endParaRPr>
          </a:p>
        </p:txBody>
      </p:sp>
      <p:sp>
        <p:nvSpPr>
          <p:cNvPr id="877" name="Google Shape;877;p14"/>
          <p:cNvSpPr/>
          <p:nvPr/>
        </p:nvSpPr>
        <p:spPr>
          <a:xfrm>
            <a:off x="2045473" y="2530141"/>
            <a:ext cx="1578900" cy="1042500"/>
          </a:xfrm>
          <a:prstGeom prst="roundRect">
            <a:avLst>
              <a:gd fmla="val 4500" name="adj"/>
            </a:avLst>
          </a:prstGeom>
          <a:solidFill>
            <a:srgbClr val="FFFFFF"/>
          </a:solidFill>
          <a:ln cap="flat" cmpd="sng" w="9525">
            <a:solidFill>
              <a:srgbClr val="D5DF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78" name="Google Shape;878;p14"/>
          <p:cNvSpPr/>
          <p:nvPr/>
        </p:nvSpPr>
        <p:spPr>
          <a:xfrm>
            <a:off x="2045473" y="2530141"/>
            <a:ext cx="1578900" cy="37800"/>
          </a:xfrm>
          <a:prstGeom prst="rect">
            <a:avLst/>
          </a:prstGeom>
          <a:solidFill>
            <a:srgbClr val="1760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79" name="Google Shape;879;p14"/>
          <p:cNvSpPr txBox="1"/>
          <p:nvPr/>
        </p:nvSpPr>
        <p:spPr>
          <a:xfrm>
            <a:off x="2148344" y="2660443"/>
            <a:ext cx="1373700" cy="41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63"/>
              <a:buFont typeface="Arial"/>
              <a:buNone/>
            </a:pPr>
            <a:r>
              <a:rPr b="1" i="0" lang="en" sz="863" u="none" cap="none" strike="noStrike">
                <a:solidFill>
                  <a:srgbClr val="123243"/>
                </a:solidFill>
                <a:latin typeface="Arial"/>
                <a:ea typeface="Arial"/>
                <a:cs typeface="Arial"/>
                <a:sym typeface="Arial"/>
              </a:rPr>
              <a:t>Dynamic Response</a:t>
            </a:r>
            <a:endParaRPr b="0" i="0" sz="1050" u="none" cap="none" strike="noStrike">
              <a:solidFill>
                <a:srgbClr val="000000"/>
              </a:solidFill>
              <a:latin typeface="Arial"/>
              <a:ea typeface="Arial"/>
              <a:cs typeface="Arial"/>
              <a:sym typeface="Arial"/>
            </a:endParaRPr>
          </a:p>
          <a:p>
            <a:pPr indent="0" lvl="0" marL="0" marR="0" rtl="0" algn="l">
              <a:lnSpc>
                <a:spcPct val="108000"/>
              </a:lnSpc>
              <a:spcBef>
                <a:spcPts val="375"/>
              </a:spcBef>
              <a:spcAft>
                <a:spcPts val="0"/>
              </a:spcAft>
              <a:buClr>
                <a:srgbClr val="000000"/>
              </a:buClr>
              <a:buSzPts val="720"/>
              <a:buFont typeface="Arial"/>
              <a:buNone/>
            </a:pPr>
            <a:r>
              <a:rPr b="0" i="0" lang="en" sz="720" u="none" cap="none" strike="noStrike">
                <a:solidFill>
                  <a:srgbClr val="3A4E5A"/>
                </a:solidFill>
                <a:latin typeface="Arial"/>
                <a:ea typeface="Arial"/>
                <a:cs typeface="Arial"/>
                <a:sym typeface="Arial"/>
              </a:rPr>
              <a:t>Faster response to changing loads</a:t>
            </a:r>
            <a:endParaRPr b="0" i="0" sz="1050" u="none" cap="none" strike="noStrike">
              <a:solidFill>
                <a:srgbClr val="000000"/>
              </a:solidFill>
              <a:latin typeface="Arial"/>
              <a:ea typeface="Arial"/>
              <a:cs typeface="Arial"/>
              <a:sym typeface="Arial"/>
            </a:endParaRPr>
          </a:p>
        </p:txBody>
      </p:sp>
      <p:sp>
        <p:nvSpPr>
          <p:cNvPr id="880" name="Google Shape;880;p14"/>
          <p:cNvSpPr/>
          <p:nvPr/>
        </p:nvSpPr>
        <p:spPr>
          <a:xfrm>
            <a:off x="3748046" y="2530141"/>
            <a:ext cx="1578900" cy="1042500"/>
          </a:xfrm>
          <a:prstGeom prst="roundRect">
            <a:avLst>
              <a:gd fmla="val 4500" name="adj"/>
            </a:avLst>
          </a:prstGeom>
          <a:solidFill>
            <a:srgbClr val="FFFFFF"/>
          </a:solidFill>
          <a:ln cap="flat" cmpd="sng" w="9525">
            <a:solidFill>
              <a:srgbClr val="D5DF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81" name="Google Shape;881;p14"/>
          <p:cNvSpPr/>
          <p:nvPr/>
        </p:nvSpPr>
        <p:spPr>
          <a:xfrm>
            <a:off x="3748046" y="2530141"/>
            <a:ext cx="1578900" cy="37800"/>
          </a:xfrm>
          <a:prstGeom prst="rect">
            <a:avLst/>
          </a:prstGeom>
          <a:solidFill>
            <a:srgbClr val="2C7BB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82" name="Google Shape;882;p14"/>
          <p:cNvSpPr txBox="1"/>
          <p:nvPr/>
        </p:nvSpPr>
        <p:spPr>
          <a:xfrm>
            <a:off x="3850916" y="2660443"/>
            <a:ext cx="1373700" cy="54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63"/>
              <a:buFont typeface="Arial"/>
              <a:buNone/>
            </a:pPr>
            <a:r>
              <a:rPr b="1" i="0" lang="en" sz="863" u="none" cap="none" strike="noStrike">
                <a:solidFill>
                  <a:srgbClr val="123243"/>
                </a:solidFill>
                <a:latin typeface="Arial"/>
                <a:ea typeface="Arial"/>
                <a:cs typeface="Arial"/>
                <a:sym typeface="Arial"/>
              </a:rPr>
              <a:t>Therman and Water control</a:t>
            </a:r>
            <a:endParaRPr b="0" i="0" sz="1050" u="none" cap="none" strike="noStrike">
              <a:solidFill>
                <a:srgbClr val="000000"/>
              </a:solidFill>
              <a:latin typeface="Arial"/>
              <a:ea typeface="Arial"/>
              <a:cs typeface="Arial"/>
              <a:sym typeface="Arial"/>
            </a:endParaRPr>
          </a:p>
          <a:p>
            <a:pPr indent="0" lvl="0" marL="0" marR="0" rtl="0" algn="l">
              <a:lnSpc>
                <a:spcPct val="108000"/>
              </a:lnSpc>
              <a:spcBef>
                <a:spcPts val="375"/>
              </a:spcBef>
              <a:spcAft>
                <a:spcPts val="0"/>
              </a:spcAft>
              <a:buClr>
                <a:srgbClr val="000000"/>
              </a:buClr>
              <a:buSzPts val="720"/>
              <a:buFont typeface="Arial"/>
              <a:buNone/>
            </a:pPr>
            <a:r>
              <a:rPr b="0" i="0" lang="en" sz="720" u="none" cap="none" strike="noStrike">
                <a:solidFill>
                  <a:srgbClr val="3A4E5A"/>
                </a:solidFill>
                <a:latin typeface="Arial"/>
                <a:ea typeface="Arial"/>
                <a:cs typeface="Arial"/>
                <a:sym typeface="Arial"/>
              </a:rPr>
              <a:t>Better operating stability and efficiency</a:t>
            </a:r>
            <a:endParaRPr b="0" i="0" sz="1050" u="none" cap="none" strike="noStrike">
              <a:solidFill>
                <a:srgbClr val="000000"/>
              </a:solidFill>
              <a:latin typeface="Arial"/>
              <a:ea typeface="Arial"/>
              <a:cs typeface="Arial"/>
              <a:sym typeface="Arial"/>
            </a:endParaRPr>
          </a:p>
        </p:txBody>
      </p:sp>
      <p:sp>
        <p:nvSpPr>
          <p:cNvPr id="883" name="Google Shape;883;p14"/>
          <p:cNvSpPr/>
          <p:nvPr/>
        </p:nvSpPr>
        <p:spPr>
          <a:xfrm>
            <a:off x="5450620" y="2530141"/>
            <a:ext cx="1578900" cy="1042500"/>
          </a:xfrm>
          <a:prstGeom prst="roundRect">
            <a:avLst>
              <a:gd fmla="val 4500" name="adj"/>
            </a:avLst>
          </a:prstGeom>
          <a:solidFill>
            <a:srgbClr val="FFFFFF"/>
          </a:solidFill>
          <a:ln cap="flat" cmpd="sng" w="9525">
            <a:solidFill>
              <a:srgbClr val="D5DF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84" name="Google Shape;884;p14"/>
          <p:cNvSpPr/>
          <p:nvPr/>
        </p:nvSpPr>
        <p:spPr>
          <a:xfrm>
            <a:off x="5450620" y="2530141"/>
            <a:ext cx="1578900" cy="37800"/>
          </a:xfrm>
          <a:prstGeom prst="rect">
            <a:avLst/>
          </a:prstGeom>
          <a:solidFill>
            <a:srgbClr val="E879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85" name="Google Shape;885;p14"/>
          <p:cNvSpPr txBox="1"/>
          <p:nvPr/>
        </p:nvSpPr>
        <p:spPr>
          <a:xfrm>
            <a:off x="5553490" y="2660443"/>
            <a:ext cx="1373700" cy="41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63"/>
              <a:buFont typeface="Arial"/>
              <a:buNone/>
            </a:pPr>
            <a:r>
              <a:rPr b="1" i="0" lang="en" sz="863" u="none" cap="none" strike="noStrike">
                <a:solidFill>
                  <a:srgbClr val="123243"/>
                </a:solidFill>
                <a:latin typeface="Arial"/>
                <a:ea typeface="Arial"/>
                <a:cs typeface="Arial"/>
                <a:sym typeface="Arial"/>
              </a:rPr>
              <a:t>Digital control</a:t>
            </a:r>
            <a:endParaRPr b="0" i="0" sz="1050" u="none" cap="none" strike="noStrike">
              <a:solidFill>
                <a:srgbClr val="000000"/>
              </a:solidFill>
              <a:latin typeface="Arial"/>
              <a:ea typeface="Arial"/>
              <a:cs typeface="Arial"/>
              <a:sym typeface="Arial"/>
            </a:endParaRPr>
          </a:p>
          <a:p>
            <a:pPr indent="0" lvl="0" marL="0" marR="0" rtl="0" algn="l">
              <a:lnSpc>
                <a:spcPct val="108000"/>
              </a:lnSpc>
              <a:spcBef>
                <a:spcPts val="375"/>
              </a:spcBef>
              <a:spcAft>
                <a:spcPts val="0"/>
              </a:spcAft>
              <a:buClr>
                <a:srgbClr val="000000"/>
              </a:buClr>
              <a:buSzPts val="720"/>
              <a:buFont typeface="Arial"/>
              <a:buNone/>
            </a:pPr>
            <a:r>
              <a:rPr b="0" i="0" lang="en" sz="720" u="none" cap="none" strike="noStrike">
                <a:solidFill>
                  <a:srgbClr val="3A4E5A"/>
                </a:solidFill>
                <a:latin typeface="Arial"/>
                <a:ea typeface="Arial"/>
                <a:cs typeface="Arial"/>
                <a:sym typeface="Arial"/>
              </a:rPr>
              <a:t>Smarter diagnostics and optimization</a:t>
            </a:r>
            <a:endParaRPr b="0" i="0" sz="1050" u="none" cap="none" strike="noStrike">
              <a:solidFill>
                <a:srgbClr val="000000"/>
              </a:solidFill>
              <a:latin typeface="Arial"/>
              <a:ea typeface="Arial"/>
              <a:cs typeface="Arial"/>
              <a:sym typeface="Arial"/>
            </a:endParaRPr>
          </a:p>
        </p:txBody>
      </p:sp>
      <p:sp>
        <p:nvSpPr>
          <p:cNvPr id="886" name="Google Shape;886;p14"/>
          <p:cNvSpPr/>
          <p:nvPr/>
        </p:nvSpPr>
        <p:spPr>
          <a:xfrm>
            <a:off x="7153193" y="2530141"/>
            <a:ext cx="1578900" cy="1042500"/>
          </a:xfrm>
          <a:prstGeom prst="roundRect">
            <a:avLst>
              <a:gd fmla="val 4500" name="adj"/>
            </a:avLst>
          </a:prstGeom>
          <a:solidFill>
            <a:srgbClr val="FFFFFF"/>
          </a:solidFill>
          <a:ln cap="flat" cmpd="sng" w="9525">
            <a:solidFill>
              <a:srgbClr val="D5DF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87" name="Google Shape;887;p14"/>
          <p:cNvSpPr/>
          <p:nvPr/>
        </p:nvSpPr>
        <p:spPr>
          <a:xfrm>
            <a:off x="7153193" y="2530141"/>
            <a:ext cx="1578900" cy="37800"/>
          </a:xfrm>
          <a:prstGeom prst="rect">
            <a:avLst/>
          </a:prstGeom>
          <a:solidFill>
            <a:srgbClr val="8A4F1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88" name="Google Shape;888;p14"/>
          <p:cNvSpPr txBox="1"/>
          <p:nvPr/>
        </p:nvSpPr>
        <p:spPr>
          <a:xfrm>
            <a:off x="7256063" y="2660443"/>
            <a:ext cx="1373700" cy="41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63"/>
              <a:buFont typeface="Arial"/>
              <a:buNone/>
            </a:pPr>
            <a:r>
              <a:rPr b="1" i="0" lang="en" sz="863" u="none" cap="none" strike="noStrike">
                <a:solidFill>
                  <a:srgbClr val="123243"/>
                </a:solidFill>
                <a:latin typeface="Arial"/>
                <a:ea typeface="Arial"/>
                <a:cs typeface="Arial"/>
                <a:sym typeface="Arial"/>
              </a:rPr>
              <a:t>Scalable Manufacturing</a:t>
            </a:r>
            <a:endParaRPr b="0" i="0" sz="1050" u="none" cap="none" strike="noStrike">
              <a:solidFill>
                <a:srgbClr val="000000"/>
              </a:solidFill>
              <a:latin typeface="Arial"/>
              <a:ea typeface="Arial"/>
              <a:cs typeface="Arial"/>
              <a:sym typeface="Arial"/>
            </a:endParaRPr>
          </a:p>
          <a:p>
            <a:pPr indent="0" lvl="0" marL="0" marR="0" rtl="0" algn="l">
              <a:lnSpc>
                <a:spcPct val="108000"/>
              </a:lnSpc>
              <a:spcBef>
                <a:spcPts val="375"/>
              </a:spcBef>
              <a:spcAft>
                <a:spcPts val="0"/>
              </a:spcAft>
              <a:buClr>
                <a:srgbClr val="000000"/>
              </a:buClr>
              <a:buSzPts val="720"/>
              <a:buFont typeface="Arial"/>
              <a:buNone/>
            </a:pPr>
            <a:r>
              <a:rPr b="0" i="0" lang="en" sz="720" u="none" cap="none" strike="noStrike">
                <a:solidFill>
                  <a:srgbClr val="3A4E5A"/>
                </a:solidFill>
                <a:latin typeface="Arial"/>
                <a:ea typeface="Arial"/>
                <a:cs typeface="Arial"/>
                <a:sym typeface="Arial"/>
              </a:rPr>
              <a:t>Automation and volume production reduce cost</a:t>
            </a:r>
            <a:endParaRPr b="0" i="0" sz="1050" u="none" cap="none" strike="noStrike">
              <a:solidFill>
                <a:srgbClr val="000000"/>
              </a:solidFill>
              <a:latin typeface="Arial"/>
              <a:ea typeface="Arial"/>
              <a:cs typeface="Arial"/>
              <a:sym typeface="Arial"/>
            </a:endParaRPr>
          </a:p>
        </p:txBody>
      </p:sp>
      <p:sp>
        <p:nvSpPr>
          <p:cNvPr id="889" name="Google Shape;889;p14"/>
          <p:cNvSpPr txBox="1"/>
          <p:nvPr/>
        </p:nvSpPr>
        <p:spPr>
          <a:xfrm>
            <a:off x="521206" y="1903248"/>
            <a:ext cx="1419600" cy="1734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chemeClr val="lt1"/>
                </a:solidFill>
                <a:latin typeface="Arial"/>
                <a:ea typeface="Arial"/>
                <a:cs typeface="Arial"/>
                <a:sym typeface="Arial"/>
              </a:rPr>
              <a:t>Membranes, Catalysts, MEAs</a:t>
            </a:r>
            <a:endParaRPr b="0" i="0" sz="1100" u="none" cap="none" strike="noStrike">
              <a:solidFill>
                <a:schemeClr val="lt1"/>
              </a:solidFill>
              <a:latin typeface="Arial"/>
              <a:ea typeface="Arial"/>
              <a:cs typeface="Arial"/>
              <a:sym typeface="Arial"/>
            </a:endParaRPr>
          </a:p>
        </p:txBody>
      </p:sp>
      <p:sp>
        <p:nvSpPr>
          <p:cNvPr id="890" name="Google Shape;890;p14"/>
          <p:cNvSpPr txBox="1"/>
          <p:nvPr/>
        </p:nvSpPr>
        <p:spPr>
          <a:xfrm>
            <a:off x="2659233" y="1903228"/>
            <a:ext cx="1627200" cy="1734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chemeClr val="lt1"/>
                </a:solidFill>
                <a:latin typeface="Arial"/>
                <a:ea typeface="Arial"/>
                <a:cs typeface="Arial"/>
                <a:sym typeface="Arial"/>
              </a:rPr>
              <a:t>Less fuel, Less heat, Better utilization</a:t>
            </a:r>
            <a:endParaRPr b="0" i="0" sz="1100" u="none" cap="none" strike="noStrike">
              <a:solidFill>
                <a:schemeClr val="lt1"/>
              </a:solidFill>
              <a:latin typeface="Arial"/>
              <a:ea typeface="Arial"/>
              <a:cs typeface="Arial"/>
              <a:sym typeface="Arial"/>
            </a:endParaRPr>
          </a:p>
        </p:txBody>
      </p:sp>
      <p:sp>
        <p:nvSpPr>
          <p:cNvPr id="891" name="Google Shape;891;p14"/>
          <p:cNvSpPr txBox="1"/>
          <p:nvPr/>
        </p:nvSpPr>
        <p:spPr>
          <a:xfrm>
            <a:off x="4849783" y="1910603"/>
            <a:ext cx="1627200" cy="1734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chemeClr val="lt1"/>
                </a:solidFill>
                <a:latin typeface="Arial"/>
                <a:ea typeface="Arial"/>
                <a:cs typeface="Arial"/>
                <a:sym typeface="Arial"/>
              </a:rPr>
              <a:t>Durability, Degradation management</a:t>
            </a:r>
            <a:endParaRPr b="0" i="0" sz="1100" u="none" cap="none" strike="noStrike">
              <a:solidFill>
                <a:schemeClr val="lt1"/>
              </a:solidFill>
              <a:latin typeface="Arial"/>
              <a:ea typeface="Arial"/>
              <a:cs typeface="Arial"/>
              <a:sym typeface="Arial"/>
            </a:endParaRPr>
          </a:p>
        </p:txBody>
      </p:sp>
      <p:sp>
        <p:nvSpPr>
          <p:cNvPr id="892" name="Google Shape;892;p14"/>
          <p:cNvSpPr txBox="1"/>
          <p:nvPr/>
        </p:nvSpPr>
        <p:spPr>
          <a:xfrm>
            <a:off x="6984375" y="1910603"/>
            <a:ext cx="1627200" cy="173400"/>
          </a:xfrm>
          <a:prstGeom prst="rect">
            <a:avLst/>
          </a:prstGeom>
          <a:noFill/>
          <a:ln>
            <a:noFill/>
          </a:ln>
        </p:spPr>
        <p:txBody>
          <a:bodyPr anchorCtr="0" anchor="t" bIns="34275" lIns="34275" spcFirstLastPara="1" rIns="34275" wrap="square" tIns="34275">
            <a:noAutofit/>
          </a:bodyPr>
          <a:lstStyle/>
          <a:p>
            <a:pPr indent="0" lvl="0" marL="0" marR="0" rtl="0" algn="ctr">
              <a:lnSpc>
                <a:spcPct val="101666"/>
              </a:lnSpc>
              <a:spcBef>
                <a:spcPts val="0"/>
              </a:spcBef>
              <a:spcAft>
                <a:spcPts val="0"/>
              </a:spcAft>
              <a:buClr>
                <a:srgbClr val="000000"/>
              </a:buClr>
              <a:buSzPts val="700"/>
              <a:buFont typeface="Arial"/>
              <a:buNone/>
            </a:pPr>
            <a:r>
              <a:rPr b="0" i="0" lang="en" sz="700" u="none" cap="none" strike="noStrike">
                <a:solidFill>
                  <a:schemeClr val="lt1"/>
                </a:solidFill>
                <a:latin typeface="Arial"/>
                <a:ea typeface="Arial"/>
                <a:cs typeface="Arial"/>
                <a:sym typeface="Arial"/>
              </a:rPr>
              <a:t>Scale, Integration, Manufacturability</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30"/>
        </a:solidFill>
      </p:bgPr>
    </p:bg>
    <p:spTree>
      <p:nvGrpSpPr>
        <p:cNvPr id="897" name="Shape 897"/>
        <p:cNvGrpSpPr/>
        <p:nvPr/>
      </p:nvGrpSpPr>
      <p:grpSpPr>
        <a:xfrm>
          <a:off x="0" y="0"/>
          <a:ext cx="0" cy="0"/>
          <a:chOff x="0" y="0"/>
          <a:chExt cx="0" cy="0"/>
        </a:xfrm>
      </p:grpSpPr>
      <p:sp>
        <p:nvSpPr>
          <p:cNvPr id="898" name="Google Shape;898;p19"/>
          <p:cNvSpPr/>
          <p:nvPr/>
        </p:nvSpPr>
        <p:spPr>
          <a:xfrm>
            <a:off x="0" y="0"/>
            <a:ext cx="9144000" cy="5143500"/>
          </a:xfrm>
          <a:prstGeom prst="rect">
            <a:avLst/>
          </a:prstGeom>
          <a:solidFill>
            <a:srgbClr val="0A253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9" name="Google Shape;899;p19"/>
          <p:cNvSpPr txBox="1"/>
          <p:nvPr/>
        </p:nvSpPr>
        <p:spPr>
          <a:xfrm>
            <a:off x="342901" y="274320"/>
            <a:ext cx="8389500" cy="1509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1" i="0" lang="en" sz="700" u="none" cap="none" strike="noStrike">
                <a:solidFill>
                  <a:srgbClr val="C77A12"/>
                </a:solidFill>
                <a:latin typeface="Arial"/>
                <a:ea typeface="Arial"/>
                <a:cs typeface="Arial"/>
                <a:sym typeface="Arial"/>
              </a:rPr>
              <a:t>07 · CONCLUSION</a:t>
            </a:r>
            <a:endParaRPr b="0" i="0" sz="1100" u="none" cap="none" strike="noStrike">
              <a:solidFill>
                <a:srgbClr val="000000"/>
              </a:solidFill>
              <a:latin typeface="Arial"/>
              <a:ea typeface="Arial"/>
              <a:cs typeface="Arial"/>
              <a:sym typeface="Arial"/>
            </a:endParaRPr>
          </a:p>
        </p:txBody>
      </p:sp>
      <p:sp>
        <p:nvSpPr>
          <p:cNvPr id="900" name="Google Shape;900;p19"/>
          <p:cNvSpPr txBox="1"/>
          <p:nvPr/>
        </p:nvSpPr>
        <p:spPr>
          <a:xfrm>
            <a:off x="342901" y="452628"/>
            <a:ext cx="8458200" cy="370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Recap - Fuel cell as an energy source</a:t>
            </a:r>
            <a:endParaRPr b="0" i="0" sz="1100" u="none" cap="none" strike="noStrike">
              <a:solidFill>
                <a:srgbClr val="000000"/>
              </a:solidFill>
              <a:latin typeface="Arial"/>
              <a:ea typeface="Arial"/>
              <a:cs typeface="Arial"/>
              <a:sym typeface="Arial"/>
            </a:endParaRPr>
          </a:p>
        </p:txBody>
      </p:sp>
      <p:sp>
        <p:nvSpPr>
          <p:cNvPr id="901" name="Google Shape;901;p19"/>
          <p:cNvSpPr/>
          <p:nvPr/>
        </p:nvSpPr>
        <p:spPr>
          <a:xfrm>
            <a:off x="377192" y="1207008"/>
            <a:ext cx="2686800" cy="809400"/>
          </a:xfrm>
          <a:prstGeom prst="roundRect">
            <a:avLst>
              <a:gd fmla="val 5932"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2" name="Google Shape;902;p19"/>
          <p:cNvSpPr txBox="1"/>
          <p:nvPr/>
        </p:nvSpPr>
        <p:spPr>
          <a:xfrm>
            <a:off x="493778" y="1327709"/>
            <a:ext cx="24537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A converter, not a source</a:t>
            </a:r>
            <a:endParaRPr b="0" i="0" sz="1100" u="none" cap="none" strike="noStrike">
              <a:solidFill>
                <a:srgbClr val="000000"/>
              </a:solidFill>
              <a:latin typeface="Arial"/>
              <a:ea typeface="Arial"/>
              <a:cs typeface="Arial"/>
              <a:sym typeface="Arial"/>
            </a:endParaRPr>
          </a:p>
        </p:txBody>
      </p:sp>
      <p:sp>
        <p:nvSpPr>
          <p:cNvPr id="903" name="Google Shape;903;p19"/>
          <p:cNvSpPr txBox="1"/>
          <p:nvPr/>
        </p:nvSpPr>
        <p:spPr>
          <a:xfrm>
            <a:off x="493778" y="1509350"/>
            <a:ext cx="24537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BCD0D8"/>
                </a:solidFill>
                <a:latin typeface="Arial"/>
                <a:ea typeface="Arial"/>
                <a:cs typeface="Arial"/>
                <a:sym typeface="Arial"/>
              </a:rPr>
              <a:t>Hydrogen stores the energy; the cell releases it on demand.</a:t>
            </a:r>
            <a:endParaRPr b="0" i="0" sz="1100" u="none" cap="none" strike="noStrike">
              <a:solidFill>
                <a:srgbClr val="000000"/>
              </a:solidFill>
              <a:latin typeface="Arial"/>
              <a:ea typeface="Arial"/>
              <a:cs typeface="Arial"/>
              <a:sym typeface="Arial"/>
            </a:endParaRPr>
          </a:p>
        </p:txBody>
      </p:sp>
      <p:sp>
        <p:nvSpPr>
          <p:cNvPr id="904" name="Google Shape;904;p19"/>
          <p:cNvSpPr/>
          <p:nvPr/>
        </p:nvSpPr>
        <p:spPr>
          <a:xfrm>
            <a:off x="3228599" y="1207008"/>
            <a:ext cx="2686800" cy="809400"/>
          </a:xfrm>
          <a:prstGeom prst="roundRect">
            <a:avLst>
              <a:gd fmla="val 5932"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5" name="Google Shape;905;p19"/>
          <p:cNvSpPr txBox="1"/>
          <p:nvPr/>
        </p:nvSpPr>
        <p:spPr>
          <a:xfrm>
            <a:off x="3345185" y="1327709"/>
            <a:ext cx="24537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 combustion</a:t>
            </a:r>
            <a:endParaRPr b="0" i="0" sz="1100" u="none" cap="none" strike="noStrike">
              <a:solidFill>
                <a:srgbClr val="000000"/>
              </a:solidFill>
              <a:latin typeface="Arial"/>
              <a:ea typeface="Arial"/>
              <a:cs typeface="Arial"/>
              <a:sym typeface="Arial"/>
            </a:endParaRPr>
          </a:p>
        </p:txBody>
      </p:sp>
      <p:sp>
        <p:nvSpPr>
          <p:cNvPr id="906" name="Google Shape;906;p19"/>
          <p:cNvSpPr txBox="1"/>
          <p:nvPr/>
        </p:nvSpPr>
        <p:spPr>
          <a:xfrm>
            <a:off x="3345185" y="1509350"/>
            <a:ext cx="2453700" cy="178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BCD0D8"/>
                </a:solidFill>
                <a:latin typeface="Arial"/>
                <a:ea typeface="Arial"/>
                <a:cs typeface="Arial"/>
                <a:sym typeface="Arial"/>
              </a:rPr>
              <a:t>Efficiency is set by thermodynamics and not by heat engine. So no Carnot ceiling — but a 1.23 V one instead.</a:t>
            </a:r>
            <a:endParaRPr b="0" i="0" sz="1100" u="none" cap="none" strike="noStrike">
              <a:solidFill>
                <a:srgbClr val="000000"/>
              </a:solidFill>
              <a:latin typeface="Arial"/>
              <a:ea typeface="Arial"/>
              <a:cs typeface="Arial"/>
              <a:sym typeface="Arial"/>
            </a:endParaRPr>
          </a:p>
        </p:txBody>
      </p:sp>
      <p:sp>
        <p:nvSpPr>
          <p:cNvPr id="907" name="Google Shape;907;p19"/>
          <p:cNvSpPr/>
          <p:nvPr/>
        </p:nvSpPr>
        <p:spPr>
          <a:xfrm>
            <a:off x="6080007" y="1207008"/>
            <a:ext cx="2686800" cy="809400"/>
          </a:xfrm>
          <a:prstGeom prst="roundRect">
            <a:avLst>
              <a:gd fmla="val 5932"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8" name="Google Shape;908;p19"/>
          <p:cNvSpPr txBox="1"/>
          <p:nvPr/>
        </p:nvSpPr>
        <p:spPr>
          <a:xfrm>
            <a:off x="6196594" y="1327709"/>
            <a:ext cx="24537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Voltage always falls</a:t>
            </a:r>
            <a:endParaRPr b="0" i="0" sz="1100" u="none" cap="none" strike="noStrike">
              <a:solidFill>
                <a:srgbClr val="000000"/>
              </a:solidFill>
              <a:latin typeface="Arial"/>
              <a:ea typeface="Arial"/>
              <a:cs typeface="Arial"/>
              <a:sym typeface="Arial"/>
            </a:endParaRPr>
          </a:p>
        </p:txBody>
      </p:sp>
      <p:sp>
        <p:nvSpPr>
          <p:cNvPr id="909" name="Google Shape;909;p19"/>
          <p:cNvSpPr txBox="1"/>
          <p:nvPr/>
        </p:nvSpPr>
        <p:spPr>
          <a:xfrm>
            <a:off x="6196594" y="1509350"/>
            <a:ext cx="24537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BCD0D8"/>
                </a:solidFill>
                <a:latin typeface="Arial"/>
                <a:ea typeface="Arial"/>
                <a:cs typeface="Arial"/>
                <a:sym typeface="Arial"/>
              </a:rPr>
              <a:t>Efficiency and power density are the same axis, read two ways.</a:t>
            </a:r>
            <a:endParaRPr b="0" i="0" sz="1100" u="none" cap="none" strike="noStrike">
              <a:solidFill>
                <a:srgbClr val="000000"/>
              </a:solidFill>
              <a:latin typeface="Arial"/>
              <a:ea typeface="Arial"/>
              <a:cs typeface="Arial"/>
              <a:sym typeface="Arial"/>
            </a:endParaRPr>
          </a:p>
        </p:txBody>
      </p:sp>
      <p:sp>
        <p:nvSpPr>
          <p:cNvPr id="910" name="Google Shape;910;p19"/>
          <p:cNvSpPr/>
          <p:nvPr/>
        </p:nvSpPr>
        <p:spPr>
          <a:xfrm>
            <a:off x="377192" y="2112264"/>
            <a:ext cx="2686800" cy="809400"/>
          </a:xfrm>
          <a:prstGeom prst="roundRect">
            <a:avLst>
              <a:gd fmla="val 5932"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1" name="Google Shape;911;p19"/>
          <p:cNvSpPr txBox="1"/>
          <p:nvPr/>
        </p:nvSpPr>
        <p:spPr>
          <a:xfrm>
            <a:off x="493778" y="2232965"/>
            <a:ext cx="24537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Power is not energy</a:t>
            </a:r>
            <a:endParaRPr b="0" i="0" sz="1100" u="none" cap="none" strike="noStrike">
              <a:solidFill>
                <a:srgbClr val="000000"/>
              </a:solidFill>
              <a:latin typeface="Arial"/>
              <a:ea typeface="Arial"/>
              <a:cs typeface="Arial"/>
              <a:sym typeface="Arial"/>
            </a:endParaRPr>
          </a:p>
        </p:txBody>
      </p:sp>
      <p:sp>
        <p:nvSpPr>
          <p:cNvPr id="912" name="Google Shape;912;p19"/>
          <p:cNvSpPr txBox="1"/>
          <p:nvPr/>
        </p:nvSpPr>
        <p:spPr>
          <a:xfrm>
            <a:off x="493778" y="2414606"/>
            <a:ext cx="24537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BCD0D8"/>
                </a:solidFill>
                <a:latin typeface="Arial"/>
                <a:ea typeface="Arial"/>
                <a:cs typeface="Arial"/>
                <a:sym typeface="Arial"/>
              </a:rPr>
              <a:t>Area and cell count set the power; the tank sets the runtime.</a:t>
            </a:r>
            <a:endParaRPr b="0" i="0" sz="1100" u="none" cap="none" strike="noStrike">
              <a:solidFill>
                <a:srgbClr val="000000"/>
              </a:solidFill>
              <a:latin typeface="Arial"/>
              <a:ea typeface="Arial"/>
              <a:cs typeface="Arial"/>
              <a:sym typeface="Arial"/>
            </a:endParaRPr>
          </a:p>
        </p:txBody>
      </p:sp>
      <p:sp>
        <p:nvSpPr>
          <p:cNvPr id="913" name="Google Shape;913;p19"/>
          <p:cNvSpPr/>
          <p:nvPr/>
        </p:nvSpPr>
        <p:spPr>
          <a:xfrm>
            <a:off x="3228599" y="2112264"/>
            <a:ext cx="2686800" cy="809400"/>
          </a:xfrm>
          <a:prstGeom prst="roundRect">
            <a:avLst>
              <a:gd fmla="val 5932"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4" name="Google Shape;914;p19"/>
          <p:cNvSpPr txBox="1"/>
          <p:nvPr/>
        </p:nvSpPr>
        <p:spPr>
          <a:xfrm>
            <a:off x="3345185" y="2232965"/>
            <a:ext cx="24537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A stack is not a system</a:t>
            </a:r>
            <a:endParaRPr b="0" i="0" sz="1100" u="none" cap="none" strike="noStrike">
              <a:solidFill>
                <a:srgbClr val="000000"/>
              </a:solidFill>
              <a:latin typeface="Arial"/>
              <a:ea typeface="Arial"/>
              <a:cs typeface="Arial"/>
              <a:sym typeface="Arial"/>
            </a:endParaRPr>
          </a:p>
        </p:txBody>
      </p:sp>
      <p:sp>
        <p:nvSpPr>
          <p:cNvPr id="915" name="Google Shape;915;p19"/>
          <p:cNvSpPr txBox="1"/>
          <p:nvPr/>
        </p:nvSpPr>
        <p:spPr>
          <a:xfrm>
            <a:off x="3345185" y="2414606"/>
            <a:ext cx="2453700" cy="1788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BCD0D8"/>
                </a:solidFill>
                <a:latin typeface="Arial"/>
                <a:ea typeface="Arial"/>
                <a:cs typeface="Arial"/>
                <a:sym typeface="Arial"/>
              </a:rPr>
              <a:t>Auxiliaries and heat decide what the load receives.</a:t>
            </a:r>
            <a:endParaRPr b="0" i="0" sz="1100" u="none" cap="none" strike="noStrike">
              <a:solidFill>
                <a:srgbClr val="000000"/>
              </a:solidFill>
              <a:latin typeface="Arial"/>
              <a:ea typeface="Arial"/>
              <a:cs typeface="Arial"/>
              <a:sym typeface="Arial"/>
            </a:endParaRPr>
          </a:p>
        </p:txBody>
      </p:sp>
      <p:sp>
        <p:nvSpPr>
          <p:cNvPr id="916" name="Google Shape;916;p19"/>
          <p:cNvSpPr/>
          <p:nvPr/>
        </p:nvSpPr>
        <p:spPr>
          <a:xfrm>
            <a:off x="6080007" y="2112264"/>
            <a:ext cx="2686800" cy="809400"/>
          </a:xfrm>
          <a:prstGeom prst="roundRect">
            <a:avLst>
              <a:gd fmla="val 5932"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7" name="Google Shape;917;p19"/>
          <p:cNvSpPr txBox="1"/>
          <p:nvPr/>
        </p:nvSpPr>
        <p:spPr>
          <a:xfrm>
            <a:off x="6196594" y="2232965"/>
            <a:ext cx="2453700" cy="202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As clean as its fuel</a:t>
            </a:r>
            <a:endParaRPr b="0" i="0" sz="1100" u="none" cap="none" strike="noStrike">
              <a:solidFill>
                <a:srgbClr val="000000"/>
              </a:solidFill>
              <a:latin typeface="Arial"/>
              <a:ea typeface="Arial"/>
              <a:cs typeface="Arial"/>
              <a:sym typeface="Arial"/>
            </a:endParaRPr>
          </a:p>
        </p:txBody>
      </p:sp>
      <p:sp>
        <p:nvSpPr>
          <p:cNvPr id="918" name="Google Shape;918;p19"/>
          <p:cNvSpPr txBox="1"/>
          <p:nvPr/>
        </p:nvSpPr>
        <p:spPr>
          <a:xfrm>
            <a:off x="6196594" y="2414606"/>
            <a:ext cx="2453700" cy="289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700"/>
              <a:buFont typeface="Arial"/>
              <a:buNone/>
            </a:pPr>
            <a:r>
              <a:rPr b="0" i="0" lang="en" sz="700" u="none" cap="none" strike="noStrike">
                <a:solidFill>
                  <a:srgbClr val="BCD0D8"/>
                </a:solidFill>
                <a:latin typeface="Arial"/>
                <a:ea typeface="Arial"/>
                <a:cs typeface="Arial"/>
                <a:sym typeface="Arial"/>
              </a:rPr>
              <a:t>The stack is clean; the upstream pathway decides the rest.</a:t>
            </a:r>
            <a:endParaRPr b="0" i="0" sz="1100" u="none" cap="none" strike="noStrike">
              <a:solidFill>
                <a:srgbClr val="000000"/>
              </a:solidFill>
              <a:latin typeface="Arial"/>
              <a:ea typeface="Arial"/>
              <a:cs typeface="Arial"/>
              <a:sym typeface="Arial"/>
            </a:endParaRPr>
          </a:p>
        </p:txBody>
      </p:sp>
      <p:sp>
        <p:nvSpPr>
          <p:cNvPr id="919" name="Google Shape;919;p19"/>
          <p:cNvSpPr/>
          <p:nvPr/>
        </p:nvSpPr>
        <p:spPr>
          <a:xfrm>
            <a:off x="377192" y="3099815"/>
            <a:ext cx="8389500" cy="795600"/>
          </a:xfrm>
          <a:prstGeom prst="roundRect">
            <a:avLst>
              <a:gd fmla="val 6034" name="adj"/>
            </a:avLst>
          </a:prstGeom>
          <a:solidFill>
            <a:srgbClr val="11364A"/>
          </a:solidFill>
          <a:ln cap="flat" cmpd="sng" w="9525">
            <a:solidFill>
              <a:srgbClr val="2A576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0" name="Google Shape;920;p19"/>
          <p:cNvSpPr txBox="1"/>
          <p:nvPr/>
        </p:nvSpPr>
        <p:spPr>
          <a:xfrm>
            <a:off x="493778" y="3220517"/>
            <a:ext cx="8156400" cy="2082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What it competes with</a:t>
            </a:r>
            <a:endParaRPr b="0" i="0" sz="1100" u="none" cap="none" strike="noStrike">
              <a:solidFill>
                <a:srgbClr val="000000"/>
              </a:solidFill>
              <a:latin typeface="Arial"/>
              <a:ea typeface="Arial"/>
              <a:cs typeface="Arial"/>
              <a:sym typeface="Arial"/>
            </a:endParaRPr>
          </a:p>
        </p:txBody>
      </p:sp>
      <p:sp>
        <p:nvSpPr>
          <p:cNvPr id="921" name="Google Shape;921;p19"/>
          <p:cNvSpPr txBox="1"/>
          <p:nvPr/>
        </p:nvSpPr>
        <p:spPr>
          <a:xfrm>
            <a:off x="493778" y="3407968"/>
            <a:ext cx="8156400" cy="312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800"/>
              <a:buFont typeface="Arial"/>
              <a:buNone/>
            </a:pPr>
            <a:r>
              <a:rPr b="0" i="0" lang="en" sz="800" u="none" cap="none" strike="noStrike">
                <a:solidFill>
                  <a:srgbClr val="BCD0D8"/>
                </a:solidFill>
                <a:latin typeface="Arial"/>
                <a:ea typeface="Arial"/>
                <a:cs typeface="Arial"/>
                <a:sym typeface="Arial"/>
              </a:rPr>
              <a:t>A fuel cell replaces an engine or a diesel generator — not a battery. It wins wherever stored energy, long autonomy and fast refuelling matter more than round-trip efficiency, and it loses wherever they do not.</a:t>
            </a:r>
            <a:endParaRPr b="0" i="0" sz="1100" u="none" cap="none" strike="noStrike">
              <a:solidFill>
                <a:srgbClr val="000000"/>
              </a:solidFill>
              <a:latin typeface="Arial"/>
              <a:ea typeface="Arial"/>
              <a:cs typeface="Arial"/>
              <a:sym typeface="Arial"/>
            </a:endParaRPr>
          </a:p>
        </p:txBody>
      </p:sp>
      <p:sp>
        <p:nvSpPr>
          <p:cNvPr id="922" name="Google Shape;922;p19"/>
          <p:cNvSpPr txBox="1"/>
          <p:nvPr/>
        </p:nvSpPr>
        <p:spPr>
          <a:xfrm>
            <a:off x="342901" y="4073652"/>
            <a:ext cx="8389500" cy="411600"/>
          </a:xfrm>
          <a:prstGeom prst="rect">
            <a:avLst/>
          </a:prstGeom>
          <a:noFill/>
          <a:ln>
            <a:noFill/>
          </a:ln>
        </p:spPr>
        <p:txBody>
          <a:bodyPr anchorCtr="0" anchor="t" bIns="34275" lIns="34275" spcFirstLastPara="1" rIns="34275" wrap="square" tIns="34275">
            <a:noAutofit/>
          </a:bodyPr>
          <a:lstStyle/>
          <a:p>
            <a:pPr indent="0" lvl="0" marL="0" marR="0" rtl="0" algn="l">
              <a:lnSpc>
                <a:spcPct val="101666"/>
              </a:lnSpc>
              <a:spcBef>
                <a:spcPts val="0"/>
              </a:spcBef>
              <a:spcAft>
                <a:spcPts val="0"/>
              </a:spcAft>
              <a:buClr>
                <a:srgbClr val="000000"/>
              </a:buClr>
              <a:buSzPts val="900"/>
              <a:buFont typeface="Arial"/>
              <a:buNone/>
            </a:pPr>
            <a:r>
              <a:rPr b="1" i="0" lang="en" sz="900" u="none" cap="none" strike="noStrike">
                <a:solidFill>
                  <a:srgbClr val="C77A12"/>
                </a:solidFill>
                <a:latin typeface="Arial"/>
                <a:ea typeface="Arial"/>
                <a:cs typeface="Arial"/>
                <a:sym typeface="Arial"/>
              </a:rPr>
              <a:t>Hydrogen belongs where direct electrification is difficult. For short-range and grid-connected duty, batteries remain the better answer — and being precise about that is what makes the rest credible.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