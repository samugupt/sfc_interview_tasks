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1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7" roundtripDataSignature="AMtx7mgpmL9DRngIPFU0MRKZrp9dLrFx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Thanks. The task was to design a software architecture for an expansion module for fuel-cell systems. The module has four analogue inputs wired directly to the microcontroller's ADC, and a CAN interface back to the fuel-cell system controller. Each input can be a temperature, current or voltage measurement — and that setting has to survive a power interruption.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Four numbers frame the design: four channels, three sensor types plus disabled, one external interface, and no operating system. I'll spend most of the time on the architecture, and on the two hard parts — persistence and determinism.</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drawing any boxes, I separated what the brief gives me from what I decided.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left, the four functional requirements straight out of the task: acquire, configure, persist, publish. In the middle, the qualities that aren't written down but decide whether the design is any good — deterministic timing, robustness to bad input, diagnosability, and testability.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right, my decisions. A bare-metal cyclic executive rather than an RTOS: four channels and five short periodic jobs don't justify the scheduling complexity or the analysis burden. Interrupts stay short — the timer interrupt only counts, and the CAN receive interrupt only queues a frame. Conversion profiles are fixed at compile time, so there's no field calibration to get wrong. And the configuration is a two-copy record with a CRC, a sequence number and a commit marker.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Every one of those is reversible, and I'm happy to argue any of them.</a:t>
            </a:r>
            <a:endParaRPr/>
          </a:p>
        </p:txBody>
      </p:sp>
      <p:sp>
        <p:nvSpPr>
          <p:cNvPr id="109" name="Google Shape;109;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physical boundary.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left, the four analogue inputs. Then passive signal conditioning — dividers, a shunt amplifier, an RTD front end, filtering and over-voltage protection — scaling everything into the ADC's range. The brief wires the inputs straight to the microcontroller's ADC, so there's no external converter to drive or synchronise.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Inside the microcontroller: the ADC, the flash holding the configuration record, the CAN controller, a timer and watchdog, and the application firmware — six services and a scheduler, all on this one part. No second processor, no operating system. Then the transceiver, and the bus out to the fuel-cell controller.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Read it left to right: analogue in, digital out. The architectural point is that the CAN bus is the only path off the module, which makes the CAN Protocol Manager the module's entire external API.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starred figures are working assumptions I'd confirm with the system owner, not requirements.</a:t>
            </a:r>
            <a:endParaRPr/>
          </a:p>
        </p:txBody>
      </p:sp>
      <p:sp>
        <p:nvSpPr>
          <p:cNvPr id="180" name="Google Shape;180;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core of the answer. Three layers. The arrows follow a measurement left to right, but the dependencies run the other way — and only ever one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bottom, four HAL modules wrapping the hardware: ADC, CAN, NVM, and timer plus watchdog. Each one is an interface, not a register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middle, six application services, each owning exactly one responsibility and one piece of state. Measurement owns samples, values and channel status. Sensor Converter dispatches the fixed conversion per type. Configuration owns the four channel modes. CAN Protocol decodes commands and packs values. NVM owns the two-copy record. Diagnostics collects faults, counters and the reset reason.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right, execution: a cyclic scheduler that decides when work runs, and a state machine that decides whether it's allowed to run at all. Deliberately separate concerns.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left column is context, not a layer — those are external actors. And the payoff is the third card: because every service talks to interfaces, I can replace all four HAL modules with fakes and run the entire upper stack on a host PC.</a:t>
            </a:r>
            <a:endParaRPr/>
          </a:p>
        </p:txBody>
      </p:sp>
      <p:sp>
        <p:nvSpPr>
          <p:cNvPr id="239" name="Google Shape;23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measurement path. A timer tick starts a cycle, the ADC is read in one blocking scan of all four channels, then for each channel we look up its configured type, convert, range-check, and publish the value with its status.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 pipeline serves all four channels — the configured type selects the interpretation, not a separate code path. That matters for change: adding a fifth sensor type means one new conversion function and one new enum value. It touches nothing in the scheduler, nothing in the protocol layer, nothing in the acquisition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Two details. If a value is out of range we mark that channel invalid and report it — we never publish a wrong number as though it were good. And Disabled is a channel state, not a fourth conversion; a disabled channel publishes its status and no value at 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strip at the bottom walks one real reading through: 0.84 volts at the pin, raw count 1042, fixed gain applied, 18.5 amps out on CAN with status OK.</a:t>
            </a:r>
            <a:endParaRPr/>
          </a:p>
        </p:txBody>
      </p:sp>
      <p:sp>
        <p:nvSpPr>
          <p:cNvPr id="311" name="Google Shape;31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Persistence is where designs like this usually go wrong, so it gets two slides. This is the write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controller sends a set-channel-type command. The CAN Protocol Manager decodes and validates it. The Configuration Manager asks the NVM Manager to write the spare record copy — the spare, not the active one. That copy is read back and its CRC verified. Only then does the commit marker move. The next scan picks up the new type, and the result travels back out as an acknowledgement.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one ordering decision that makes this power-fail safe: write and verify the spare first, move the marker last. Lose power before the marker moves and the committed copy is untouched.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Two failure branches. An invalid command is rejected on arrival and the active configuration is never touched. If the NVM write or verify fails, the committed copy stays active, we raise a diagnostic and return a NACK.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guarantee at the bottom: the controller is never told a change succeeded unless the module could still honour it after an immediate reset.</a:t>
            </a:r>
            <a:endParaRPr/>
          </a:p>
        </p:txBody>
      </p:sp>
      <p:sp>
        <p:nvSpPr>
          <p:cNvPr id="380" name="Google Shape;38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other half — the read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power-on we read both stored copies, pick the newest one that is both valid and committed — magic number, sequence, CRC and commit marker — and use it. If neither verifies, we fall back to safe defaults with every channel disabled, and we report that we did. We don't guess.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Below that is the state machine I named on the architecture slide. INIT loads and verifies the record — nothing is sampled and nothing is published from INIT. RUN is the normal cycle. DEGRADED is where a channel, a conversion or the NVM has failed: healthy channels keep publishing, faulty ones publish status only, so one bad channel doesn't take the module down. BUS-OFF RECOVERY handles CAN bus-off — acquisition carries on while transmission retries under the protocol's recovery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rule across all four: no state can publish a value without a status, so an unavailable reading is always visible as unavailable, never as a plausible zero.</a:t>
            </a:r>
            <a:endParaRPr/>
          </a:p>
        </p:txBody>
      </p:sp>
      <p:sp>
        <p:nvSpPr>
          <p:cNvPr id="437" name="Google Shape;43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execution model is a cyclic executive — the same five jobs, in the same order, every pass. Validate and stage any CAN command, read and convert all four channels, publish, commit if a change is staged, and feed the watchdog. No operating system, no dynamic allocation, no unbounded wait.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order is deliberate: commands are staged early and committed late, so a new channel type is in force from the pass after it is acknowledged.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step waits without a bound — every HAL wait carries a timeout, so a dead peripheral is a reported fault, not a hang. And that's the orange card. An earlier version wrote flash inside the command handler. A page erase is milliseconds, which would have made that step unbounded and broken the determinism requirement two slides earlier. So step one stages in RAM; step five writes, then acknowledges.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watchdog is fed last, only on a pass that completed every step cleanly — so a job that overruns becomes a reset with a recorded reason, rather than a silent hang.</a:t>
            </a:r>
            <a:endParaRPr/>
          </a:p>
        </p:txBody>
      </p:sp>
      <p:sp>
        <p:nvSpPr>
          <p:cNvPr id="481" name="Google Shape;48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[0:55]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Two routines carry most of the requirements.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left, reading the channels. One ADC scan, then per channel: look up the type, and if it's disabled, set the status to DISABLED and move on. That one line matters — without it, a channel you switch off keeps reporting its last status, which is exactly the stale-data bug the design is meant to prevent. Otherwise, convert and range-check.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right, the stage-then-commit pair. Staging validates and touches RAM only. Committing writes the spare copy, verifies it, and on any failure reports a fault, NACKs and discards — leaving the committed copy active. send_ack is the very last statement, after the marker has moved.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Both routines fail closed: every early return leaves the previously committed configuration in force. And both are ordinary C, testable on a host.</a:t>
            </a:r>
            <a:endParaRPr/>
          </a:p>
        </p:txBody>
      </p:sp>
      <p:sp>
        <p:nvSpPr>
          <p:cNvPr id="539" name="Google Shape;53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Verification. The shape of this slide is the argument.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Conversions, enum validation, CRC, protocol encode and decode, scheduler behaviour and every fault path are all testable on a host PC with mock drivers — which means they're testable on day one, before any board exists. Only integration and hardware-in-the-loop need the real module: real analogue signals, a live CAN network, a real power interruption.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Below that are the faults we inject deliberately. Value out of range, unknown command, power cut mid-commit, both copies failing CRC, bus-off, and a job overrunning. Each maps to a response the architecture already claims.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That's the discipline: if the design claims a behaviour, something exercises it. A fault response that exists only in a slide isn't a fault response.</a:t>
            </a:r>
            <a:endParaRPr/>
          </a:p>
        </p:txBody>
      </p:sp>
      <p:sp>
        <p:nvSpPr>
          <p:cNvPr id="591" name="Google Shape;591;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[0:55]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close.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it guarantees: one pipeline for four channels; one owner per piece of state; interfaces rather than registers, so everything runs on a host with mocks; configuration committed rather than merely written; and faults that stay visible.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I'd need from the system owner before writing production code: the exact CAN identifiers and cycle times, the required accuracy per sensor type, whether the chosen part supports open and short detection, the expected configuration writes over life — that sizes NVM wear handling — whether firmware update over CAN is in scope, and whether a channel may change type while the system is running.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honest limits: the cycle times here are illustrative, the flash programming detail follows the chosen microcontroller's data sheet, and I've claimed open-short diagnostics only where the silicon supports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Happy to go deeper on any of it.</a:t>
            </a:r>
            <a:endParaRPr/>
          </a:p>
        </p:txBody>
      </p:sp>
      <p:sp>
        <p:nvSpPr>
          <p:cNvPr id="630" name="Google Shape;630;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740"/>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969" cy="6858000"/>
          </a:xfrm>
          <a:prstGeom prst="rect">
            <a:avLst/>
          </a:prstGeom>
          <a:solidFill>
            <a:srgbClr val="0A274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1"/>
          <p:cNvSpPr txBox="1"/>
          <p:nvPr/>
        </p:nvSpPr>
        <p:spPr>
          <a:xfrm>
            <a:off x="457200" y="1188720"/>
            <a:ext cx="822960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SOFTWARE ARCHITECTURE DESIGN</a:t>
            </a:r>
            <a:endParaRPr/>
          </a:p>
        </p:txBody>
      </p:sp>
      <p:sp>
        <p:nvSpPr>
          <p:cNvPr id="87" name="Google Shape;87;p1"/>
          <p:cNvSpPr txBox="1"/>
          <p:nvPr/>
        </p:nvSpPr>
        <p:spPr>
          <a:xfrm>
            <a:off x="457200" y="1481328"/>
            <a:ext cx="10607040" cy="1298448"/>
          </a:xfrm>
          <a:prstGeom prst="rect">
            <a:avLst/>
          </a:prstGeom>
          <a:noFill/>
          <a:ln>
            <a:noFill/>
          </a:ln>
        </p:spPr>
        <p:txBody>
          <a:bodyPr anchorCtr="0" anchor="t" bIns="45700" lIns="45700" spcFirstLastPara="1" rIns="45700" wrap="square" tIns="45700">
            <a:noAutofit/>
          </a:bodyPr>
          <a:lstStyle/>
          <a:p>
            <a:pPr indent="0" lvl="0" marL="0" marR="0" rtl="0" algn="l">
              <a:lnSpc>
                <a:spcPct val="95000"/>
              </a:lnSpc>
              <a:spcBef>
                <a:spcPts val="0"/>
              </a:spcBef>
              <a:spcAft>
                <a:spcPts val="0"/>
              </a:spcAft>
              <a:buNone/>
            </a:pPr>
            <a:r>
              <a:rPr b="1" i="0" lang="en-US" sz="4000">
                <a:solidFill>
                  <a:srgbClr val="FFFFFF"/>
                </a:solidFill>
                <a:latin typeface="Arial"/>
                <a:ea typeface="Arial"/>
                <a:cs typeface="Arial"/>
                <a:sym typeface="Arial"/>
              </a:rPr>
              <a:t>Expansion Module for</a:t>
            </a:r>
            <a:endParaRPr/>
          </a:p>
          <a:p>
            <a:pPr indent="0" lvl="0" marL="0" marR="0" rtl="0" algn="l">
              <a:lnSpc>
                <a:spcPct val="95000"/>
              </a:lnSpc>
              <a:spcBef>
                <a:spcPts val="0"/>
              </a:spcBef>
              <a:spcAft>
                <a:spcPts val="0"/>
              </a:spcAft>
              <a:buNone/>
            </a:pPr>
            <a:r>
              <a:rPr b="1" i="0" lang="en-US" sz="4000">
                <a:solidFill>
                  <a:srgbClr val="FFFFFF"/>
                </a:solidFill>
                <a:latin typeface="Arial"/>
                <a:ea typeface="Arial"/>
                <a:cs typeface="Arial"/>
                <a:sym typeface="Arial"/>
              </a:rPr>
              <a:t>Fuel-Cell Systems</a:t>
            </a:r>
            <a:endParaRPr/>
          </a:p>
        </p:txBody>
      </p:sp>
      <p:sp>
        <p:nvSpPr>
          <p:cNvPr id="88" name="Google Shape;88;p1"/>
          <p:cNvSpPr txBox="1"/>
          <p:nvPr/>
        </p:nvSpPr>
        <p:spPr>
          <a:xfrm>
            <a:off x="457200" y="2852928"/>
            <a:ext cx="9052560" cy="54864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300">
                <a:solidFill>
                  <a:srgbClr val="9DB4C8"/>
                </a:solidFill>
                <a:latin typeface="Arial"/>
                <a:ea typeface="Arial"/>
                <a:cs typeface="Arial"/>
                <a:sym typeface="Arial"/>
              </a:rPr>
              <a:t>Four configurable analogue inputs, configuration that survives a power interruption, and a CAN interface to the fuel-cell system controller.</a:t>
            </a:r>
            <a:endParaRPr/>
          </a:p>
        </p:txBody>
      </p:sp>
      <p:sp>
        <p:nvSpPr>
          <p:cNvPr id="89" name="Google Shape;89;p1"/>
          <p:cNvSpPr/>
          <p:nvPr/>
        </p:nvSpPr>
        <p:spPr>
          <a:xfrm>
            <a:off x="502920" y="3611880"/>
            <a:ext cx="2613629" cy="1572768"/>
          </a:xfrm>
          <a:prstGeom prst="roundRect">
            <a:avLst>
              <a:gd fmla="val 4069"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1"/>
          <p:cNvSpPr txBox="1"/>
          <p:nvPr/>
        </p:nvSpPr>
        <p:spPr>
          <a:xfrm>
            <a:off x="658368" y="3749039"/>
            <a:ext cx="1463040" cy="56692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3400">
                <a:solidFill>
                  <a:srgbClr val="E2721C"/>
                </a:solidFill>
                <a:latin typeface="Arial"/>
                <a:ea typeface="Arial"/>
                <a:cs typeface="Arial"/>
                <a:sym typeface="Arial"/>
              </a:rPr>
              <a:t>4</a:t>
            </a:r>
            <a:endParaRPr/>
          </a:p>
        </p:txBody>
      </p:sp>
      <p:sp>
        <p:nvSpPr>
          <p:cNvPr id="91" name="Google Shape;91;p1"/>
          <p:cNvSpPr txBox="1"/>
          <p:nvPr/>
        </p:nvSpPr>
        <p:spPr>
          <a:xfrm>
            <a:off x="658368" y="4315968"/>
            <a:ext cx="2302733"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FFFFFF"/>
                </a:solidFill>
                <a:latin typeface="Arial"/>
                <a:ea typeface="Arial"/>
                <a:cs typeface="Arial"/>
                <a:sym typeface="Arial"/>
              </a:rPr>
              <a:t>analogue inputs</a:t>
            </a:r>
            <a:endParaRPr/>
          </a:p>
        </p:txBody>
      </p:sp>
      <p:sp>
        <p:nvSpPr>
          <p:cNvPr id="92" name="Google Shape;92;p1"/>
          <p:cNvSpPr txBox="1"/>
          <p:nvPr/>
        </p:nvSpPr>
        <p:spPr>
          <a:xfrm>
            <a:off x="658368" y="4553712"/>
            <a:ext cx="2302733" cy="54864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CH0–CH3, wired straight to the</a:t>
            </a:r>
            <a:endParaRPr/>
          </a:p>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microcontroller's ADC</a:t>
            </a:r>
            <a:endParaRPr/>
          </a:p>
        </p:txBody>
      </p:sp>
      <p:sp>
        <p:nvSpPr>
          <p:cNvPr id="93" name="Google Shape;93;p1"/>
          <p:cNvSpPr/>
          <p:nvPr/>
        </p:nvSpPr>
        <p:spPr>
          <a:xfrm>
            <a:off x="3390869" y="3611880"/>
            <a:ext cx="2613629" cy="1572768"/>
          </a:xfrm>
          <a:prstGeom prst="roundRect">
            <a:avLst>
              <a:gd fmla="val 4069"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
          <p:cNvSpPr txBox="1"/>
          <p:nvPr/>
        </p:nvSpPr>
        <p:spPr>
          <a:xfrm>
            <a:off x="3546317" y="3749039"/>
            <a:ext cx="1463040" cy="56692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3400">
                <a:solidFill>
                  <a:srgbClr val="E2721C"/>
                </a:solidFill>
                <a:latin typeface="Arial"/>
                <a:ea typeface="Arial"/>
                <a:cs typeface="Arial"/>
                <a:sym typeface="Arial"/>
              </a:rPr>
              <a:t>3+1</a:t>
            </a:r>
            <a:endParaRPr/>
          </a:p>
        </p:txBody>
      </p:sp>
      <p:sp>
        <p:nvSpPr>
          <p:cNvPr id="95" name="Google Shape;95;p1"/>
          <p:cNvSpPr txBox="1"/>
          <p:nvPr/>
        </p:nvSpPr>
        <p:spPr>
          <a:xfrm>
            <a:off x="3546317" y="4315968"/>
            <a:ext cx="2302733"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FFFFFF"/>
                </a:solidFill>
                <a:latin typeface="Arial"/>
                <a:ea typeface="Arial"/>
                <a:cs typeface="Arial"/>
                <a:sym typeface="Arial"/>
              </a:rPr>
              <a:t>channel types</a:t>
            </a:r>
            <a:endParaRPr/>
          </a:p>
        </p:txBody>
      </p:sp>
      <p:sp>
        <p:nvSpPr>
          <p:cNvPr id="96" name="Google Shape;96;p1"/>
          <p:cNvSpPr txBox="1"/>
          <p:nvPr/>
        </p:nvSpPr>
        <p:spPr>
          <a:xfrm>
            <a:off x="3546317" y="4553712"/>
            <a:ext cx="2302733" cy="54864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temperature, current, voltage</a:t>
            </a:r>
            <a:endParaRPr/>
          </a:p>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 or disabled</a:t>
            </a:r>
            <a:endParaRPr/>
          </a:p>
        </p:txBody>
      </p:sp>
      <p:sp>
        <p:nvSpPr>
          <p:cNvPr id="97" name="Google Shape;97;p1"/>
          <p:cNvSpPr/>
          <p:nvPr/>
        </p:nvSpPr>
        <p:spPr>
          <a:xfrm>
            <a:off x="6278819" y="3611880"/>
            <a:ext cx="2613629" cy="1572768"/>
          </a:xfrm>
          <a:prstGeom prst="roundRect">
            <a:avLst>
              <a:gd fmla="val 4069"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
          <p:cNvSpPr txBox="1"/>
          <p:nvPr/>
        </p:nvSpPr>
        <p:spPr>
          <a:xfrm>
            <a:off x="6434267" y="3749039"/>
            <a:ext cx="1463040" cy="56692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3400">
                <a:solidFill>
                  <a:srgbClr val="E2721C"/>
                </a:solidFill>
                <a:latin typeface="Arial"/>
                <a:ea typeface="Arial"/>
                <a:cs typeface="Arial"/>
                <a:sym typeface="Arial"/>
              </a:rPr>
              <a:t>1</a:t>
            </a:r>
            <a:endParaRPr/>
          </a:p>
        </p:txBody>
      </p:sp>
      <p:sp>
        <p:nvSpPr>
          <p:cNvPr id="99" name="Google Shape;99;p1"/>
          <p:cNvSpPr txBox="1"/>
          <p:nvPr/>
        </p:nvSpPr>
        <p:spPr>
          <a:xfrm>
            <a:off x="6434267" y="4315968"/>
            <a:ext cx="2302733"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FFFFFF"/>
                </a:solidFill>
                <a:latin typeface="Arial"/>
                <a:ea typeface="Arial"/>
                <a:cs typeface="Arial"/>
                <a:sym typeface="Arial"/>
              </a:rPr>
              <a:t>external interface</a:t>
            </a:r>
            <a:endParaRPr/>
          </a:p>
        </p:txBody>
      </p:sp>
      <p:sp>
        <p:nvSpPr>
          <p:cNvPr id="100" name="Google Shape;100;p1"/>
          <p:cNvSpPr txBox="1"/>
          <p:nvPr/>
        </p:nvSpPr>
        <p:spPr>
          <a:xfrm>
            <a:off x="6434267" y="4553712"/>
            <a:ext cx="2302733" cy="54864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the CAN bus is the module's</a:t>
            </a:r>
            <a:endParaRPr/>
          </a:p>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entire external API</a:t>
            </a:r>
            <a:endParaRPr/>
          </a:p>
        </p:txBody>
      </p:sp>
      <p:sp>
        <p:nvSpPr>
          <p:cNvPr id="101" name="Google Shape;101;p1"/>
          <p:cNvSpPr/>
          <p:nvPr/>
        </p:nvSpPr>
        <p:spPr>
          <a:xfrm>
            <a:off x="9166768" y="3611880"/>
            <a:ext cx="2613629" cy="1572768"/>
          </a:xfrm>
          <a:prstGeom prst="roundRect">
            <a:avLst>
              <a:gd fmla="val 4069"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1"/>
          <p:cNvSpPr txBox="1"/>
          <p:nvPr/>
        </p:nvSpPr>
        <p:spPr>
          <a:xfrm>
            <a:off x="9322216" y="3749039"/>
            <a:ext cx="1463040" cy="56692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3400">
                <a:solidFill>
                  <a:srgbClr val="E2721C"/>
                </a:solidFill>
                <a:latin typeface="Arial"/>
                <a:ea typeface="Arial"/>
                <a:cs typeface="Arial"/>
                <a:sym typeface="Arial"/>
              </a:rPr>
              <a:t>0</a:t>
            </a:r>
            <a:endParaRPr/>
          </a:p>
        </p:txBody>
      </p:sp>
      <p:sp>
        <p:nvSpPr>
          <p:cNvPr id="103" name="Google Shape;103;p1"/>
          <p:cNvSpPr txBox="1"/>
          <p:nvPr/>
        </p:nvSpPr>
        <p:spPr>
          <a:xfrm>
            <a:off x="9322216" y="4315968"/>
            <a:ext cx="2302733"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FFFFFF"/>
                </a:solidFill>
                <a:latin typeface="Arial"/>
                <a:ea typeface="Arial"/>
                <a:cs typeface="Arial"/>
                <a:sym typeface="Arial"/>
              </a:rPr>
              <a:t>operating systems</a:t>
            </a:r>
            <a:endParaRPr/>
          </a:p>
        </p:txBody>
      </p:sp>
      <p:sp>
        <p:nvSpPr>
          <p:cNvPr id="104" name="Google Shape;104;p1"/>
          <p:cNvSpPr txBox="1"/>
          <p:nvPr/>
        </p:nvSpPr>
        <p:spPr>
          <a:xfrm>
            <a:off x="9322216" y="4553712"/>
            <a:ext cx="2302733" cy="54864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a cyclic executive, chosen</a:t>
            </a:r>
            <a:endParaRPr/>
          </a:p>
          <a:p>
            <a:pPr indent="0" lvl="0" marL="0" marR="0" rtl="0" algn="l">
              <a:lnSpc>
                <a:spcPct val="101666"/>
              </a:lnSpc>
              <a:spcBef>
                <a:spcPts val="0"/>
              </a:spcBef>
              <a:spcAft>
                <a:spcPts val="0"/>
              </a:spcAft>
              <a:buNone/>
            </a:pPr>
            <a:r>
              <a:rPr b="0" i="0" lang="en-US" sz="900">
                <a:solidFill>
                  <a:srgbClr val="8FA7BB"/>
                </a:solidFill>
                <a:latin typeface="Arial"/>
                <a:ea typeface="Arial"/>
                <a:cs typeface="Arial"/>
                <a:sym typeface="Arial"/>
              </a:rPr>
              <a:t>deliberately over an RTOS</a:t>
            </a:r>
            <a:endParaRPr/>
          </a:p>
        </p:txBody>
      </p:sp>
      <p:sp>
        <p:nvSpPr>
          <p:cNvPr id="105" name="Google Shape;105;p1"/>
          <p:cNvSpPr txBox="1"/>
          <p:nvPr/>
        </p:nvSpPr>
        <p:spPr>
          <a:xfrm>
            <a:off x="457200" y="5742432"/>
            <a:ext cx="1118612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5D7A94"/>
                </a:solidFill>
                <a:latin typeface="Arial"/>
                <a:ea typeface="Arial"/>
                <a:cs typeface="Arial"/>
                <a:sym typeface="Arial"/>
              </a:rPr>
              <a:t>REQUIREMENTS   ·   SYSTEM CONTEXT   ·   LAYERED ARCHITECTURE   ·   DATA PATH   ·   CONFIGURATION   ·   EXECUTION   ·   TEST   ·   CONCLUSION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01 · REQUIREMENTS</a:t>
            </a:r>
            <a:endParaRPr/>
          </a:p>
        </p:txBody>
      </p:sp>
      <p:sp>
        <p:nvSpPr>
          <p:cNvPr id="112" name="Google Shape;112;p2"/>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What the module must do, and what I chose</a:t>
            </a:r>
            <a:endParaRPr/>
          </a:p>
        </p:txBody>
      </p:sp>
      <p:sp>
        <p:nvSpPr>
          <p:cNvPr id="113" name="Google Shape;113;p2"/>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Separating the requirements that come from the brief from the design decisions I made to satisfy them.</a:t>
            </a:r>
            <a:endParaRPr/>
          </a:p>
        </p:txBody>
      </p:sp>
      <p:sp>
        <p:nvSpPr>
          <p:cNvPr id="114" name="Google Shape;114;p2"/>
          <p:cNvSpPr txBox="1"/>
          <p:nvPr/>
        </p:nvSpPr>
        <p:spPr>
          <a:xfrm>
            <a:off x="457200" y="1554480"/>
            <a:ext cx="354586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0F3A5F"/>
                </a:solidFill>
                <a:latin typeface="Arial"/>
                <a:ea typeface="Arial"/>
                <a:cs typeface="Arial"/>
                <a:sym typeface="Arial"/>
              </a:rPr>
              <a:t>FUNCTIONAL — FROM THE BRIEF</a:t>
            </a:r>
            <a:endParaRPr/>
          </a:p>
        </p:txBody>
      </p:sp>
      <p:sp>
        <p:nvSpPr>
          <p:cNvPr id="115" name="Google Shape;115;p2"/>
          <p:cNvSpPr/>
          <p:nvPr/>
        </p:nvSpPr>
        <p:spPr>
          <a:xfrm>
            <a:off x="502920" y="1828800"/>
            <a:ext cx="3545860" cy="969213"/>
          </a:xfrm>
          <a:prstGeom prst="roundRect">
            <a:avLst>
              <a:gd fmla="val 6604" name="adj"/>
            </a:avLst>
          </a:prstGeom>
          <a:solidFill>
            <a:srgbClr val="EDF3F8"/>
          </a:solidFill>
          <a:ln cap="flat" cmpd="sng" w="9525">
            <a:solidFill>
              <a:srgbClr val="C4D8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2"/>
          <p:cNvSpPr/>
          <p:nvPr/>
        </p:nvSpPr>
        <p:spPr>
          <a:xfrm>
            <a:off x="704088" y="2003450"/>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2"/>
          <p:cNvSpPr txBox="1"/>
          <p:nvPr/>
        </p:nvSpPr>
        <p:spPr>
          <a:xfrm>
            <a:off x="704088" y="2044598"/>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1</a:t>
            </a:r>
            <a:endParaRPr/>
          </a:p>
        </p:txBody>
      </p:sp>
      <p:sp>
        <p:nvSpPr>
          <p:cNvPr id="118" name="Google Shape;118;p2"/>
          <p:cNvSpPr txBox="1"/>
          <p:nvPr/>
        </p:nvSpPr>
        <p:spPr>
          <a:xfrm>
            <a:off x="1060704" y="1989734"/>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Acquire</a:t>
            </a:r>
            <a:endParaRPr/>
          </a:p>
        </p:txBody>
      </p:sp>
      <p:sp>
        <p:nvSpPr>
          <p:cNvPr id="119" name="Google Shape;119;p2"/>
          <p:cNvSpPr txBox="1"/>
          <p:nvPr/>
        </p:nvSpPr>
        <p:spPr>
          <a:xfrm>
            <a:off x="658368" y="2270658"/>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Sample CH0–CH3 through the microcontroller's own ADC inputs.</a:t>
            </a:r>
            <a:endParaRPr/>
          </a:p>
        </p:txBody>
      </p:sp>
      <p:sp>
        <p:nvSpPr>
          <p:cNvPr id="120" name="Google Shape;120;p2"/>
          <p:cNvSpPr/>
          <p:nvPr/>
        </p:nvSpPr>
        <p:spPr>
          <a:xfrm>
            <a:off x="502920" y="2926029"/>
            <a:ext cx="3545860" cy="969213"/>
          </a:xfrm>
          <a:prstGeom prst="roundRect">
            <a:avLst>
              <a:gd fmla="val 6604" name="adj"/>
            </a:avLst>
          </a:prstGeom>
          <a:solidFill>
            <a:srgbClr val="EDF3F8"/>
          </a:solidFill>
          <a:ln cap="flat" cmpd="sng" w="9525">
            <a:solidFill>
              <a:srgbClr val="C4D8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2"/>
          <p:cNvSpPr/>
          <p:nvPr/>
        </p:nvSpPr>
        <p:spPr>
          <a:xfrm>
            <a:off x="704088" y="3100679"/>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
          <p:cNvSpPr txBox="1"/>
          <p:nvPr/>
        </p:nvSpPr>
        <p:spPr>
          <a:xfrm>
            <a:off x="704088" y="3141827"/>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2</a:t>
            </a:r>
            <a:endParaRPr/>
          </a:p>
        </p:txBody>
      </p:sp>
      <p:sp>
        <p:nvSpPr>
          <p:cNvPr id="123" name="Google Shape;123;p2"/>
          <p:cNvSpPr txBox="1"/>
          <p:nvPr/>
        </p:nvSpPr>
        <p:spPr>
          <a:xfrm>
            <a:off x="1060704" y="3086963"/>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Configure</a:t>
            </a:r>
            <a:endParaRPr/>
          </a:p>
        </p:txBody>
      </p:sp>
      <p:sp>
        <p:nvSpPr>
          <p:cNvPr id="124" name="Google Shape;124;p2"/>
          <p:cNvSpPr txBox="1"/>
          <p:nvPr/>
        </p:nvSpPr>
        <p:spPr>
          <a:xfrm>
            <a:off x="658368" y="3367887"/>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Set each channel to temperature, current, voltage or disabled over CAN.</a:t>
            </a:r>
            <a:endParaRPr/>
          </a:p>
        </p:txBody>
      </p:sp>
      <p:sp>
        <p:nvSpPr>
          <p:cNvPr id="125" name="Google Shape;125;p2"/>
          <p:cNvSpPr/>
          <p:nvPr/>
        </p:nvSpPr>
        <p:spPr>
          <a:xfrm>
            <a:off x="502920" y="4023258"/>
            <a:ext cx="3545860" cy="969213"/>
          </a:xfrm>
          <a:prstGeom prst="roundRect">
            <a:avLst>
              <a:gd fmla="val 6604" name="adj"/>
            </a:avLst>
          </a:prstGeom>
          <a:solidFill>
            <a:srgbClr val="EDF3F8"/>
          </a:solidFill>
          <a:ln cap="flat" cmpd="sng" w="9525">
            <a:solidFill>
              <a:srgbClr val="C4D8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2"/>
          <p:cNvSpPr/>
          <p:nvPr/>
        </p:nvSpPr>
        <p:spPr>
          <a:xfrm>
            <a:off x="704088" y="4197908"/>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2"/>
          <p:cNvSpPr txBox="1"/>
          <p:nvPr/>
        </p:nvSpPr>
        <p:spPr>
          <a:xfrm>
            <a:off x="704088" y="4239056"/>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3</a:t>
            </a:r>
            <a:endParaRPr/>
          </a:p>
        </p:txBody>
      </p:sp>
      <p:sp>
        <p:nvSpPr>
          <p:cNvPr id="128" name="Google Shape;128;p2"/>
          <p:cNvSpPr txBox="1"/>
          <p:nvPr/>
        </p:nvSpPr>
        <p:spPr>
          <a:xfrm>
            <a:off x="1060704" y="4184192"/>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Persist</a:t>
            </a:r>
            <a:endParaRPr/>
          </a:p>
        </p:txBody>
      </p:sp>
      <p:sp>
        <p:nvSpPr>
          <p:cNvPr id="129" name="Google Shape;129;p2"/>
          <p:cNvSpPr txBox="1"/>
          <p:nvPr/>
        </p:nvSpPr>
        <p:spPr>
          <a:xfrm>
            <a:off x="658368" y="4465116"/>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Restore the last committed configuration after a power interruption.</a:t>
            </a:r>
            <a:endParaRPr/>
          </a:p>
        </p:txBody>
      </p:sp>
      <p:sp>
        <p:nvSpPr>
          <p:cNvPr id="130" name="Google Shape;130;p2"/>
          <p:cNvSpPr/>
          <p:nvPr/>
        </p:nvSpPr>
        <p:spPr>
          <a:xfrm>
            <a:off x="502920" y="5120487"/>
            <a:ext cx="3545860" cy="969213"/>
          </a:xfrm>
          <a:prstGeom prst="roundRect">
            <a:avLst>
              <a:gd fmla="val 6604" name="adj"/>
            </a:avLst>
          </a:prstGeom>
          <a:solidFill>
            <a:srgbClr val="EDF3F8"/>
          </a:solidFill>
          <a:ln cap="flat" cmpd="sng" w="9525">
            <a:solidFill>
              <a:srgbClr val="C4D8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2"/>
          <p:cNvSpPr/>
          <p:nvPr/>
        </p:nvSpPr>
        <p:spPr>
          <a:xfrm>
            <a:off x="704088" y="5295137"/>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2"/>
          <p:cNvSpPr txBox="1"/>
          <p:nvPr/>
        </p:nvSpPr>
        <p:spPr>
          <a:xfrm>
            <a:off x="704088" y="5336285"/>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4</a:t>
            </a:r>
            <a:endParaRPr/>
          </a:p>
        </p:txBody>
      </p:sp>
      <p:sp>
        <p:nvSpPr>
          <p:cNvPr id="133" name="Google Shape;133;p2"/>
          <p:cNvSpPr txBox="1"/>
          <p:nvPr/>
        </p:nvSpPr>
        <p:spPr>
          <a:xfrm>
            <a:off x="1060704" y="5281422"/>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Publish</a:t>
            </a:r>
            <a:endParaRPr/>
          </a:p>
        </p:txBody>
      </p:sp>
      <p:sp>
        <p:nvSpPr>
          <p:cNvPr id="134" name="Google Shape;134;p2"/>
          <p:cNvSpPr txBox="1"/>
          <p:nvPr/>
        </p:nvSpPr>
        <p:spPr>
          <a:xfrm>
            <a:off x="658368" y="5562346"/>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Expose the current value and per-channel status through the predefined CAN protocol.</a:t>
            </a:r>
            <a:endParaRPr/>
          </a:p>
        </p:txBody>
      </p:sp>
      <p:sp>
        <p:nvSpPr>
          <p:cNvPr id="135" name="Google Shape;135;p2"/>
          <p:cNvSpPr txBox="1"/>
          <p:nvPr/>
        </p:nvSpPr>
        <p:spPr>
          <a:xfrm>
            <a:off x="4277380" y="1554480"/>
            <a:ext cx="354586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0F3A5F"/>
                </a:solidFill>
                <a:latin typeface="Arial"/>
                <a:ea typeface="Arial"/>
                <a:cs typeface="Arial"/>
                <a:sym typeface="Arial"/>
              </a:rPr>
              <a:t>QUALITY — HOW WELL IT MUST DO IT</a:t>
            </a:r>
            <a:endParaRPr/>
          </a:p>
        </p:txBody>
      </p:sp>
      <p:sp>
        <p:nvSpPr>
          <p:cNvPr id="136" name="Google Shape;136;p2"/>
          <p:cNvSpPr/>
          <p:nvPr/>
        </p:nvSpPr>
        <p:spPr>
          <a:xfrm>
            <a:off x="4323100" y="1828800"/>
            <a:ext cx="3545860" cy="969213"/>
          </a:xfrm>
          <a:prstGeom prst="roundRect">
            <a:avLst>
              <a:gd fmla="val 6604"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2"/>
          <p:cNvSpPr/>
          <p:nvPr/>
        </p:nvSpPr>
        <p:spPr>
          <a:xfrm>
            <a:off x="4524268" y="2003450"/>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2"/>
          <p:cNvSpPr txBox="1"/>
          <p:nvPr/>
        </p:nvSpPr>
        <p:spPr>
          <a:xfrm>
            <a:off x="4524268" y="2044598"/>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1</a:t>
            </a:r>
            <a:endParaRPr/>
          </a:p>
        </p:txBody>
      </p:sp>
      <p:sp>
        <p:nvSpPr>
          <p:cNvPr id="139" name="Google Shape;139;p2"/>
          <p:cNvSpPr txBox="1"/>
          <p:nvPr/>
        </p:nvSpPr>
        <p:spPr>
          <a:xfrm>
            <a:off x="4880884" y="1989734"/>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Deterministic</a:t>
            </a:r>
            <a:endParaRPr/>
          </a:p>
        </p:txBody>
      </p:sp>
      <p:sp>
        <p:nvSpPr>
          <p:cNvPr id="140" name="Google Shape;140;p2"/>
          <p:cNvSpPr txBox="1"/>
          <p:nvPr/>
        </p:nvSpPr>
        <p:spPr>
          <a:xfrm>
            <a:off x="4478548" y="2270658"/>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Bounded, periodic execution. No unbounded wait and no sleep in the acquisition path.</a:t>
            </a:r>
            <a:endParaRPr/>
          </a:p>
        </p:txBody>
      </p:sp>
      <p:sp>
        <p:nvSpPr>
          <p:cNvPr id="141" name="Google Shape;141;p2"/>
          <p:cNvSpPr/>
          <p:nvPr/>
        </p:nvSpPr>
        <p:spPr>
          <a:xfrm>
            <a:off x="4323100" y="2926029"/>
            <a:ext cx="3545860" cy="969213"/>
          </a:xfrm>
          <a:prstGeom prst="roundRect">
            <a:avLst>
              <a:gd fmla="val 6604"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2"/>
          <p:cNvSpPr/>
          <p:nvPr/>
        </p:nvSpPr>
        <p:spPr>
          <a:xfrm>
            <a:off x="4524268" y="3100679"/>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2"/>
          <p:cNvSpPr txBox="1"/>
          <p:nvPr/>
        </p:nvSpPr>
        <p:spPr>
          <a:xfrm>
            <a:off x="4524268" y="3141827"/>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2</a:t>
            </a:r>
            <a:endParaRPr/>
          </a:p>
        </p:txBody>
      </p:sp>
      <p:sp>
        <p:nvSpPr>
          <p:cNvPr id="144" name="Google Shape;144;p2"/>
          <p:cNvSpPr txBox="1"/>
          <p:nvPr/>
        </p:nvSpPr>
        <p:spPr>
          <a:xfrm>
            <a:off x="4880884" y="3086963"/>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Robust</a:t>
            </a:r>
            <a:endParaRPr/>
          </a:p>
        </p:txBody>
      </p:sp>
      <p:sp>
        <p:nvSpPr>
          <p:cNvPr id="145" name="Google Shape;145;p2"/>
          <p:cNvSpPr txBox="1"/>
          <p:nvPr/>
        </p:nvSpPr>
        <p:spPr>
          <a:xfrm>
            <a:off x="4478548" y="3367887"/>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Invalid commands are rejected and the last committed configuration stays in force.</a:t>
            </a:r>
            <a:endParaRPr/>
          </a:p>
        </p:txBody>
      </p:sp>
      <p:sp>
        <p:nvSpPr>
          <p:cNvPr id="146" name="Google Shape;146;p2"/>
          <p:cNvSpPr/>
          <p:nvPr/>
        </p:nvSpPr>
        <p:spPr>
          <a:xfrm>
            <a:off x="4323100" y="4023258"/>
            <a:ext cx="3545860" cy="969213"/>
          </a:xfrm>
          <a:prstGeom prst="roundRect">
            <a:avLst>
              <a:gd fmla="val 6604"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2"/>
          <p:cNvSpPr/>
          <p:nvPr/>
        </p:nvSpPr>
        <p:spPr>
          <a:xfrm>
            <a:off x="4524268" y="4197908"/>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2"/>
          <p:cNvSpPr txBox="1"/>
          <p:nvPr/>
        </p:nvSpPr>
        <p:spPr>
          <a:xfrm>
            <a:off x="4524268" y="4239056"/>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3</a:t>
            </a:r>
            <a:endParaRPr/>
          </a:p>
        </p:txBody>
      </p:sp>
      <p:sp>
        <p:nvSpPr>
          <p:cNvPr id="149" name="Google Shape;149;p2"/>
          <p:cNvSpPr txBox="1"/>
          <p:nvPr/>
        </p:nvSpPr>
        <p:spPr>
          <a:xfrm>
            <a:off x="4880884" y="4184192"/>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Diagnosable</a:t>
            </a:r>
            <a:endParaRPr/>
          </a:p>
        </p:txBody>
      </p:sp>
      <p:sp>
        <p:nvSpPr>
          <p:cNvPr id="150" name="Google Shape;150;p2"/>
          <p:cNvSpPr txBox="1"/>
          <p:nvPr/>
        </p:nvSpPr>
        <p:spPr>
          <a:xfrm>
            <a:off x="4478548" y="4465116"/>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Channel validity, module health, CAN state and reset reason are all observable.</a:t>
            </a:r>
            <a:endParaRPr/>
          </a:p>
        </p:txBody>
      </p:sp>
      <p:sp>
        <p:nvSpPr>
          <p:cNvPr id="151" name="Google Shape;151;p2"/>
          <p:cNvSpPr/>
          <p:nvPr/>
        </p:nvSpPr>
        <p:spPr>
          <a:xfrm>
            <a:off x="4323100" y="5120487"/>
            <a:ext cx="3545860" cy="1147394"/>
          </a:xfrm>
          <a:prstGeom prst="roundRect">
            <a:avLst>
              <a:gd fmla="val 5578"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2"/>
          <p:cNvSpPr/>
          <p:nvPr/>
        </p:nvSpPr>
        <p:spPr>
          <a:xfrm>
            <a:off x="4524268" y="5295137"/>
            <a:ext cx="274320" cy="274320"/>
          </a:xfrm>
          <a:prstGeom prst="roundRect">
            <a:avLst>
              <a:gd fmla="val 50000" name="adj"/>
            </a:avLst>
          </a:prstGeom>
          <a:solidFill>
            <a:srgbClr val="0F3A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2"/>
          <p:cNvSpPr txBox="1"/>
          <p:nvPr/>
        </p:nvSpPr>
        <p:spPr>
          <a:xfrm>
            <a:off x="4524268" y="5336285"/>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4</a:t>
            </a:r>
            <a:endParaRPr/>
          </a:p>
        </p:txBody>
      </p:sp>
      <p:sp>
        <p:nvSpPr>
          <p:cNvPr id="154" name="Google Shape;154;p2"/>
          <p:cNvSpPr txBox="1"/>
          <p:nvPr/>
        </p:nvSpPr>
        <p:spPr>
          <a:xfrm>
            <a:off x="4880884" y="5281422"/>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0F3A5F"/>
                </a:solidFill>
                <a:latin typeface="Arial"/>
                <a:ea typeface="Arial"/>
                <a:cs typeface="Arial"/>
                <a:sym typeface="Arial"/>
              </a:rPr>
              <a:t>Testable</a:t>
            </a:r>
            <a:endParaRPr/>
          </a:p>
        </p:txBody>
      </p:sp>
      <p:sp>
        <p:nvSpPr>
          <p:cNvPr id="155" name="Google Shape;155;p2"/>
          <p:cNvSpPr txBox="1"/>
          <p:nvPr/>
        </p:nvSpPr>
        <p:spPr>
          <a:xfrm>
            <a:off x="4478548" y="5562346"/>
            <a:ext cx="3234964" cy="625982"/>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Services depend on interfaces, so the ADC, CAN, NVM and timer drivers can all be mocked on a host.</a:t>
            </a:r>
            <a:endParaRPr/>
          </a:p>
        </p:txBody>
      </p:sp>
      <p:sp>
        <p:nvSpPr>
          <p:cNvPr id="156" name="Google Shape;156;p2"/>
          <p:cNvSpPr txBox="1"/>
          <p:nvPr/>
        </p:nvSpPr>
        <p:spPr>
          <a:xfrm>
            <a:off x="8097560" y="1554480"/>
            <a:ext cx="354586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KEY DESIGN DECISIONS — MINE</a:t>
            </a:r>
            <a:endParaRPr/>
          </a:p>
        </p:txBody>
      </p:sp>
      <p:sp>
        <p:nvSpPr>
          <p:cNvPr id="157" name="Google Shape;157;p2"/>
          <p:cNvSpPr/>
          <p:nvPr/>
        </p:nvSpPr>
        <p:spPr>
          <a:xfrm>
            <a:off x="8143280" y="1828800"/>
            <a:ext cx="3545860" cy="969213"/>
          </a:xfrm>
          <a:prstGeom prst="roundRect">
            <a:avLst>
              <a:gd fmla="val 6604"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2"/>
          <p:cNvSpPr/>
          <p:nvPr/>
        </p:nvSpPr>
        <p:spPr>
          <a:xfrm>
            <a:off x="8344448" y="2003450"/>
            <a:ext cx="274320" cy="274320"/>
          </a:xfrm>
          <a:prstGeom prst="roundRect">
            <a:avLst>
              <a:gd fmla="val 50000" name="adj"/>
            </a:avLst>
          </a:prstGeom>
          <a:solidFill>
            <a:srgbClr val="E2721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2"/>
          <p:cNvSpPr txBox="1"/>
          <p:nvPr/>
        </p:nvSpPr>
        <p:spPr>
          <a:xfrm>
            <a:off x="8344448" y="2044598"/>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1</a:t>
            </a:r>
            <a:endParaRPr/>
          </a:p>
        </p:txBody>
      </p:sp>
      <p:sp>
        <p:nvSpPr>
          <p:cNvPr id="160" name="Google Shape;160;p2"/>
          <p:cNvSpPr txBox="1"/>
          <p:nvPr/>
        </p:nvSpPr>
        <p:spPr>
          <a:xfrm>
            <a:off x="8701064" y="1989734"/>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E2721C"/>
                </a:solidFill>
                <a:latin typeface="Arial"/>
                <a:ea typeface="Arial"/>
                <a:cs typeface="Arial"/>
                <a:sym typeface="Arial"/>
              </a:rPr>
              <a:t>Bare-metal cyclic executive</a:t>
            </a:r>
            <a:endParaRPr/>
          </a:p>
        </p:txBody>
      </p:sp>
      <p:sp>
        <p:nvSpPr>
          <p:cNvPr id="161" name="Google Shape;161;p2"/>
          <p:cNvSpPr txBox="1"/>
          <p:nvPr/>
        </p:nvSpPr>
        <p:spPr>
          <a:xfrm>
            <a:off x="8298728" y="2270658"/>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Four channels and five short periodic jobs do not justify RTOS scheduling.</a:t>
            </a:r>
            <a:endParaRPr/>
          </a:p>
        </p:txBody>
      </p:sp>
      <p:sp>
        <p:nvSpPr>
          <p:cNvPr id="162" name="Google Shape;162;p2"/>
          <p:cNvSpPr/>
          <p:nvPr/>
        </p:nvSpPr>
        <p:spPr>
          <a:xfrm>
            <a:off x="8143280" y="2926029"/>
            <a:ext cx="3545860" cy="1147394"/>
          </a:xfrm>
          <a:prstGeom prst="roundRect">
            <a:avLst>
              <a:gd fmla="val 5578"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2"/>
          <p:cNvSpPr/>
          <p:nvPr/>
        </p:nvSpPr>
        <p:spPr>
          <a:xfrm>
            <a:off x="8344448" y="3100679"/>
            <a:ext cx="274320" cy="274320"/>
          </a:xfrm>
          <a:prstGeom prst="roundRect">
            <a:avLst>
              <a:gd fmla="val 50000" name="adj"/>
            </a:avLst>
          </a:prstGeom>
          <a:solidFill>
            <a:srgbClr val="E2721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2"/>
          <p:cNvSpPr txBox="1"/>
          <p:nvPr/>
        </p:nvSpPr>
        <p:spPr>
          <a:xfrm>
            <a:off x="8344448" y="3141827"/>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2</a:t>
            </a:r>
            <a:endParaRPr/>
          </a:p>
        </p:txBody>
      </p:sp>
      <p:sp>
        <p:nvSpPr>
          <p:cNvPr id="165" name="Google Shape;165;p2"/>
          <p:cNvSpPr txBox="1"/>
          <p:nvPr/>
        </p:nvSpPr>
        <p:spPr>
          <a:xfrm>
            <a:off x="8701064" y="3086963"/>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E2721C"/>
                </a:solidFill>
                <a:latin typeface="Arial"/>
                <a:ea typeface="Arial"/>
                <a:cs typeface="Arial"/>
                <a:sym typeface="Arial"/>
              </a:rPr>
              <a:t>Interrupts stay short</a:t>
            </a:r>
            <a:endParaRPr/>
          </a:p>
        </p:txBody>
      </p:sp>
      <p:sp>
        <p:nvSpPr>
          <p:cNvPr id="166" name="Google Shape;166;p2"/>
          <p:cNvSpPr txBox="1"/>
          <p:nvPr/>
        </p:nvSpPr>
        <p:spPr>
          <a:xfrm>
            <a:off x="8298728" y="3367887"/>
            <a:ext cx="3234964" cy="625982"/>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The timer ISR only counts; the CAN Rx ISR only queues a frame. All work runs in the main context.</a:t>
            </a:r>
            <a:endParaRPr/>
          </a:p>
        </p:txBody>
      </p:sp>
      <p:sp>
        <p:nvSpPr>
          <p:cNvPr id="167" name="Google Shape;167;p2"/>
          <p:cNvSpPr/>
          <p:nvPr/>
        </p:nvSpPr>
        <p:spPr>
          <a:xfrm>
            <a:off x="8143280" y="4201439"/>
            <a:ext cx="3545860" cy="969213"/>
          </a:xfrm>
          <a:prstGeom prst="roundRect">
            <a:avLst>
              <a:gd fmla="val 6604"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2"/>
          <p:cNvSpPr/>
          <p:nvPr/>
        </p:nvSpPr>
        <p:spPr>
          <a:xfrm>
            <a:off x="8344448" y="4376089"/>
            <a:ext cx="274320" cy="274320"/>
          </a:xfrm>
          <a:prstGeom prst="roundRect">
            <a:avLst>
              <a:gd fmla="val 50000" name="adj"/>
            </a:avLst>
          </a:prstGeom>
          <a:solidFill>
            <a:srgbClr val="E2721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2"/>
          <p:cNvSpPr txBox="1"/>
          <p:nvPr/>
        </p:nvSpPr>
        <p:spPr>
          <a:xfrm>
            <a:off x="8344448" y="4417237"/>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3</a:t>
            </a:r>
            <a:endParaRPr/>
          </a:p>
        </p:txBody>
      </p:sp>
      <p:sp>
        <p:nvSpPr>
          <p:cNvPr id="170" name="Google Shape;170;p2"/>
          <p:cNvSpPr txBox="1"/>
          <p:nvPr/>
        </p:nvSpPr>
        <p:spPr>
          <a:xfrm>
            <a:off x="8701064" y="4362373"/>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E2721C"/>
                </a:solidFill>
                <a:latin typeface="Arial"/>
                <a:ea typeface="Arial"/>
                <a:cs typeface="Arial"/>
                <a:sym typeface="Arial"/>
              </a:rPr>
              <a:t>Fixed conversion profiles</a:t>
            </a:r>
            <a:endParaRPr/>
          </a:p>
        </p:txBody>
      </p:sp>
      <p:sp>
        <p:nvSpPr>
          <p:cNvPr id="171" name="Google Shape;171;p2"/>
          <p:cNvSpPr txBox="1"/>
          <p:nvPr/>
        </p:nvSpPr>
        <p:spPr>
          <a:xfrm>
            <a:off x="8298728" y="4643297"/>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Sensor type selects compile-time conversion logic. No field calibration is exposed.</a:t>
            </a:r>
            <a:endParaRPr/>
          </a:p>
        </p:txBody>
      </p:sp>
      <p:sp>
        <p:nvSpPr>
          <p:cNvPr id="172" name="Google Shape;172;p2"/>
          <p:cNvSpPr/>
          <p:nvPr/>
        </p:nvSpPr>
        <p:spPr>
          <a:xfrm>
            <a:off x="8143280" y="5298668"/>
            <a:ext cx="3545860" cy="969213"/>
          </a:xfrm>
          <a:prstGeom prst="roundRect">
            <a:avLst>
              <a:gd fmla="val 6604"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2"/>
          <p:cNvSpPr/>
          <p:nvPr/>
        </p:nvSpPr>
        <p:spPr>
          <a:xfrm>
            <a:off x="8344448" y="5473318"/>
            <a:ext cx="274320" cy="274320"/>
          </a:xfrm>
          <a:prstGeom prst="roundRect">
            <a:avLst>
              <a:gd fmla="val 50000" name="adj"/>
            </a:avLst>
          </a:prstGeom>
          <a:solidFill>
            <a:srgbClr val="E2721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2"/>
          <p:cNvSpPr txBox="1"/>
          <p:nvPr/>
        </p:nvSpPr>
        <p:spPr>
          <a:xfrm>
            <a:off x="8344448" y="5514466"/>
            <a:ext cx="27432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FFFFFF"/>
                </a:solidFill>
                <a:latin typeface="Arial"/>
                <a:ea typeface="Arial"/>
                <a:cs typeface="Arial"/>
                <a:sym typeface="Arial"/>
              </a:rPr>
              <a:t>4</a:t>
            </a:r>
            <a:endParaRPr/>
          </a:p>
        </p:txBody>
      </p:sp>
      <p:sp>
        <p:nvSpPr>
          <p:cNvPr id="175" name="Google Shape;175;p2"/>
          <p:cNvSpPr txBox="1"/>
          <p:nvPr/>
        </p:nvSpPr>
        <p:spPr>
          <a:xfrm>
            <a:off x="8701064" y="5459602"/>
            <a:ext cx="2832628" cy="3083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400">
                <a:solidFill>
                  <a:srgbClr val="E2721C"/>
                </a:solidFill>
                <a:latin typeface="Arial"/>
                <a:ea typeface="Arial"/>
                <a:cs typeface="Arial"/>
                <a:sym typeface="Arial"/>
              </a:rPr>
              <a:t>Two-copy committed record</a:t>
            </a:r>
            <a:endParaRPr/>
          </a:p>
        </p:txBody>
      </p:sp>
      <p:sp>
        <p:nvSpPr>
          <p:cNvPr id="176" name="Google Shape;176;p2"/>
          <p:cNvSpPr txBox="1"/>
          <p:nvPr/>
        </p:nvSpPr>
        <p:spPr>
          <a:xfrm>
            <a:off x="8298728" y="5740526"/>
            <a:ext cx="3234964"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1C2B36"/>
                </a:solidFill>
                <a:latin typeface="Arial"/>
                <a:ea typeface="Arial"/>
                <a:cs typeface="Arial"/>
                <a:sym typeface="Arial"/>
              </a:rPr>
              <a:t>CRC, sequence number and commit marker make an interrupted NVM write survivable.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02 · SYSTEM CONTEXT</a:t>
            </a:r>
            <a:endParaRPr/>
          </a:p>
        </p:txBody>
      </p:sp>
      <p:sp>
        <p:nvSpPr>
          <p:cNvPr id="183" name="Google Shape;183;p3"/>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One microcontroller, four inputs, one bus</a:t>
            </a:r>
            <a:endParaRPr/>
          </a:p>
        </p:txBody>
      </p:sp>
      <p:sp>
        <p:nvSpPr>
          <p:cNvPr id="184" name="Google Shape;184;p3"/>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The physical boundary of the module, and where the firmware sits inside it.</a:t>
            </a:r>
            <a:endParaRPr/>
          </a:p>
        </p:txBody>
      </p:sp>
      <p:sp>
        <p:nvSpPr>
          <p:cNvPr id="185" name="Google Shape;185;p3"/>
          <p:cNvSpPr/>
          <p:nvPr/>
        </p:nvSpPr>
        <p:spPr>
          <a:xfrm>
            <a:off x="502920" y="2304288"/>
            <a:ext cx="1691640" cy="1481328"/>
          </a:xfrm>
          <a:prstGeom prst="roundRect">
            <a:avLst>
              <a:gd fmla="val 3703" name="adj"/>
            </a:avLst>
          </a:prstGeom>
          <a:solidFill>
            <a:srgbClr val="FDF0E4"/>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3"/>
          <p:cNvSpPr txBox="1"/>
          <p:nvPr/>
        </p:nvSpPr>
        <p:spPr>
          <a:xfrm>
            <a:off x="576072" y="2395728"/>
            <a:ext cx="1545336" cy="43230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00">
                <a:solidFill>
                  <a:srgbClr val="E2721C"/>
                </a:solidFill>
                <a:latin typeface="Arial"/>
                <a:ea typeface="Arial"/>
                <a:cs typeface="Arial"/>
                <a:sym typeface="Arial"/>
              </a:rPr>
              <a:t>4 ANALOGUE</a:t>
            </a:r>
            <a:endParaRPr/>
          </a:p>
          <a:p>
            <a:pPr indent="0" lvl="0" marL="0" marR="0" rtl="0" algn="ctr">
              <a:lnSpc>
                <a:spcPct val="101666"/>
              </a:lnSpc>
              <a:spcBef>
                <a:spcPts val="0"/>
              </a:spcBef>
              <a:spcAft>
                <a:spcPts val="0"/>
              </a:spcAft>
              <a:buNone/>
            </a:pPr>
            <a:r>
              <a:rPr b="1" i="0" lang="en-US" sz="1100">
                <a:solidFill>
                  <a:srgbClr val="E2721C"/>
                </a:solidFill>
                <a:latin typeface="Arial"/>
                <a:ea typeface="Arial"/>
                <a:cs typeface="Arial"/>
                <a:sym typeface="Arial"/>
              </a:rPr>
              <a:t>INPUTS</a:t>
            </a:r>
            <a:endParaRPr/>
          </a:p>
        </p:txBody>
      </p:sp>
      <p:sp>
        <p:nvSpPr>
          <p:cNvPr id="187" name="Google Shape;187;p3"/>
          <p:cNvSpPr txBox="1"/>
          <p:nvPr/>
        </p:nvSpPr>
        <p:spPr>
          <a:xfrm>
            <a:off x="630936" y="2828036"/>
            <a:ext cx="1435608" cy="804672"/>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00">
                <a:solidFill>
                  <a:srgbClr val="8A5626"/>
                </a:solidFill>
                <a:latin typeface="Arial"/>
                <a:ea typeface="Arial"/>
                <a:cs typeface="Arial"/>
                <a:sym typeface="Arial"/>
              </a:rPr>
              <a:t>CH0 – CH3, each set to</a:t>
            </a:r>
            <a:endParaRPr/>
          </a:p>
          <a:p>
            <a:pPr indent="0" lvl="0" marL="0" marR="0" rtl="0" algn="l">
              <a:lnSpc>
                <a:spcPct val="101666"/>
              </a:lnSpc>
              <a:spcBef>
                <a:spcPts val="0"/>
              </a:spcBef>
              <a:spcAft>
                <a:spcPts val="0"/>
              </a:spcAft>
              <a:buNone/>
            </a:pPr>
            <a:r>
              <a:rPr b="0" i="0" lang="en-US" sz="900">
                <a:solidFill>
                  <a:srgbClr val="8A5626"/>
                </a:solidFill>
                <a:latin typeface="Arial"/>
                <a:ea typeface="Arial"/>
                <a:cs typeface="Arial"/>
                <a:sym typeface="Arial"/>
              </a:rPr>
              <a:t>·  temperature</a:t>
            </a:r>
            <a:endParaRPr/>
          </a:p>
          <a:p>
            <a:pPr indent="0" lvl="0" marL="0" marR="0" rtl="0" algn="l">
              <a:lnSpc>
                <a:spcPct val="101666"/>
              </a:lnSpc>
              <a:spcBef>
                <a:spcPts val="0"/>
              </a:spcBef>
              <a:spcAft>
                <a:spcPts val="0"/>
              </a:spcAft>
              <a:buNone/>
            </a:pPr>
            <a:r>
              <a:rPr b="0" i="0" lang="en-US" sz="900">
                <a:solidFill>
                  <a:srgbClr val="8A5626"/>
                </a:solidFill>
                <a:latin typeface="Arial"/>
                <a:ea typeface="Arial"/>
                <a:cs typeface="Arial"/>
                <a:sym typeface="Arial"/>
              </a:rPr>
              <a:t>·  current</a:t>
            </a:r>
            <a:endParaRPr/>
          </a:p>
          <a:p>
            <a:pPr indent="0" lvl="0" marL="0" marR="0" rtl="0" algn="l">
              <a:lnSpc>
                <a:spcPct val="101666"/>
              </a:lnSpc>
              <a:spcBef>
                <a:spcPts val="0"/>
              </a:spcBef>
              <a:spcAft>
                <a:spcPts val="0"/>
              </a:spcAft>
              <a:buNone/>
            </a:pPr>
            <a:r>
              <a:rPr b="0" i="0" lang="en-US" sz="900">
                <a:solidFill>
                  <a:srgbClr val="8A5626"/>
                </a:solidFill>
                <a:latin typeface="Arial"/>
                <a:ea typeface="Arial"/>
                <a:cs typeface="Arial"/>
                <a:sym typeface="Arial"/>
              </a:rPr>
              <a:t>·  voltage</a:t>
            </a:r>
            <a:endParaRPr/>
          </a:p>
          <a:p>
            <a:pPr indent="0" lvl="0" marL="0" marR="0" rtl="0" algn="l">
              <a:lnSpc>
                <a:spcPct val="101666"/>
              </a:lnSpc>
              <a:spcBef>
                <a:spcPts val="0"/>
              </a:spcBef>
              <a:spcAft>
                <a:spcPts val="0"/>
              </a:spcAft>
              <a:buNone/>
            </a:pPr>
            <a:r>
              <a:rPr b="0" i="0" lang="en-US" sz="900">
                <a:solidFill>
                  <a:srgbClr val="8A5626"/>
                </a:solidFill>
                <a:latin typeface="Arial"/>
                <a:ea typeface="Arial"/>
                <a:cs typeface="Arial"/>
                <a:sym typeface="Arial"/>
              </a:rPr>
              <a:t>·  disabled</a:t>
            </a:r>
            <a:endParaRPr/>
          </a:p>
        </p:txBody>
      </p:sp>
      <p:sp>
        <p:nvSpPr>
          <p:cNvPr id="188" name="Google Shape;188;p3"/>
          <p:cNvSpPr/>
          <p:nvPr/>
        </p:nvSpPr>
        <p:spPr>
          <a:xfrm>
            <a:off x="10378440" y="2395728"/>
            <a:ext cx="1307592" cy="1316736"/>
          </a:xfrm>
          <a:prstGeom prst="roundRect">
            <a:avLst>
              <a:gd fmla="val 4195" name="adj"/>
            </a:avLst>
          </a:prstGeom>
          <a:solidFill>
            <a:srgbClr val="EDF3F8"/>
          </a:solidFill>
          <a:ln cap="flat" cmpd="sng" w="19050">
            <a:solidFill>
              <a:srgbClr val="0F3A5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3"/>
          <p:cNvSpPr txBox="1"/>
          <p:nvPr/>
        </p:nvSpPr>
        <p:spPr>
          <a:xfrm>
            <a:off x="10451592" y="2395728"/>
            <a:ext cx="1161288" cy="1316736"/>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1100">
                <a:solidFill>
                  <a:srgbClr val="0F3A5F"/>
                </a:solidFill>
                <a:latin typeface="Arial"/>
                <a:ea typeface="Arial"/>
                <a:cs typeface="Arial"/>
                <a:sym typeface="Arial"/>
              </a:rPr>
              <a:t>FUEL-CELL</a:t>
            </a:r>
            <a:endParaRPr/>
          </a:p>
          <a:p>
            <a:pPr indent="0" lvl="0" marL="0" marR="0" rtl="0" algn="ctr">
              <a:lnSpc>
                <a:spcPct val="101666"/>
              </a:lnSpc>
              <a:spcBef>
                <a:spcPts val="0"/>
              </a:spcBef>
              <a:spcAft>
                <a:spcPts val="0"/>
              </a:spcAft>
              <a:buNone/>
            </a:pPr>
            <a:r>
              <a:rPr b="1" i="0" lang="en-US" sz="1100">
                <a:solidFill>
                  <a:srgbClr val="0F3A5F"/>
                </a:solidFill>
                <a:latin typeface="Arial"/>
                <a:ea typeface="Arial"/>
                <a:cs typeface="Arial"/>
                <a:sym typeface="Arial"/>
              </a:rPr>
              <a:t>SYSTEM</a:t>
            </a:r>
            <a:endParaRPr/>
          </a:p>
          <a:p>
            <a:pPr indent="0" lvl="0" marL="0" marR="0" rtl="0" algn="ctr">
              <a:lnSpc>
                <a:spcPct val="101666"/>
              </a:lnSpc>
              <a:spcBef>
                <a:spcPts val="0"/>
              </a:spcBef>
              <a:spcAft>
                <a:spcPts val="0"/>
              </a:spcAft>
              <a:buNone/>
            </a:pPr>
            <a:r>
              <a:rPr b="1" i="0" lang="en-US" sz="1100">
                <a:solidFill>
                  <a:srgbClr val="0F3A5F"/>
                </a:solidFill>
                <a:latin typeface="Arial"/>
                <a:ea typeface="Arial"/>
                <a:cs typeface="Arial"/>
                <a:sym typeface="Arial"/>
              </a:rPr>
              <a:t>CONTROLLER</a:t>
            </a:r>
            <a:endParaRPr/>
          </a:p>
        </p:txBody>
      </p:sp>
      <p:sp>
        <p:nvSpPr>
          <p:cNvPr id="190" name="Google Shape;190;p3"/>
          <p:cNvSpPr/>
          <p:nvPr/>
        </p:nvSpPr>
        <p:spPr>
          <a:xfrm>
            <a:off x="2286000" y="1783080"/>
            <a:ext cx="7818120" cy="2834640"/>
          </a:xfrm>
          <a:prstGeom prst="rect">
            <a:avLst/>
          </a:prstGeom>
          <a:noFill/>
          <a:ln cap="flat" cmpd="sng" w="19050">
            <a:solidFill>
              <a:srgbClr val="2E75B6"/>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3"/>
          <p:cNvSpPr/>
          <p:nvPr/>
        </p:nvSpPr>
        <p:spPr>
          <a:xfrm>
            <a:off x="2487168" y="1687068"/>
            <a:ext cx="1408842" cy="1920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3"/>
          <p:cNvSpPr txBox="1"/>
          <p:nvPr/>
        </p:nvSpPr>
        <p:spPr>
          <a:xfrm>
            <a:off x="2487168" y="1687068"/>
            <a:ext cx="1408842" cy="192024"/>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2E75B6"/>
                </a:solidFill>
                <a:latin typeface="Arial"/>
                <a:ea typeface="Arial"/>
                <a:cs typeface="Arial"/>
                <a:sym typeface="Arial"/>
              </a:rPr>
              <a:t>EXPANSION MODULE</a:t>
            </a:r>
            <a:endParaRPr/>
          </a:p>
        </p:txBody>
      </p:sp>
      <p:sp>
        <p:nvSpPr>
          <p:cNvPr id="193" name="Google Shape;193;p3"/>
          <p:cNvSpPr/>
          <p:nvPr/>
        </p:nvSpPr>
        <p:spPr>
          <a:xfrm>
            <a:off x="2450592" y="2304288"/>
            <a:ext cx="1325880" cy="1481328"/>
          </a:xfrm>
          <a:prstGeom prst="roundRect">
            <a:avLst>
              <a:gd fmla="val 4137" name="adj"/>
            </a:avLst>
          </a:prstGeom>
          <a:solidFill>
            <a:srgbClr val="FFFFFF"/>
          </a:solidFill>
          <a:ln cap="flat" cmpd="sng" w="19050">
            <a:solidFill>
              <a:srgbClr val="5B6B7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3"/>
          <p:cNvSpPr txBox="1"/>
          <p:nvPr/>
        </p:nvSpPr>
        <p:spPr>
          <a:xfrm>
            <a:off x="2523744" y="2395728"/>
            <a:ext cx="1179576" cy="416814"/>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5B6B77"/>
                </a:solidFill>
                <a:latin typeface="Arial"/>
                <a:ea typeface="Arial"/>
                <a:cs typeface="Arial"/>
                <a:sym typeface="Arial"/>
              </a:rPr>
              <a:t>SIGNAL</a:t>
            </a:r>
            <a:endParaRPr/>
          </a:p>
          <a:p>
            <a:pPr indent="0" lvl="0" marL="0" marR="0" rtl="0" algn="ctr">
              <a:lnSpc>
                <a:spcPct val="101666"/>
              </a:lnSpc>
              <a:spcBef>
                <a:spcPts val="0"/>
              </a:spcBef>
              <a:spcAft>
                <a:spcPts val="0"/>
              </a:spcAft>
              <a:buNone/>
            </a:pPr>
            <a:r>
              <a:rPr b="1" i="0" lang="en-US" sz="1050">
                <a:solidFill>
                  <a:srgbClr val="5B6B77"/>
                </a:solidFill>
                <a:latin typeface="Arial"/>
                <a:ea typeface="Arial"/>
                <a:cs typeface="Arial"/>
                <a:sym typeface="Arial"/>
              </a:rPr>
              <a:t>CONDITIONING</a:t>
            </a:r>
            <a:endParaRPr/>
          </a:p>
        </p:txBody>
      </p:sp>
      <p:sp>
        <p:nvSpPr>
          <p:cNvPr id="195" name="Google Shape;195;p3"/>
          <p:cNvSpPr txBox="1"/>
          <p:nvPr/>
        </p:nvSpPr>
        <p:spPr>
          <a:xfrm>
            <a:off x="2542032" y="2794254"/>
            <a:ext cx="1161288" cy="86868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800">
                <a:solidFill>
                  <a:srgbClr val="5B6B77"/>
                </a:solidFill>
                <a:latin typeface="Arial"/>
                <a:ea typeface="Arial"/>
                <a:cs typeface="Arial"/>
                <a:sym typeface="Arial"/>
              </a:rPr>
              <a:t>·  divider / shunt amp</a:t>
            </a:r>
            <a:endParaRPr/>
          </a:p>
          <a:p>
            <a:pPr indent="0" lvl="0" marL="0" marR="0" rtl="0" algn="l">
              <a:lnSpc>
                <a:spcPct val="101666"/>
              </a:lnSpc>
              <a:spcBef>
                <a:spcPts val="0"/>
              </a:spcBef>
              <a:spcAft>
                <a:spcPts val="0"/>
              </a:spcAft>
              <a:buNone/>
            </a:pPr>
            <a:r>
              <a:rPr b="0" i="0" lang="en-US" sz="800">
                <a:solidFill>
                  <a:srgbClr val="5B6B77"/>
                </a:solidFill>
                <a:latin typeface="Arial"/>
                <a:ea typeface="Arial"/>
                <a:cs typeface="Arial"/>
                <a:sym typeface="Arial"/>
              </a:rPr>
              <a:t>·  RTD front end</a:t>
            </a:r>
            <a:endParaRPr/>
          </a:p>
          <a:p>
            <a:pPr indent="0" lvl="0" marL="0" marR="0" rtl="0" algn="l">
              <a:lnSpc>
                <a:spcPct val="101666"/>
              </a:lnSpc>
              <a:spcBef>
                <a:spcPts val="0"/>
              </a:spcBef>
              <a:spcAft>
                <a:spcPts val="0"/>
              </a:spcAft>
              <a:buNone/>
            </a:pPr>
            <a:r>
              <a:rPr b="0" i="0" lang="en-US" sz="800">
                <a:solidFill>
                  <a:srgbClr val="5B6B77"/>
                </a:solidFill>
                <a:latin typeface="Arial"/>
                <a:ea typeface="Arial"/>
                <a:cs typeface="Arial"/>
                <a:sym typeface="Arial"/>
              </a:rPr>
              <a:t>·  anti-alias filter</a:t>
            </a:r>
            <a:endParaRPr/>
          </a:p>
          <a:p>
            <a:pPr indent="0" lvl="0" marL="0" marR="0" rtl="0" algn="l">
              <a:lnSpc>
                <a:spcPct val="101666"/>
              </a:lnSpc>
              <a:spcBef>
                <a:spcPts val="0"/>
              </a:spcBef>
              <a:spcAft>
                <a:spcPts val="0"/>
              </a:spcAft>
              <a:buNone/>
            </a:pPr>
            <a:r>
              <a:rPr b="0" i="0" lang="en-US" sz="800">
                <a:solidFill>
                  <a:srgbClr val="5B6B77"/>
                </a:solidFill>
                <a:latin typeface="Arial"/>
                <a:ea typeface="Arial"/>
                <a:cs typeface="Arial"/>
                <a:sym typeface="Arial"/>
              </a:rPr>
              <a:t>·  over-voltage clamp</a:t>
            </a:r>
            <a:endParaRPr/>
          </a:p>
          <a:p>
            <a:pPr indent="0" lvl="0" marL="0" marR="0" rtl="0" algn="l">
              <a:lnSpc>
                <a:spcPct val="101666"/>
              </a:lnSpc>
              <a:spcBef>
                <a:spcPts val="0"/>
              </a:spcBef>
              <a:spcAft>
                <a:spcPts val="0"/>
              </a:spcAft>
              <a:buNone/>
            </a:pPr>
            <a:r>
              <a:rPr b="0" i="0" lang="en-US" sz="800">
                <a:solidFill>
                  <a:srgbClr val="5B6B77"/>
                </a:solidFill>
                <a:latin typeface="Arial"/>
                <a:ea typeface="Arial"/>
                <a:cs typeface="Arial"/>
                <a:sym typeface="Arial"/>
              </a:rPr>
              <a:t>·  scaled to 0 – 3.3 V *</a:t>
            </a:r>
            <a:endParaRPr/>
          </a:p>
        </p:txBody>
      </p:sp>
      <p:sp>
        <p:nvSpPr>
          <p:cNvPr id="196" name="Google Shape;196;p3"/>
          <p:cNvSpPr/>
          <p:nvPr/>
        </p:nvSpPr>
        <p:spPr>
          <a:xfrm>
            <a:off x="4041648" y="1993392"/>
            <a:ext cx="4526280" cy="2395728"/>
          </a:xfrm>
          <a:prstGeom prst="roundRect">
            <a:avLst>
              <a:gd fmla="val 2671" name="adj"/>
            </a:avLst>
          </a:prstGeom>
          <a:solidFill>
            <a:srgbClr val="F5F8FA"/>
          </a:solidFill>
          <a:ln cap="flat" cmpd="sng" w="12700">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3"/>
          <p:cNvSpPr txBox="1"/>
          <p:nvPr/>
        </p:nvSpPr>
        <p:spPr>
          <a:xfrm>
            <a:off x="4142232" y="2066543"/>
            <a:ext cx="274320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0F3A5F"/>
                </a:solidFill>
                <a:latin typeface="Arial"/>
                <a:ea typeface="Arial"/>
                <a:cs typeface="Arial"/>
                <a:sym typeface="Arial"/>
              </a:rPr>
              <a:t>MICROCONTROLLER</a:t>
            </a:r>
            <a:endParaRPr/>
          </a:p>
        </p:txBody>
      </p:sp>
      <p:sp>
        <p:nvSpPr>
          <p:cNvPr id="198" name="Google Shape;198;p3"/>
          <p:cNvSpPr/>
          <p:nvPr/>
        </p:nvSpPr>
        <p:spPr>
          <a:xfrm>
            <a:off x="4187952" y="2377440"/>
            <a:ext cx="1051560" cy="868680"/>
          </a:xfrm>
          <a:prstGeom prst="roundRect">
            <a:avLst>
              <a:gd fmla="val 6315"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3"/>
          <p:cNvSpPr txBox="1"/>
          <p:nvPr/>
        </p:nvSpPr>
        <p:spPr>
          <a:xfrm>
            <a:off x="4261104" y="2458339"/>
            <a:ext cx="905255" cy="261874"/>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00">
                <a:solidFill>
                  <a:srgbClr val="E2721C"/>
                </a:solidFill>
                <a:latin typeface="Arial"/>
                <a:ea typeface="Arial"/>
                <a:cs typeface="Arial"/>
                <a:sym typeface="Arial"/>
              </a:rPr>
              <a:t>ADC</a:t>
            </a:r>
            <a:endParaRPr/>
          </a:p>
        </p:txBody>
      </p:sp>
      <p:sp>
        <p:nvSpPr>
          <p:cNvPr id="200" name="Google Shape;200;p3"/>
          <p:cNvSpPr txBox="1"/>
          <p:nvPr/>
        </p:nvSpPr>
        <p:spPr>
          <a:xfrm>
            <a:off x="4261104" y="2701925"/>
            <a:ext cx="905255" cy="46329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4 channels</a:t>
            </a:r>
            <a:endParaRPr/>
          </a:p>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scan mode</a:t>
            </a:r>
            <a:endParaRPr/>
          </a:p>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12-bit *</a:t>
            </a:r>
            <a:endParaRPr/>
          </a:p>
        </p:txBody>
      </p:sp>
      <p:sp>
        <p:nvSpPr>
          <p:cNvPr id="201" name="Google Shape;201;p3"/>
          <p:cNvSpPr/>
          <p:nvPr/>
        </p:nvSpPr>
        <p:spPr>
          <a:xfrm>
            <a:off x="4187952" y="3401568"/>
            <a:ext cx="1051560" cy="868680"/>
          </a:xfrm>
          <a:prstGeom prst="roundRect">
            <a:avLst>
              <a:gd fmla="val 6315"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3"/>
          <p:cNvSpPr txBox="1"/>
          <p:nvPr/>
        </p:nvSpPr>
        <p:spPr>
          <a:xfrm>
            <a:off x="4261104" y="3474720"/>
            <a:ext cx="905255" cy="401320"/>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00">
                <a:solidFill>
                  <a:srgbClr val="2E75B6"/>
                </a:solidFill>
                <a:latin typeface="Arial"/>
                <a:ea typeface="Arial"/>
                <a:cs typeface="Arial"/>
                <a:sym typeface="Arial"/>
              </a:rPr>
              <a:t>FLASH /</a:t>
            </a:r>
            <a:endParaRPr/>
          </a:p>
          <a:p>
            <a:pPr indent="0" lvl="0" marL="0" marR="0" rtl="0" algn="ctr">
              <a:lnSpc>
                <a:spcPct val="101666"/>
              </a:lnSpc>
              <a:spcBef>
                <a:spcPts val="0"/>
              </a:spcBef>
              <a:spcAft>
                <a:spcPts val="0"/>
              </a:spcAft>
              <a:buNone/>
            </a:pPr>
            <a:r>
              <a:rPr b="1" i="0" lang="en-US" sz="1000">
                <a:solidFill>
                  <a:srgbClr val="2E75B6"/>
                </a:solidFill>
                <a:latin typeface="Arial"/>
                <a:ea typeface="Arial"/>
                <a:cs typeface="Arial"/>
                <a:sym typeface="Arial"/>
              </a:rPr>
              <a:t>EEPROM</a:t>
            </a:r>
            <a:endParaRPr/>
          </a:p>
        </p:txBody>
      </p:sp>
      <p:sp>
        <p:nvSpPr>
          <p:cNvPr id="203" name="Google Shape;203;p3"/>
          <p:cNvSpPr txBox="1"/>
          <p:nvPr/>
        </p:nvSpPr>
        <p:spPr>
          <a:xfrm>
            <a:off x="4261104" y="3857752"/>
            <a:ext cx="905255" cy="33934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configuration</a:t>
            </a:r>
            <a:endParaRPr/>
          </a:p>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record (NVM)</a:t>
            </a:r>
            <a:endParaRPr/>
          </a:p>
        </p:txBody>
      </p:sp>
      <p:sp>
        <p:nvSpPr>
          <p:cNvPr id="204" name="Google Shape;204;p3"/>
          <p:cNvSpPr/>
          <p:nvPr/>
        </p:nvSpPr>
        <p:spPr>
          <a:xfrm>
            <a:off x="5440680" y="2377440"/>
            <a:ext cx="1691640" cy="1892807"/>
          </a:xfrm>
          <a:prstGeom prst="roundRect">
            <a:avLst>
              <a:gd fmla="val 3243"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3"/>
          <p:cNvSpPr txBox="1"/>
          <p:nvPr/>
        </p:nvSpPr>
        <p:spPr>
          <a:xfrm>
            <a:off x="5513832" y="2468880"/>
            <a:ext cx="1545336" cy="43230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00">
                <a:solidFill>
                  <a:srgbClr val="13657F"/>
                </a:solidFill>
                <a:latin typeface="Arial"/>
                <a:ea typeface="Arial"/>
                <a:cs typeface="Arial"/>
                <a:sym typeface="Arial"/>
              </a:rPr>
              <a:t>APPLICATION</a:t>
            </a:r>
            <a:endParaRPr/>
          </a:p>
          <a:p>
            <a:pPr indent="0" lvl="0" marL="0" marR="0" rtl="0" algn="ctr">
              <a:lnSpc>
                <a:spcPct val="101666"/>
              </a:lnSpc>
              <a:spcBef>
                <a:spcPts val="0"/>
              </a:spcBef>
              <a:spcAft>
                <a:spcPts val="0"/>
              </a:spcAft>
              <a:buNone/>
            </a:pPr>
            <a:r>
              <a:rPr b="1" i="0" lang="en-US" sz="1100">
                <a:solidFill>
                  <a:srgbClr val="13657F"/>
                </a:solidFill>
                <a:latin typeface="Arial"/>
                <a:ea typeface="Arial"/>
                <a:cs typeface="Arial"/>
                <a:sym typeface="Arial"/>
              </a:rPr>
              <a:t>FIRMWARE</a:t>
            </a:r>
            <a:endParaRPr/>
          </a:p>
        </p:txBody>
      </p:sp>
      <p:sp>
        <p:nvSpPr>
          <p:cNvPr id="206" name="Google Shape;206;p3"/>
          <p:cNvSpPr txBox="1"/>
          <p:nvPr/>
        </p:nvSpPr>
        <p:spPr>
          <a:xfrm>
            <a:off x="5541264" y="2919476"/>
            <a:ext cx="1490472" cy="118872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Measurement Manager</a:t>
            </a:r>
            <a:endParaRPr/>
          </a:p>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Sensor Converter</a:t>
            </a:r>
            <a:endParaRPr/>
          </a:p>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Configuration Manager</a:t>
            </a:r>
            <a:endParaRPr/>
          </a:p>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CAN Protocol Manager</a:t>
            </a:r>
            <a:endParaRPr/>
          </a:p>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NVM Manager</a:t>
            </a:r>
            <a:endParaRPr/>
          </a:p>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Diagnostics Manager</a:t>
            </a:r>
            <a:endParaRPr/>
          </a:p>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Cyclic Scheduler</a:t>
            </a:r>
            <a:endParaRPr/>
          </a:p>
          <a:p>
            <a:pPr indent="0" lvl="0" marL="0" marR="0" rtl="0" algn="l">
              <a:lnSpc>
                <a:spcPct val="101666"/>
              </a:lnSpc>
              <a:spcBef>
                <a:spcPts val="0"/>
              </a:spcBef>
              <a:spcAft>
                <a:spcPts val="0"/>
              </a:spcAft>
              <a:buNone/>
            </a:pPr>
            <a:r>
              <a:rPr b="0" i="0" lang="en-US" sz="800">
                <a:solidFill>
                  <a:srgbClr val="1C2B36"/>
                </a:solidFill>
                <a:latin typeface="Arial"/>
                <a:ea typeface="Arial"/>
                <a:cs typeface="Arial"/>
                <a:sym typeface="Arial"/>
              </a:rPr>
              <a:t>·  State Machine</a:t>
            </a:r>
            <a:endParaRPr/>
          </a:p>
        </p:txBody>
      </p:sp>
      <p:sp>
        <p:nvSpPr>
          <p:cNvPr id="207" name="Google Shape;207;p3"/>
          <p:cNvSpPr/>
          <p:nvPr/>
        </p:nvSpPr>
        <p:spPr>
          <a:xfrm>
            <a:off x="7333488" y="2377440"/>
            <a:ext cx="1078992" cy="868680"/>
          </a:xfrm>
          <a:prstGeom prst="roundRect">
            <a:avLst>
              <a:gd fmla="val 6315"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3"/>
          <p:cNvSpPr txBox="1"/>
          <p:nvPr/>
        </p:nvSpPr>
        <p:spPr>
          <a:xfrm>
            <a:off x="7406640" y="2388616"/>
            <a:ext cx="932688" cy="401320"/>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00">
                <a:solidFill>
                  <a:srgbClr val="2E75B6"/>
                </a:solidFill>
                <a:latin typeface="Arial"/>
                <a:ea typeface="Arial"/>
                <a:cs typeface="Arial"/>
                <a:sym typeface="Arial"/>
              </a:rPr>
              <a:t>CAN</a:t>
            </a:r>
            <a:endParaRPr/>
          </a:p>
          <a:p>
            <a:pPr indent="0" lvl="0" marL="0" marR="0" rtl="0" algn="ctr">
              <a:lnSpc>
                <a:spcPct val="101666"/>
              </a:lnSpc>
              <a:spcBef>
                <a:spcPts val="0"/>
              </a:spcBef>
              <a:spcAft>
                <a:spcPts val="0"/>
              </a:spcAft>
              <a:buNone/>
            </a:pPr>
            <a:r>
              <a:rPr b="1" i="0" lang="en-US" sz="1000">
                <a:solidFill>
                  <a:srgbClr val="2E75B6"/>
                </a:solidFill>
                <a:latin typeface="Arial"/>
                <a:ea typeface="Arial"/>
                <a:cs typeface="Arial"/>
                <a:sym typeface="Arial"/>
              </a:rPr>
              <a:t>controller</a:t>
            </a:r>
            <a:endParaRPr/>
          </a:p>
        </p:txBody>
      </p:sp>
      <p:sp>
        <p:nvSpPr>
          <p:cNvPr id="209" name="Google Shape;209;p3"/>
          <p:cNvSpPr txBox="1"/>
          <p:nvPr/>
        </p:nvSpPr>
        <p:spPr>
          <a:xfrm>
            <a:off x="7406640" y="2771648"/>
            <a:ext cx="932688" cy="46329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mailboxes</a:t>
            </a:r>
            <a:endParaRPr/>
          </a:p>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filters</a:t>
            </a:r>
            <a:endParaRPr/>
          </a:p>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error state</a:t>
            </a:r>
            <a:endParaRPr/>
          </a:p>
        </p:txBody>
      </p:sp>
      <p:sp>
        <p:nvSpPr>
          <p:cNvPr id="210" name="Google Shape;210;p3"/>
          <p:cNvSpPr/>
          <p:nvPr/>
        </p:nvSpPr>
        <p:spPr>
          <a:xfrm>
            <a:off x="7333488" y="3401568"/>
            <a:ext cx="1078992" cy="868680"/>
          </a:xfrm>
          <a:prstGeom prst="roundRect">
            <a:avLst>
              <a:gd fmla="val 6315" name="adj"/>
            </a:avLst>
          </a:prstGeom>
          <a:solidFill>
            <a:srgbClr val="FFFFFF"/>
          </a:solidFill>
          <a:ln cap="flat" cmpd="sng" w="19050">
            <a:solidFill>
              <a:srgbClr val="2E7D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3"/>
          <p:cNvSpPr txBox="1"/>
          <p:nvPr/>
        </p:nvSpPr>
        <p:spPr>
          <a:xfrm>
            <a:off x="7406640" y="3474720"/>
            <a:ext cx="932688" cy="401320"/>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00">
                <a:solidFill>
                  <a:srgbClr val="2E7D5B"/>
                </a:solidFill>
                <a:latin typeface="Arial"/>
                <a:ea typeface="Arial"/>
                <a:cs typeface="Arial"/>
                <a:sym typeface="Arial"/>
              </a:rPr>
              <a:t>TIMER +</a:t>
            </a:r>
            <a:endParaRPr/>
          </a:p>
          <a:p>
            <a:pPr indent="0" lvl="0" marL="0" marR="0" rtl="0" algn="ctr">
              <a:lnSpc>
                <a:spcPct val="101666"/>
              </a:lnSpc>
              <a:spcBef>
                <a:spcPts val="0"/>
              </a:spcBef>
              <a:spcAft>
                <a:spcPts val="0"/>
              </a:spcAft>
              <a:buNone/>
            </a:pPr>
            <a:r>
              <a:rPr b="1" i="0" lang="en-US" sz="1000">
                <a:solidFill>
                  <a:srgbClr val="2E7D5B"/>
                </a:solidFill>
                <a:latin typeface="Arial"/>
                <a:ea typeface="Arial"/>
                <a:cs typeface="Arial"/>
                <a:sym typeface="Arial"/>
              </a:rPr>
              <a:t>WDG</a:t>
            </a:r>
            <a:endParaRPr/>
          </a:p>
        </p:txBody>
      </p:sp>
      <p:sp>
        <p:nvSpPr>
          <p:cNvPr id="212" name="Google Shape;212;p3"/>
          <p:cNvSpPr txBox="1"/>
          <p:nvPr/>
        </p:nvSpPr>
        <p:spPr>
          <a:xfrm>
            <a:off x="7406640" y="3857752"/>
            <a:ext cx="932688" cy="33934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1 ms tick *</a:t>
            </a:r>
            <a:endParaRPr/>
          </a:p>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reset on stall</a:t>
            </a:r>
            <a:endParaRPr/>
          </a:p>
        </p:txBody>
      </p:sp>
      <p:sp>
        <p:nvSpPr>
          <p:cNvPr id="213" name="Google Shape;213;p3"/>
          <p:cNvSpPr/>
          <p:nvPr/>
        </p:nvSpPr>
        <p:spPr>
          <a:xfrm>
            <a:off x="8631936" y="2606040"/>
            <a:ext cx="1152144" cy="914400"/>
          </a:xfrm>
          <a:prstGeom prst="roundRect">
            <a:avLst>
              <a:gd fmla="val 6000"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3"/>
          <p:cNvSpPr txBox="1"/>
          <p:nvPr/>
        </p:nvSpPr>
        <p:spPr>
          <a:xfrm>
            <a:off x="8705088" y="2717546"/>
            <a:ext cx="1005840"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2E75B6"/>
                </a:solidFill>
                <a:latin typeface="Arial"/>
                <a:ea typeface="Arial"/>
                <a:cs typeface="Arial"/>
                <a:sym typeface="Arial"/>
              </a:rPr>
              <a:t>CAN</a:t>
            </a:r>
            <a:endParaRPr/>
          </a:p>
          <a:p>
            <a:pPr indent="0" lvl="0" marL="0" marR="0" rtl="0" algn="ctr">
              <a:lnSpc>
                <a:spcPct val="101666"/>
              </a:lnSpc>
              <a:spcBef>
                <a:spcPts val="0"/>
              </a:spcBef>
              <a:spcAft>
                <a:spcPts val="0"/>
              </a:spcAft>
              <a:buNone/>
            </a:pPr>
            <a:r>
              <a:rPr b="1" i="0" lang="en-US" sz="900">
                <a:solidFill>
                  <a:srgbClr val="2E75B6"/>
                </a:solidFill>
                <a:latin typeface="Arial"/>
                <a:ea typeface="Arial"/>
                <a:cs typeface="Arial"/>
                <a:sym typeface="Arial"/>
              </a:rPr>
              <a:t>TRANSCEIVER</a:t>
            </a:r>
            <a:endParaRPr/>
          </a:p>
        </p:txBody>
      </p:sp>
      <p:sp>
        <p:nvSpPr>
          <p:cNvPr id="215" name="Google Shape;215;p3"/>
          <p:cNvSpPr txBox="1"/>
          <p:nvPr/>
        </p:nvSpPr>
        <p:spPr>
          <a:xfrm>
            <a:off x="8705088" y="3069590"/>
            <a:ext cx="1005840" cy="33934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differential</a:t>
            </a:r>
            <a:endParaRPr/>
          </a:p>
          <a:p>
            <a:pPr indent="0" lvl="0" marL="0" marR="0" rtl="0" algn="ctr">
              <a:lnSpc>
                <a:spcPct val="101666"/>
              </a:lnSpc>
              <a:spcBef>
                <a:spcPts val="0"/>
              </a:spcBef>
              <a:spcAft>
                <a:spcPts val="0"/>
              </a:spcAft>
              <a:buNone/>
            </a:pPr>
            <a:r>
              <a:rPr b="0" i="0" lang="en-US" sz="800">
                <a:solidFill>
                  <a:srgbClr val="5B6B77"/>
                </a:solidFill>
                <a:latin typeface="Arial"/>
                <a:ea typeface="Arial"/>
                <a:cs typeface="Arial"/>
                <a:sym typeface="Arial"/>
              </a:rPr>
              <a:t>physical layer</a:t>
            </a:r>
            <a:endParaRPr/>
          </a:p>
        </p:txBody>
      </p:sp>
      <p:cxnSp>
        <p:nvCxnSpPr>
          <p:cNvPr id="216" name="Google Shape;216;p3"/>
          <p:cNvCxnSpPr/>
          <p:nvPr/>
        </p:nvCxnSpPr>
        <p:spPr>
          <a:xfrm>
            <a:off x="2194560" y="3044952"/>
            <a:ext cx="210312"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17" name="Google Shape;217;p3"/>
          <p:cNvCxnSpPr/>
          <p:nvPr/>
        </p:nvCxnSpPr>
        <p:spPr>
          <a:xfrm>
            <a:off x="3822191" y="3044952"/>
            <a:ext cx="173737"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18" name="Google Shape;218;p3"/>
          <p:cNvCxnSpPr/>
          <p:nvPr/>
        </p:nvCxnSpPr>
        <p:spPr>
          <a:xfrm>
            <a:off x="5285232" y="2807208"/>
            <a:ext cx="109728"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19" name="Google Shape;219;p3"/>
          <p:cNvCxnSpPr/>
          <p:nvPr/>
        </p:nvCxnSpPr>
        <p:spPr>
          <a:xfrm>
            <a:off x="5285232" y="3831336"/>
            <a:ext cx="109728"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20" name="Google Shape;220;p3"/>
          <p:cNvCxnSpPr/>
          <p:nvPr/>
        </p:nvCxnSpPr>
        <p:spPr>
          <a:xfrm>
            <a:off x="7178040" y="2807208"/>
            <a:ext cx="109728"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21" name="Google Shape;221;p3"/>
          <p:cNvCxnSpPr/>
          <p:nvPr/>
        </p:nvCxnSpPr>
        <p:spPr>
          <a:xfrm>
            <a:off x="7178040" y="3831336"/>
            <a:ext cx="109728"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22" name="Google Shape;222;p3"/>
          <p:cNvCxnSpPr/>
          <p:nvPr/>
        </p:nvCxnSpPr>
        <p:spPr>
          <a:xfrm>
            <a:off x="8458200" y="3063240"/>
            <a:ext cx="128016"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23" name="Google Shape;223;p3"/>
          <p:cNvCxnSpPr/>
          <p:nvPr/>
        </p:nvCxnSpPr>
        <p:spPr>
          <a:xfrm>
            <a:off x="9838944" y="3063240"/>
            <a:ext cx="493776" cy="0"/>
          </a:xfrm>
          <a:prstGeom prst="straightConnector1">
            <a:avLst/>
          </a:prstGeom>
          <a:noFill/>
          <a:ln cap="flat" cmpd="sng" w="22225">
            <a:solidFill>
              <a:srgbClr val="2E75B6"/>
            </a:solidFill>
            <a:prstDash val="solid"/>
            <a:round/>
            <a:headEnd len="sm" w="sm" type="none"/>
            <a:tailEnd len="med" w="med" type="triangle"/>
          </a:ln>
          <a:effectLst>
            <a:outerShdw blurRad="40000" rotWithShape="0" dir="5400000" dist="20000">
              <a:srgbClr val="000000">
                <a:alpha val="38039"/>
              </a:srgbClr>
            </a:outerShdw>
          </a:effectLst>
        </p:spPr>
      </p:cxnSp>
      <p:sp>
        <p:nvSpPr>
          <p:cNvPr id="224" name="Google Shape;224;p3"/>
          <p:cNvSpPr txBox="1"/>
          <p:nvPr/>
        </p:nvSpPr>
        <p:spPr>
          <a:xfrm>
            <a:off x="9784080" y="2761488"/>
            <a:ext cx="603504"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750">
                <a:solidFill>
                  <a:srgbClr val="2E75B6"/>
                </a:solidFill>
                <a:latin typeface="Arial"/>
                <a:ea typeface="Arial"/>
                <a:cs typeface="Arial"/>
                <a:sym typeface="Arial"/>
              </a:rPr>
              <a:t>CAN bus</a:t>
            </a:r>
            <a:endParaRPr/>
          </a:p>
        </p:txBody>
      </p:sp>
      <p:sp>
        <p:nvSpPr>
          <p:cNvPr id="225" name="Google Shape;225;p3"/>
          <p:cNvSpPr txBox="1"/>
          <p:nvPr/>
        </p:nvSpPr>
        <p:spPr>
          <a:xfrm>
            <a:off x="457200" y="4700016"/>
            <a:ext cx="1118612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1" lang="en-US" sz="850">
                <a:solidFill>
                  <a:srgbClr val="8A99A5"/>
                </a:solidFill>
                <a:latin typeface="Arial"/>
                <a:ea typeface="Arial"/>
                <a:cs typeface="Arial"/>
                <a:sym typeface="Arial"/>
              </a:rPr>
              <a:t>*  Working assumptions, not requirements — the real figures come from the chosen microcontroller and the system specification.</a:t>
            </a:r>
            <a:endParaRPr/>
          </a:p>
        </p:txBody>
      </p:sp>
      <p:sp>
        <p:nvSpPr>
          <p:cNvPr id="226" name="Google Shape;226;p3"/>
          <p:cNvSpPr/>
          <p:nvPr/>
        </p:nvSpPr>
        <p:spPr>
          <a:xfrm>
            <a:off x="502920" y="5010912"/>
            <a:ext cx="3545860" cy="969264"/>
          </a:xfrm>
          <a:prstGeom prst="roundRect">
            <a:avLst>
              <a:gd fmla="val 6603"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3"/>
          <p:cNvSpPr txBox="1"/>
          <p:nvPr/>
        </p:nvSpPr>
        <p:spPr>
          <a:xfrm>
            <a:off x="658368" y="5171846"/>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Where the boundary sits</a:t>
            </a:r>
            <a:endParaRPr/>
          </a:p>
        </p:txBody>
      </p:sp>
      <p:sp>
        <p:nvSpPr>
          <p:cNvPr id="228" name="Google Shape;228;p3"/>
          <p:cNvSpPr txBox="1"/>
          <p:nvPr/>
        </p:nvSpPr>
        <p:spPr>
          <a:xfrm>
            <a:off x="658368" y="5414035"/>
            <a:ext cx="3234964"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The module owns the conditioning, the microcontroller and the transceiver. Sensor selection and bus topology sit outside it.</a:t>
            </a:r>
            <a:endParaRPr/>
          </a:p>
        </p:txBody>
      </p:sp>
      <p:sp>
        <p:nvSpPr>
          <p:cNvPr id="229" name="Google Shape;229;p3"/>
          <p:cNvSpPr/>
          <p:nvPr/>
        </p:nvSpPr>
        <p:spPr>
          <a:xfrm>
            <a:off x="4323100" y="5010912"/>
            <a:ext cx="3545860" cy="969264"/>
          </a:xfrm>
          <a:prstGeom prst="roundRect">
            <a:avLst>
              <a:gd fmla="val 6603"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3"/>
          <p:cNvSpPr txBox="1"/>
          <p:nvPr/>
        </p:nvSpPr>
        <p:spPr>
          <a:xfrm>
            <a:off x="4478548" y="5171846"/>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Why the ADC is internal</a:t>
            </a:r>
            <a:endParaRPr/>
          </a:p>
        </p:txBody>
      </p:sp>
      <p:sp>
        <p:nvSpPr>
          <p:cNvPr id="231" name="Google Shape;231;p3"/>
          <p:cNvSpPr txBox="1"/>
          <p:nvPr/>
        </p:nvSpPr>
        <p:spPr>
          <a:xfrm>
            <a:off x="4478548" y="5414035"/>
            <a:ext cx="3234964"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The brief wires each input straight to an MCU ADC channel. The conditioning shown is passive scaling and protection — no external converter to drive.</a:t>
            </a:r>
            <a:endParaRPr/>
          </a:p>
        </p:txBody>
      </p:sp>
      <p:sp>
        <p:nvSpPr>
          <p:cNvPr id="232" name="Google Shape;232;p3"/>
          <p:cNvSpPr/>
          <p:nvPr/>
        </p:nvSpPr>
        <p:spPr>
          <a:xfrm>
            <a:off x="8143280" y="5010912"/>
            <a:ext cx="3545860" cy="969264"/>
          </a:xfrm>
          <a:prstGeom prst="roundRect">
            <a:avLst>
              <a:gd fmla="val 6603"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3"/>
          <p:cNvSpPr txBox="1"/>
          <p:nvPr/>
        </p:nvSpPr>
        <p:spPr>
          <a:xfrm>
            <a:off x="8298728" y="5171846"/>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One processor, no operating system</a:t>
            </a:r>
            <a:endParaRPr/>
          </a:p>
        </p:txBody>
      </p:sp>
      <p:sp>
        <p:nvSpPr>
          <p:cNvPr id="234" name="Google Shape;234;p3"/>
          <p:cNvSpPr txBox="1"/>
          <p:nvPr/>
        </p:nvSpPr>
        <p:spPr>
          <a:xfrm>
            <a:off x="8298728" y="5414035"/>
            <a:ext cx="3234964"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All six services, the scheduler and the HAL run on this single microcontroller. There is no second processor.</a:t>
            </a:r>
            <a:endParaRPr/>
          </a:p>
        </p:txBody>
      </p:sp>
      <p:sp>
        <p:nvSpPr>
          <p:cNvPr id="235" name="Google Shape;235;p3"/>
          <p:cNvSpPr txBox="1"/>
          <p:nvPr/>
        </p:nvSpPr>
        <p:spPr>
          <a:xfrm>
            <a:off x="457200" y="6089904"/>
            <a:ext cx="11186129" cy="23774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0F3A5F"/>
                </a:solidFill>
                <a:latin typeface="Arial"/>
                <a:ea typeface="Arial"/>
                <a:cs typeface="Arial"/>
                <a:sym typeface="Arial"/>
              </a:rPr>
              <a:t>Read it left to right — analogue in, digital out. The CAN bus is the only path off the module, which makes the CAN Protocol Manager the module's entire external API.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03 · SOFTWARE ARCHITECTURE</a:t>
            </a:r>
            <a:endParaRPr/>
          </a:p>
        </p:txBody>
      </p:sp>
      <p:sp>
        <p:nvSpPr>
          <p:cNvPr id="242" name="Google Shape;242;p4"/>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Three layers, one direction of dependency</a:t>
            </a:r>
            <a:endParaRPr/>
          </a:p>
        </p:txBody>
      </p:sp>
      <p:sp>
        <p:nvSpPr>
          <p:cNvPr id="243" name="Google Shape;243;p4"/>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Arrows follow a measurement, left to right. Calls run the opposite way, right to left, and never back.</a:t>
            </a:r>
            <a:endParaRPr/>
          </a:p>
        </p:txBody>
      </p:sp>
      <p:sp>
        <p:nvSpPr>
          <p:cNvPr id="244" name="Google Shape;244;p4"/>
          <p:cNvSpPr txBox="1"/>
          <p:nvPr/>
        </p:nvSpPr>
        <p:spPr>
          <a:xfrm>
            <a:off x="457200" y="1554480"/>
            <a:ext cx="187451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5B6B77"/>
                </a:solidFill>
                <a:latin typeface="Arial"/>
                <a:ea typeface="Arial"/>
                <a:cs typeface="Arial"/>
                <a:sym typeface="Arial"/>
              </a:rPr>
              <a:t>OUTSIDE THE SOFTWARE</a:t>
            </a:r>
            <a:endParaRPr/>
          </a:p>
        </p:txBody>
      </p:sp>
      <p:sp>
        <p:nvSpPr>
          <p:cNvPr id="245" name="Google Shape;245;p4"/>
          <p:cNvSpPr txBox="1"/>
          <p:nvPr/>
        </p:nvSpPr>
        <p:spPr>
          <a:xfrm>
            <a:off x="2606040" y="1554480"/>
            <a:ext cx="187451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HAL / DRIVERS</a:t>
            </a:r>
            <a:endParaRPr/>
          </a:p>
        </p:txBody>
      </p:sp>
      <p:sp>
        <p:nvSpPr>
          <p:cNvPr id="246" name="Google Shape;246;p4"/>
          <p:cNvSpPr txBox="1"/>
          <p:nvPr/>
        </p:nvSpPr>
        <p:spPr>
          <a:xfrm>
            <a:off x="4754880" y="1554480"/>
            <a:ext cx="434340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13657F"/>
                </a:solidFill>
                <a:latin typeface="Arial"/>
                <a:ea typeface="Arial"/>
                <a:cs typeface="Arial"/>
                <a:sym typeface="Arial"/>
              </a:rPr>
              <a:t>APPLICATION SERVICES</a:t>
            </a:r>
            <a:endParaRPr/>
          </a:p>
        </p:txBody>
      </p:sp>
      <p:sp>
        <p:nvSpPr>
          <p:cNvPr id="247" name="Google Shape;247;p4"/>
          <p:cNvSpPr txBox="1"/>
          <p:nvPr/>
        </p:nvSpPr>
        <p:spPr>
          <a:xfrm>
            <a:off x="9372600" y="1554480"/>
            <a:ext cx="2267712"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2E7D5B"/>
                </a:solidFill>
                <a:latin typeface="Arial"/>
                <a:ea typeface="Arial"/>
                <a:cs typeface="Arial"/>
                <a:sym typeface="Arial"/>
              </a:rPr>
              <a:t>EXECUTION</a:t>
            </a:r>
            <a:endParaRPr/>
          </a:p>
        </p:txBody>
      </p:sp>
      <p:sp>
        <p:nvSpPr>
          <p:cNvPr id="248" name="Google Shape;248;p4"/>
          <p:cNvSpPr/>
          <p:nvPr/>
        </p:nvSpPr>
        <p:spPr>
          <a:xfrm>
            <a:off x="502920" y="1874519"/>
            <a:ext cx="1874519" cy="1554480"/>
          </a:xfrm>
          <a:prstGeom prst="roundRect">
            <a:avLst>
              <a:gd fmla="val 3529" name="adj"/>
            </a:avLst>
          </a:prstGeom>
          <a:solidFill>
            <a:srgbClr val="FDF0E4"/>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4"/>
          <p:cNvSpPr txBox="1"/>
          <p:nvPr/>
        </p:nvSpPr>
        <p:spPr>
          <a:xfrm>
            <a:off x="576072" y="1965960"/>
            <a:ext cx="172821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4 analogue inputs</a:t>
            </a:r>
            <a:endParaRPr/>
          </a:p>
        </p:txBody>
      </p:sp>
      <p:sp>
        <p:nvSpPr>
          <p:cNvPr id="250" name="Google Shape;250;p4"/>
          <p:cNvSpPr txBox="1"/>
          <p:nvPr/>
        </p:nvSpPr>
        <p:spPr>
          <a:xfrm>
            <a:off x="630936" y="2345309"/>
            <a:ext cx="1618487" cy="868680"/>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8A5626"/>
                </a:solidFill>
                <a:latin typeface="Arial"/>
                <a:ea typeface="Arial"/>
                <a:cs typeface="Arial"/>
                <a:sym typeface="Arial"/>
              </a:rPr>
              <a:t>CH0 – CH3</a:t>
            </a:r>
            <a:endParaRPr/>
          </a:p>
          <a:p>
            <a:pPr indent="0" lvl="0" marL="0" marR="0" rtl="0" algn="ctr">
              <a:lnSpc>
                <a:spcPct val="101666"/>
              </a:lnSpc>
              <a:spcBef>
                <a:spcPts val="0"/>
              </a:spcBef>
              <a:spcAft>
                <a:spcPts val="0"/>
              </a:spcAft>
              <a:buNone/>
            </a:pPr>
            <a:r>
              <a:t/>
            </a:r>
            <a:endParaRPr b="0" i="0" sz="950">
              <a:solidFill>
                <a:srgbClr val="8A5626"/>
              </a:solidFill>
              <a:latin typeface="Arial"/>
              <a:ea typeface="Arial"/>
              <a:cs typeface="Arial"/>
              <a:sym typeface="Arial"/>
            </a:endParaRPr>
          </a:p>
          <a:p>
            <a:pPr indent="0" lvl="0" marL="0" marR="0" rtl="0" algn="ctr">
              <a:lnSpc>
                <a:spcPct val="101666"/>
              </a:lnSpc>
              <a:spcBef>
                <a:spcPts val="0"/>
              </a:spcBef>
              <a:spcAft>
                <a:spcPts val="0"/>
              </a:spcAft>
              <a:buNone/>
            </a:pPr>
            <a:r>
              <a:rPr b="0" i="0" lang="en-US" sz="950">
                <a:solidFill>
                  <a:srgbClr val="8A5626"/>
                </a:solidFill>
                <a:latin typeface="Arial"/>
                <a:ea typeface="Arial"/>
                <a:cs typeface="Arial"/>
                <a:sym typeface="Arial"/>
              </a:rPr>
              <a:t>Temperature  ·  Current</a:t>
            </a:r>
            <a:endParaRPr/>
          </a:p>
          <a:p>
            <a:pPr indent="0" lvl="0" marL="0" marR="0" rtl="0" algn="ctr">
              <a:lnSpc>
                <a:spcPct val="101666"/>
              </a:lnSpc>
              <a:spcBef>
                <a:spcPts val="0"/>
              </a:spcBef>
              <a:spcAft>
                <a:spcPts val="0"/>
              </a:spcAft>
              <a:buNone/>
            </a:pPr>
            <a:r>
              <a:rPr b="0" i="0" lang="en-US" sz="950">
                <a:solidFill>
                  <a:srgbClr val="8A5626"/>
                </a:solidFill>
                <a:latin typeface="Arial"/>
                <a:ea typeface="Arial"/>
                <a:cs typeface="Arial"/>
                <a:sym typeface="Arial"/>
              </a:rPr>
              <a:t>Voltage  ·  Disabled</a:t>
            </a:r>
            <a:endParaRPr/>
          </a:p>
        </p:txBody>
      </p:sp>
      <p:sp>
        <p:nvSpPr>
          <p:cNvPr id="251" name="Google Shape;251;p4"/>
          <p:cNvSpPr/>
          <p:nvPr/>
        </p:nvSpPr>
        <p:spPr>
          <a:xfrm>
            <a:off x="502920" y="3776472"/>
            <a:ext cx="1874519" cy="1188720"/>
          </a:xfrm>
          <a:prstGeom prst="roundRect">
            <a:avLst>
              <a:gd fmla="val 4615" name="adj"/>
            </a:avLst>
          </a:prstGeom>
          <a:solidFill>
            <a:srgbClr val="EDF3F8"/>
          </a:solidFill>
          <a:ln cap="flat" cmpd="sng" w="19050">
            <a:solidFill>
              <a:srgbClr val="0F3A5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4"/>
          <p:cNvSpPr txBox="1"/>
          <p:nvPr/>
        </p:nvSpPr>
        <p:spPr>
          <a:xfrm>
            <a:off x="576072" y="3867911"/>
            <a:ext cx="172821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0F3A5F"/>
                </a:solidFill>
                <a:latin typeface="Arial"/>
                <a:ea typeface="Arial"/>
                <a:cs typeface="Arial"/>
                <a:sym typeface="Arial"/>
              </a:rPr>
              <a:t>Fuel-cell controller</a:t>
            </a:r>
            <a:endParaRPr/>
          </a:p>
        </p:txBody>
      </p:sp>
      <p:sp>
        <p:nvSpPr>
          <p:cNvPr id="253" name="Google Shape;253;p4"/>
          <p:cNvSpPr txBox="1"/>
          <p:nvPr/>
        </p:nvSpPr>
        <p:spPr>
          <a:xfrm>
            <a:off x="630936" y="4192396"/>
            <a:ext cx="1618487" cy="640080"/>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0F3A5F"/>
                </a:solidFill>
                <a:latin typeface="Arial"/>
                <a:ea typeface="Arial"/>
                <a:cs typeface="Arial"/>
                <a:sym typeface="Arial"/>
              </a:rPr>
              <a:t>sends configuration,</a:t>
            </a:r>
            <a:endParaRPr/>
          </a:p>
          <a:p>
            <a:pPr indent="0" lvl="0" marL="0" marR="0" rtl="0" algn="ctr">
              <a:lnSpc>
                <a:spcPct val="101666"/>
              </a:lnSpc>
              <a:spcBef>
                <a:spcPts val="0"/>
              </a:spcBef>
              <a:spcAft>
                <a:spcPts val="0"/>
              </a:spcAft>
              <a:buNone/>
            </a:pPr>
            <a:r>
              <a:rPr b="0" i="0" lang="en-US" sz="900">
                <a:solidFill>
                  <a:srgbClr val="0F3A5F"/>
                </a:solidFill>
                <a:latin typeface="Arial"/>
                <a:ea typeface="Arial"/>
                <a:cs typeface="Arial"/>
                <a:sym typeface="Arial"/>
              </a:rPr>
              <a:t>receives values and status</a:t>
            </a:r>
            <a:endParaRPr/>
          </a:p>
          <a:p>
            <a:pPr indent="0" lvl="0" marL="0" marR="0" rtl="0" algn="ctr">
              <a:lnSpc>
                <a:spcPct val="101666"/>
              </a:lnSpc>
              <a:spcBef>
                <a:spcPts val="0"/>
              </a:spcBef>
              <a:spcAft>
                <a:spcPts val="0"/>
              </a:spcAft>
              <a:buNone/>
            </a:pPr>
            <a:r>
              <a:rPr b="0" i="0" lang="en-US" sz="900">
                <a:solidFill>
                  <a:srgbClr val="0F3A5F"/>
                </a:solidFill>
                <a:latin typeface="Arial"/>
                <a:ea typeface="Arial"/>
                <a:cs typeface="Arial"/>
                <a:sym typeface="Arial"/>
              </a:rPr>
              <a:t>over the predefined CAN protocol</a:t>
            </a:r>
            <a:endParaRPr/>
          </a:p>
        </p:txBody>
      </p:sp>
      <p:sp>
        <p:nvSpPr>
          <p:cNvPr id="254" name="Google Shape;254;p4"/>
          <p:cNvSpPr/>
          <p:nvPr/>
        </p:nvSpPr>
        <p:spPr>
          <a:xfrm>
            <a:off x="2651760" y="1874519"/>
            <a:ext cx="1874519" cy="658368"/>
          </a:xfrm>
          <a:prstGeom prst="roundRect">
            <a:avLst>
              <a:gd fmla="val 8333"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4"/>
          <p:cNvSpPr txBox="1"/>
          <p:nvPr/>
        </p:nvSpPr>
        <p:spPr>
          <a:xfrm>
            <a:off x="2724912" y="1962594"/>
            <a:ext cx="172821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ADC HAL</a:t>
            </a:r>
            <a:endParaRPr/>
          </a:p>
        </p:txBody>
      </p:sp>
      <p:sp>
        <p:nvSpPr>
          <p:cNvPr id="256" name="Google Shape;256;p4"/>
          <p:cNvSpPr txBox="1"/>
          <p:nvPr/>
        </p:nvSpPr>
        <p:spPr>
          <a:xfrm>
            <a:off x="2724912" y="2213927"/>
            <a:ext cx="1728216"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start · read · status</a:t>
            </a:r>
            <a:endParaRPr/>
          </a:p>
        </p:txBody>
      </p:sp>
      <p:sp>
        <p:nvSpPr>
          <p:cNvPr id="257" name="Google Shape;257;p4"/>
          <p:cNvSpPr/>
          <p:nvPr/>
        </p:nvSpPr>
        <p:spPr>
          <a:xfrm>
            <a:off x="2651760" y="2679191"/>
            <a:ext cx="1874519" cy="658368"/>
          </a:xfrm>
          <a:prstGeom prst="roundRect">
            <a:avLst>
              <a:gd fmla="val 8333"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4"/>
          <p:cNvSpPr txBox="1"/>
          <p:nvPr/>
        </p:nvSpPr>
        <p:spPr>
          <a:xfrm>
            <a:off x="2724912" y="2767266"/>
            <a:ext cx="172821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CAN HAL</a:t>
            </a:r>
            <a:endParaRPr/>
          </a:p>
        </p:txBody>
      </p:sp>
      <p:sp>
        <p:nvSpPr>
          <p:cNvPr id="259" name="Google Shape;259;p4"/>
          <p:cNvSpPr txBox="1"/>
          <p:nvPr/>
        </p:nvSpPr>
        <p:spPr>
          <a:xfrm>
            <a:off x="2724912" y="3018599"/>
            <a:ext cx="1728216"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rx · tx · error state</a:t>
            </a:r>
            <a:endParaRPr/>
          </a:p>
        </p:txBody>
      </p:sp>
      <p:sp>
        <p:nvSpPr>
          <p:cNvPr id="260" name="Google Shape;260;p4"/>
          <p:cNvSpPr/>
          <p:nvPr/>
        </p:nvSpPr>
        <p:spPr>
          <a:xfrm>
            <a:off x="2651760" y="3483863"/>
            <a:ext cx="1874519" cy="658368"/>
          </a:xfrm>
          <a:prstGeom prst="roundRect">
            <a:avLst>
              <a:gd fmla="val 8333"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4"/>
          <p:cNvSpPr txBox="1"/>
          <p:nvPr/>
        </p:nvSpPr>
        <p:spPr>
          <a:xfrm>
            <a:off x="2724912" y="3571938"/>
            <a:ext cx="172821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NVM HAL</a:t>
            </a:r>
            <a:endParaRPr/>
          </a:p>
        </p:txBody>
      </p:sp>
      <p:sp>
        <p:nvSpPr>
          <p:cNvPr id="262" name="Google Shape;262;p4"/>
          <p:cNvSpPr txBox="1"/>
          <p:nvPr/>
        </p:nvSpPr>
        <p:spPr>
          <a:xfrm>
            <a:off x="2724912" y="3823271"/>
            <a:ext cx="1728216"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read · write · verify</a:t>
            </a:r>
            <a:endParaRPr/>
          </a:p>
        </p:txBody>
      </p:sp>
      <p:sp>
        <p:nvSpPr>
          <p:cNvPr id="263" name="Google Shape;263;p4"/>
          <p:cNvSpPr/>
          <p:nvPr/>
        </p:nvSpPr>
        <p:spPr>
          <a:xfrm>
            <a:off x="2651760" y="4288536"/>
            <a:ext cx="1874519" cy="658368"/>
          </a:xfrm>
          <a:prstGeom prst="roundRect">
            <a:avLst>
              <a:gd fmla="val 8333"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4"/>
          <p:cNvSpPr txBox="1"/>
          <p:nvPr/>
        </p:nvSpPr>
        <p:spPr>
          <a:xfrm>
            <a:off x="2724912" y="4376610"/>
            <a:ext cx="172821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Timer + WDG HAL</a:t>
            </a:r>
            <a:endParaRPr/>
          </a:p>
        </p:txBody>
      </p:sp>
      <p:sp>
        <p:nvSpPr>
          <p:cNvPr id="265" name="Google Shape;265;p4"/>
          <p:cNvSpPr txBox="1"/>
          <p:nvPr/>
        </p:nvSpPr>
        <p:spPr>
          <a:xfrm>
            <a:off x="2724912" y="4627943"/>
            <a:ext cx="1728216"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tick · reset · service</a:t>
            </a:r>
            <a:endParaRPr/>
          </a:p>
        </p:txBody>
      </p:sp>
      <p:sp>
        <p:nvSpPr>
          <p:cNvPr id="266" name="Google Shape;266;p4"/>
          <p:cNvSpPr/>
          <p:nvPr/>
        </p:nvSpPr>
        <p:spPr>
          <a:xfrm>
            <a:off x="4800600" y="1874519"/>
            <a:ext cx="2057400" cy="896112"/>
          </a:xfrm>
          <a:prstGeom prst="roundRect">
            <a:avLst>
              <a:gd fmla="val 6122"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4"/>
          <p:cNvSpPr txBox="1"/>
          <p:nvPr/>
        </p:nvSpPr>
        <p:spPr>
          <a:xfrm>
            <a:off x="4873752" y="2011743"/>
            <a:ext cx="191109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13657F"/>
                </a:solidFill>
                <a:latin typeface="Arial"/>
                <a:ea typeface="Arial"/>
                <a:cs typeface="Arial"/>
                <a:sym typeface="Arial"/>
              </a:rPr>
              <a:t>Measurement Manager</a:t>
            </a:r>
            <a:endParaRPr/>
          </a:p>
        </p:txBody>
      </p:sp>
      <p:sp>
        <p:nvSpPr>
          <p:cNvPr id="268" name="Google Shape;268;p4"/>
          <p:cNvSpPr txBox="1"/>
          <p:nvPr/>
        </p:nvSpPr>
        <p:spPr>
          <a:xfrm>
            <a:off x="4873752" y="2263076"/>
            <a:ext cx="191109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owns samples, values,</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timestamps and channel status</a:t>
            </a:r>
            <a:endParaRPr/>
          </a:p>
        </p:txBody>
      </p:sp>
      <p:sp>
        <p:nvSpPr>
          <p:cNvPr id="269" name="Google Shape;269;p4"/>
          <p:cNvSpPr/>
          <p:nvPr/>
        </p:nvSpPr>
        <p:spPr>
          <a:xfrm>
            <a:off x="7086600" y="1874519"/>
            <a:ext cx="2057400" cy="896112"/>
          </a:xfrm>
          <a:prstGeom prst="roundRect">
            <a:avLst>
              <a:gd fmla="val 6122"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4"/>
          <p:cNvSpPr txBox="1"/>
          <p:nvPr/>
        </p:nvSpPr>
        <p:spPr>
          <a:xfrm>
            <a:off x="7159752" y="2011743"/>
            <a:ext cx="191109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13657F"/>
                </a:solidFill>
                <a:latin typeface="Arial"/>
                <a:ea typeface="Arial"/>
                <a:cs typeface="Arial"/>
                <a:sym typeface="Arial"/>
              </a:rPr>
              <a:t>Sensor Converter</a:t>
            </a:r>
            <a:endParaRPr/>
          </a:p>
        </p:txBody>
      </p:sp>
      <p:sp>
        <p:nvSpPr>
          <p:cNvPr id="271" name="Google Shape;271;p4"/>
          <p:cNvSpPr txBox="1"/>
          <p:nvPr/>
        </p:nvSpPr>
        <p:spPr>
          <a:xfrm>
            <a:off x="7159752" y="2263076"/>
            <a:ext cx="191109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dispatches the fixed conversion</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for each SensorType</a:t>
            </a:r>
            <a:endParaRPr/>
          </a:p>
        </p:txBody>
      </p:sp>
      <p:sp>
        <p:nvSpPr>
          <p:cNvPr id="272" name="Google Shape;272;p4"/>
          <p:cNvSpPr/>
          <p:nvPr/>
        </p:nvSpPr>
        <p:spPr>
          <a:xfrm>
            <a:off x="4800600" y="2971800"/>
            <a:ext cx="2057400" cy="896112"/>
          </a:xfrm>
          <a:prstGeom prst="roundRect">
            <a:avLst>
              <a:gd fmla="val 6122"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4"/>
          <p:cNvSpPr txBox="1"/>
          <p:nvPr/>
        </p:nvSpPr>
        <p:spPr>
          <a:xfrm>
            <a:off x="4873752" y="3109023"/>
            <a:ext cx="191109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13657F"/>
                </a:solidFill>
                <a:latin typeface="Arial"/>
                <a:ea typeface="Arial"/>
                <a:cs typeface="Arial"/>
                <a:sym typeface="Arial"/>
              </a:rPr>
              <a:t>Configuration Manager</a:t>
            </a:r>
            <a:endParaRPr/>
          </a:p>
        </p:txBody>
      </p:sp>
      <p:sp>
        <p:nvSpPr>
          <p:cNvPr id="274" name="Google Shape;274;p4"/>
          <p:cNvSpPr txBox="1"/>
          <p:nvPr/>
        </p:nvSpPr>
        <p:spPr>
          <a:xfrm>
            <a:off x="4873752" y="3360356"/>
            <a:ext cx="191109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validates and owns the</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four channel modes</a:t>
            </a:r>
            <a:endParaRPr/>
          </a:p>
        </p:txBody>
      </p:sp>
      <p:sp>
        <p:nvSpPr>
          <p:cNvPr id="275" name="Google Shape;275;p4"/>
          <p:cNvSpPr/>
          <p:nvPr/>
        </p:nvSpPr>
        <p:spPr>
          <a:xfrm>
            <a:off x="7086600" y="2971800"/>
            <a:ext cx="2057400" cy="896112"/>
          </a:xfrm>
          <a:prstGeom prst="roundRect">
            <a:avLst>
              <a:gd fmla="val 6122"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4"/>
          <p:cNvSpPr txBox="1"/>
          <p:nvPr/>
        </p:nvSpPr>
        <p:spPr>
          <a:xfrm>
            <a:off x="7159752" y="3109023"/>
            <a:ext cx="191109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13657F"/>
                </a:solidFill>
                <a:latin typeface="Arial"/>
                <a:ea typeface="Arial"/>
                <a:cs typeface="Arial"/>
                <a:sym typeface="Arial"/>
              </a:rPr>
              <a:t>CAN Protocol Manager</a:t>
            </a:r>
            <a:endParaRPr/>
          </a:p>
        </p:txBody>
      </p:sp>
      <p:sp>
        <p:nvSpPr>
          <p:cNvPr id="277" name="Google Shape;277;p4"/>
          <p:cNvSpPr txBox="1"/>
          <p:nvPr/>
        </p:nvSpPr>
        <p:spPr>
          <a:xfrm>
            <a:off x="7159752" y="3360356"/>
            <a:ext cx="191109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decodes commands, packs</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values and status</a:t>
            </a:r>
            <a:endParaRPr/>
          </a:p>
        </p:txBody>
      </p:sp>
      <p:sp>
        <p:nvSpPr>
          <p:cNvPr id="278" name="Google Shape;278;p4"/>
          <p:cNvSpPr/>
          <p:nvPr/>
        </p:nvSpPr>
        <p:spPr>
          <a:xfrm>
            <a:off x="4800600" y="4069079"/>
            <a:ext cx="2057400" cy="896112"/>
          </a:xfrm>
          <a:prstGeom prst="roundRect">
            <a:avLst>
              <a:gd fmla="val 6122"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4"/>
          <p:cNvSpPr txBox="1"/>
          <p:nvPr/>
        </p:nvSpPr>
        <p:spPr>
          <a:xfrm>
            <a:off x="4873752" y="4206303"/>
            <a:ext cx="191109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13657F"/>
                </a:solidFill>
                <a:latin typeface="Arial"/>
                <a:ea typeface="Arial"/>
                <a:cs typeface="Arial"/>
                <a:sym typeface="Arial"/>
              </a:rPr>
              <a:t>NVM Manager</a:t>
            </a:r>
            <a:endParaRPr/>
          </a:p>
        </p:txBody>
      </p:sp>
      <p:sp>
        <p:nvSpPr>
          <p:cNvPr id="280" name="Google Shape;280;p4"/>
          <p:cNvSpPr txBox="1"/>
          <p:nvPr/>
        </p:nvSpPr>
        <p:spPr>
          <a:xfrm>
            <a:off x="4873752" y="4457636"/>
            <a:ext cx="191109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two-copy record, CRC,</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sequence and commit marker</a:t>
            </a:r>
            <a:endParaRPr/>
          </a:p>
        </p:txBody>
      </p:sp>
      <p:sp>
        <p:nvSpPr>
          <p:cNvPr id="281" name="Google Shape;281;p4"/>
          <p:cNvSpPr/>
          <p:nvPr/>
        </p:nvSpPr>
        <p:spPr>
          <a:xfrm>
            <a:off x="7086600" y="4069079"/>
            <a:ext cx="2057400" cy="896112"/>
          </a:xfrm>
          <a:prstGeom prst="roundRect">
            <a:avLst>
              <a:gd fmla="val 6122"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4"/>
          <p:cNvSpPr txBox="1"/>
          <p:nvPr/>
        </p:nvSpPr>
        <p:spPr>
          <a:xfrm>
            <a:off x="7159752" y="4206303"/>
            <a:ext cx="191109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13657F"/>
                </a:solidFill>
                <a:latin typeface="Arial"/>
                <a:ea typeface="Arial"/>
                <a:cs typeface="Arial"/>
                <a:sym typeface="Arial"/>
              </a:rPr>
              <a:t>Diagnostics Manager</a:t>
            </a:r>
            <a:endParaRPr/>
          </a:p>
        </p:txBody>
      </p:sp>
      <p:sp>
        <p:nvSpPr>
          <p:cNvPr id="283" name="Google Shape;283;p4"/>
          <p:cNvSpPr txBox="1"/>
          <p:nvPr/>
        </p:nvSpPr>
        <p:spPr>
          <a:xfrm>
            <a:off x="7159752" y="4457636"/>
            <a:ext cx="191109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collects faults, counters</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and the reset reason</a:t>
            </a:r>
            <a:endParaRPr/>
          </a:p>
        </p:txBody>
      </p:sp>
      <p:sp>
        <p:nvSpPr>
          <p:cNvPr id="284" name="Google Shape;284;p4"/>
          <p:cNvSpPr/>
          <p:nvPr/>
        </p:nvSpPr>
        <p:spPr>
          <a:xfrm>
            <a:off x="9418320" y="1874519"/>
            <a:ext cx="2267712" cy="1188720"/>
          </a:xfrm>
          <a:prstGeom prst="roundRect">
            <a:avLst>
              <a:gd fmla="val 4615" name="adj"/>
            </a:avLst>
          </a:prstGeom>
          <a:solidFill>
            <a:srgbClr val="FFFFFF"/>
          </a:solidFill>
          <a:ln cap="flat" cmpd="sng" w="19050">
            <a:solidFill>
              <a:srgbClr val="2E7D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4"/>
          <p:cNvSpPr txBox="1"/>
          <p:nvPr/>
        </p:nvSpPr>
        <p:spPr>
          <a:xfrm>
            <a:off x="9491472" y="2158047"/>
            <a:ext cx="2121408"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2E7D5B"/>
                </a:solidFill>
                <a:latin typeface="Arial"/>
                <a:ea typeface="Arial"/>
                <a:cs typeface="Arial"/>
                <a:sym typeface="Arial"/>
              </a:rPr>
              <a:t>Cyclic Scheduler</a:t>
            </a:r>
            <a:endParaRPr/>
          </a:p>
        </p:txBody>
      </p:sp>
      <p:sp>
        <p:nvSpPr>
          <p:cNvPr id="286" name="Google Shape;286;p4"/>
          <p:cNvSpPr txBox="1"/>
          <p:nvPr/>
        </p:nvSpPr>
        <p:spPr>
          <a:xfrm>
            <a:off x="9491472" y="2409380"/>
            <a:ext cx="2121408"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releases the periodic jobs</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in a fixed order, every pass</a:t>
            </a:r>
            <a:endParaRPr/>
          </a:p>
        </p:txBody>
      </p:sp>
      <p:sp>
        <p:nvSpPr>
          <p:cNvPr id="287" name="Google Shape;287;p4"/>
          <p:cNvSpPr/>
          <p:nvPr/>
        </p:nvSpPr>
        <p:spPr>
          <a:xfrm>
            <a:off x="9418320" y="3227832"/>
            <a:ext cx="2267712" cy="1737360"/>
          </a:xfrm>
          <a:prstGeom prst="roundRect">
            <a:avLst>
              <a:gd fmla="val 3157" name="adj"/>
            </a:avLst>
          </a:prstGeom>
          <a:solidFill>
            <a:srgbClr val="FFFFFF"/>
          </a:solidFill>
          <a:ln cap="flat" cmpd="sng" w="19050">
            <a:solidFill>
              <a:srgbClr val="2E7D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4"/>
          <p:cNvSpPr txBox="1"/>
          <p:nvPr/>
        </p:nvSpPr>
        <p:spPr>
          <a:xfrm>
            <a:off x="9491472" y="3319272"/>
            <a:ext cx="2121408"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2E7D5B"/>
                </a:solidFill>
                <a:latin typeface="Arial"/>
                <a:ea typeface="Arial"/>
                <a:cs typeface="Arial"/>
                <a:sym typeface="Arial"/>
              </a:rPr>
              <a:t>State Machine</a:t>
            </a:r>
            <a:endParaRPr/>
          </a:p>
        </p:txBody>
      </p:sp>
      <p:sp>
        <p:nvSpPr>
          <p:cNvPr id="289" name="Google Shape;289;p4"/>
          <p:cNvSpPr txBox="1"/>
          <p:nvPr/>
        </p:nvSpPr>
        <p:spPr>
          <a:xfrm>
            <a:off x="9546336" y="3680333"/>
            <a:ext cx="2011680" cy="1097280"/>
          </a:xfrm>
          <a:prstGeom prst="rect">
            <a:avLst/>
          </a:prstGeom>
          <a:noFill/>
          <a:ln>
            <a:noFill/>
          </a:ln>
        </p:spPr>
        <p:txBody>
          <a:bodyPr anchorCtr="0" anchor="t" bIns="45700" lIns="45700" spcFirstLastPara="1" rIns="45700" wrap="square" tIns="45700">
            <a:noAutofit/>
          </a:bodyPr>
          <a:lstStyle/>
          <a:p>
            <a:pPr indent="0" lvl="0" marL="0" marR="0" rtl="0" algn="ctr">
              <a:lnSpc>
                <a:spcPct val="125000"/>
              </a:lnSpc>
              <a:spcBef>
                <a:spcPts val="0"/>
              </a:spcBef>
              <a:spcAft>
                <a:spcPts val="0"/>
              </a:spcAft>
              <a:buNone/>
            </a:pPr>
            <a:r>
              <a:rPr b="0" i="0" lang="en-US" sz="950">
                <a:solidFill>
                  <a:srgbClr val="2E7D5B"/>
                </a:solidFill>
                <a:latin typeface="Arial"/>
                <a:ea typeface="Arial"/>
                <a:cs typeface="Arial"/>
                <a:sym typeface="Arial"/>
              </a:rPr>
              <a:t>INIT</a:t>
            </a:r>
            <a:endParaRPr/>
          </a:p>
          <a:p>
            <a:pPr indent="0" lvl="0" marL="0" marR="0" rtl="0" algn="ctr">
              <a:lnSpc>
                <a:spcPct val="125000"/>
              </a:lnSpc>
              <a:spcBef>
                <a:spcPts val="0"/>
              </a:spcBef>
              <a:spcAft>
                <a:spcPts val="0"/>
              </a:spcAft>
              <a:buNone/>
            </a:pPr>
            <a:r>
              <a:rPr b="0" i="0" lang="en-US" sz="950">
                <a:solidFill>
                  <a:srgbClr val="2E7D5B"/>
                </a:solidFill>
                <a:latin typeface="Arial"/>
                <a:ea typeface="Arial"/>
                <a:cs typeface="Arial"/>
                <a:sym typeface="Arial"/>
              </a:rPr>
              <a:t>RUN</a:t>
            </a:r>
            <a:endParaRPr/>
          </a:p>
          <a:p>
            <a:pPr indent="0" lvl="0" marL="0" marR="0" rtl="0" algn="ctr">
              <a:lnSpc>
                <a:spcPct val="125000"/>
              </a:lnSpc>
              <a:spcBef>
                <a:spcPts val="0"/>
              </a:spcBef>
              <a:spcAft>
                <a:spcPts val="0"/>
              </a:spcAft>
              <a:buNone/>
            </a:pPr>
            <a:r>
              <a:rPr b="0" i="0" lang="en-US" sz="950">
                <a:solidFill>
                  <a:srgbClr val="2E7D5B"/>
                </a:solidFill>
                <a:latin typeface="Arial"/>
                <a:ea typeface="Arial"/>
                <a:cs typeface="Arial"/>
                <a:sym typeface="Arial"/>
              </a:rPr>
              <a:t>DEGRADED</a:t>
            </a:r>
            <a:endParaRPr/>
          </a:p>
          <a:p>
            <a:pPr indent="0" lvl="0" marL="0" marR="0" rtl="0" algn="ctr">
              <a:lnSpc>
                <a:spcPct val="125000"/>
              </a:lnSpc>
              <a:spcBef>
                <a:spcPts val="0"/>
              </a:spcBef>
              <a:spcAft>
                <a:spcPts val="0"/>
              </a:spcAft>
              <a:buNone/>
            </a:pPr>
            <a:r>
              <a:rPr b="0" i="0" lang="en-US" sz="950">
                <a:solidFill>
                  <a:srgbClr val="2E7D5B"/>
                </a:solidFill>
                <a:latin typeface="Arial"/>
                <a:ea typeface="Arial"/>
                <a:cs typeface="Arial"/>
                <a:sym typeface="Arial"/>
              </a:rPr>
              <a:t>BUS-OFF RECOVERY</a:t>
            </a:r>
            <a:endParaRPr/>
          </a:p>
        </p:txBody>
      </p:sp>
      <p:cxnSp>
        <p:nvCxnSpPr>
          <p:cNvPr id="290" name="Google Shape;290;p4"/>
          <p:cNvCxnSpPr/>
          <p:nvPr/>
        </p:nvCxnSpPr>
        <p:spPr>
          <a:xfrm>
            <a:off x="2395728" y="2203704"/>
            <a:ext cx="219456"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91" name="Google Shape;291;p4"/>
          <p:cNvCxnSpPr/>
          <p:nvPr/>
        </p:nvCxnSpPr>
        <p:spPr>
          <a:xfrm>
            <a:off x="2395728" y="4370832"/>
            <a:ext cx="219456"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92" name="Google Shape;292;p4"/>
          <p:cNvCxnSpPr/>
          <p:nvPr/>
        </p:nvCxnSpPr>
        <p:spPr>
          <a:xfrm>
            <a:off x="2505456" y="2203704"/>
            <a:ext cx="0" cy="2167128"/>
          </a:xfrm>
          <a:prstGeom prst="straightConnector1">
            <a:avLst/>
          </a:prstGeom>
          <a:noFill/>
          <a:ln cap="flat" cmpd="sng" w="12700">
            <a:solidFill>
              <a:srgbClr val="D3DCE3"/>
            </a:solidFill>
            <a:prstDash val="solid"/>
            <a:round/>
            <a:headEnd len="sm" w="sm" type="none"/>
            <a:tailEnd len="sm" w="sm" type="none"/>
          </a:ln>
          <a:effectLst>
            <a:outerShdw blurRad="40000" rotWithShape="0" dir="5400000" dist="20000">
              <a:srgbClr val="000000">
                <a:alpha val="38039"/>
              </a:srgbClr>
            </a:outerShdw>
          </a:effectLst>
        </p:spPr>
      </p:cxnSp>
      <p:cxnSp>
        <p:nvCxnSpPr>
          <p:cNvPr id="293" name="Google Shape;293;p4"/>
          <p:cNvCxnSpPr/>
          <p:nvPr/>
        </p:nvCxnSpPr>
        <p:spPr>
          <a:xfrm>
            <a:off x="4562855" y="2322576"/>
            <a:ext cx="201169"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94" name="Google Shape;294;p4"/>
          <p:cNvCxnSpPr/>
          <p:nvPr/>
        </p:nvCxnSpPr>
        <p:spPr>
          <a:xfrm>
            <a:off x="4562855" y="3419856"/>
            <a:ext cx="201169"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95" name="Google Shape;295;p4"/>
          <p:cNvCxnSpPr/>
          <p:nvPr/>
        </p:nvCxnSpPr>
        <p:spPr>
          <a:xfrm>
            <a:off x="4562855" y="4517136"/>
            <a:ext cx="201169"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96" name="Google Shape;296;p4"/>
          <p:cNvCxnSpPr/>
          <p:nvPr/>
        </p:nvCxnSpPr>
        <p:spPr>
          <a:xfrm>
            <a:off x="9180576" y="2468880"/>
            <a:ext cx="201168"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97" name="Google Shape;297;p4"/>
          <p:cNvCxnSpPr/>
          <p:nvPr/>
        </p:nvCxnSpPr>
        <p:spPr>
          <a:xfrm>
            <a:off x="9180576" y="4096512"/>
            <a:ext cx="201168"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4"/>
          <p:cNvSpPr txBox="1"/>
          <p:nvPr/>
        </p:nvSpPr>
        <p:spPr>
          <a:xfrm>
            <a:off x="457200" y="5047488"/>
            <a:ext cx="1118612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1" lang="en-US" sz="900">
                <a:solidFill>
                  <a:srgbClr val="8A99A5"/>
                </a:solidFill>
                <a:latin typeface="Arial"/>
                <a:ea typeface="Arial"/>
                <a:cs typeface="Arial"/>
                <a:sym typeface="Arial"/>
              </a:rPr>
              <a:t>The left column is context, not a layer — the inputs and the controller are actors outside the module's software.</a:t>
            </a:r>
            <a:endParaRPr/>
          </a:p>
        </p:txBody>
      </p:sp>
      <p:sp>
        <p:nvSpPr>
          <p:cNvPr id="299" name="Google Shape;299;p4"/>
          <p:cNvSpPr/>
          <p:nvPr/>
        </p:nvSpPr>
        <p:spPr>
          <a:xfrm>
            <a:off x="502920" y="5303520"/>
            <a:ext cx="3545860" cy="1005840"/>
          </a:xfrm>
          <a:prstGeom prst="roundRect">
            <a:avLst>
              <a:gd fmla="val 6363"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4"/>
          <p:cNvSpPr txBox="1"/>
          <p:nvPr/>
        </p:nvSpPr>
        <p:spPr>
          <a:xfrm>
            <a:off x="658368" y="5464454"/>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Three layers, no more</a:t>
            </a:r>
            <a:endParaRPr/>
          </a:p>
        </p:txBody>
      </p:sp>
      <p:sp>
        <p:nvSpPr>
          <p:cNvPr id="301" name="Google Shape;301;p4"/>
          <p:cNvSpPr txBox="1"/>
          <p:nvPr/>
        </p:nvSpPr>
        <p:spPr>
          <a:xfrm>
            <a:off x="658368" y="5706643"/>
            <a:ext cx="3234964" cy="40132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Hardware access, application services, execution control. A fourth layer would buy nothing at this size.</a:t>
            </a:r>
            <a:endParaRPr/>
          </a:p>
        </p:txBody>
      </p:sp>
      <p:sp>
        <p:nvSpPr>
          <p:cNvPr id="302" name="Google Shape;302;p4"/>
          <p:cNvSpPr/>
          <p:nvPr/>
        </p:nvSpPr>
        <p:spPr>
          <a:xfrm>
            <a:off x="4323100" y="5303520"/>
            <a:ext cx="3545860" cy="1005840"/>
          </a:xfrm>
          <a:prstGeom prst="roundRect">
            <a:avLst>
              <a:gd fmla="val 6363"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4"/>
          <p:cNvSpPr txBox="1"/>
          <p:nvPr/>
        </p:nvSpPr>
        <p:spPr>
          <a:xfrm>
            <a:off x="4478548" y="5464454"/>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One owner per piece of state</a:t>
            </a:r>
            <a:endParaRPr/>
          </a:p>
        </p:txBody>
      </p:sp>
      <p:sp>
        <p:nvSpPr>
          <p:cNvPr id="304" name="Google Shape;304;p4"/>
          <p:cNvSpPr txBox="1"/>
          <p:nvPr/>
        </p:nvSpPr>
        <p:spPr>
          <a:xfrm>
            <a:off x="4478548" y="5706643"/>
            <a:ext cx="3234964"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The configuration lives in the Configuration Manager, measurements in the Measurement Manager. No service writes another's data.</a:t>
            </a:r>
            <a:endParaRPr/>
          </a:p>
        </p:txBody>
      </p:sp>
      <p:sp>
        <p:nvSpPr>
          <p:cNvPr id="305" name="Google Shape;305;p4"/>
          <p:cNvSpPr/>
          <p:nvPr/>
        </p:nvSpPr>
        <p:spPr>
          <a:xfrm>
            <a:off x="8143280" y="5303520"/>
            <a:ext cx="3545860" cy="1005840"/>
          </a:xfrm>
          <a:prstGeom prst="roundRect">
            <a:avLst>
              <a:gd fmla="val 6363"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4"/>
          <p:cNvSpPr txBox="1"/>
          <p:nvPr/>
        </p:nvSpPr>
        <p:spPr>
          <a:xfrm>
            <a:off x="8298728" y="5464454"/>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Swap the bottom layer out</a:t>
            </a:r>
            <a:endParaRPr/>
          </a:p>
        </p:txBody>
      </p:sp>
      <p:sp>
        <p:nvSpPr>
          <p:cNvPr id="307" name="Google Shape;307;p4"/>
          <p:cNvSpPr txBox="1"/>
          <p:nvPr/>
        </p:nvSpPr>
        <p:spPr>
          <a:xfrm>
            <a:off x="8298728" y="5706643"/>
            <a:ext cx="3234964" cy="40132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Replace the four HAL modules with fakes and the whole upper stack runs, and is tested, on a host PC.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04 · DATA PATH</a:t>
            </a:r>
            <a:endParaRPr/>
          </a:p>
        </p:txBody>
      </p:sp>
      <p:sp>
        <p:nvSpPr>
          <p:cNvPr id="314" name="Google Shape;314;p5"/>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From timer tick to CAN frame</a:t>
            </a:r>
            <a:endParaRPr/>
          </a:p>
        </p:txBody>
      </p:sp>
      <p:sp>
        <p:nvSpPr>
          <p:cNvPr id="315" name="Google Shape;315;p5"/>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One pipeline serves all four channels. The configured sensor type selects the interpretation, not a separate code path.</a:t>
            </a:r>
            <a:endParaRPr/>
          </a:p>
        </p:txBody>
      </p:sp>
      <p:sp>
        <p:nvSpPr>
          <p:cNvPr id="316" name="Google Shape;316;p5"/>
          <p:cNvSpPr/>
          <p:nvPr/>
        </p:nvSpPr>
        <p:spPr>
          <a:xfrm>
            <a:off x="502920" y="1627632"/>
            <a:ext cx="2039112" cy="868680"/>
          </a:xfrm>
          <a:prstGeom prst="roundRect">
            <a:avLst>
              <a:gd fmla="val 6315" name="adj"/>
            </a:avLst>
          </a:prstGeom>
          <a:solidFill>
            <a:srgbClr val="FFFFFF"/>
          </a:solidFill>
          <a:ln cap="flat" cmpd="sng" w="19050">
            <a:solidFill>
              <a:srgbClr val="2E7D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5"/>
          <p:cNvSpPr txBox="1"/>
          <p:nvPr/>
        </p:nvSpPr>
        <p:spPr>
          <a:xfrm>
            <a:off x="576072" y="1813115"/>
            <a:ext cx="1892807"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2E7D5B"/>
                </a:solidFill>
                <a:latin typeface="Arial"/>
                <a:ea typeface="Arial"/>
                <a:cs typeface="Arial"/>
                <a:sym typeface="Arial"/>
              </a:rPr>
              <a:t>Timer tick</a:t>
            </a:r>
            <a:endParaRPr/>
          </a:p>
        </p:txBody>
      </p:sp>
      <p:sp>
        <p:nvSpPr>
          <p:cNvPr id="318" name="Google Shape;318;p5"/>
          <p:cNvSpPr txBox="1"/>
          <p:nvPr/>
        </p:nvSpPr>
        <p:spPr>
          <a:xfrm>
            <a:off x="576072" y="2072195"/>
            <a:ext cx="1892807"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start of a cycle</a:t>
            </a:r>
            <a:endParaRPr/>
          </a:p>
        </p:txBody>
      </p:sp>
      <p:cxnSp>
        <p:nvCxnSpPr>
          <p:cNvPr id="319" name="Google Shape;319;p5"/>
          <p:cNvCxnSpPr/>
          <p:nvPr/>
        </p:nvCxnSpPr>
        <p:spPr>
          <a:xfrm>
            <a:off x="2583180" y="2061972"/>
            <a:ext cx="164592"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20" name="Google Shape;320;p5"/>
          <p:cNvSpPr/>
          <p:nvPr/>
        </p:nvSpPr>
        <p:spPr>
          <a:xfrm>
            <a:off x="2788920" y="1627632"/>
            <a:ext cx="2039112" cy="868680"/>
          </a:xfrm>
          <a:prstGeom prst="roundRect">
            <a:avLst>
              <a:gd fmla="val 6315"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5"/>
          <p:cNvSpPr txBox="1"/>
          <p:nvPr/>
        </p:nvSpPr>
        <p:spPr>
          <a:xfrm>
            <a:off x="2862072" y="1739519"/>
            <a:ext cx="1892807"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E2721C"/>
                </a:solidFill>
                <a:latin typeface="Arial"/>
                <a:ea typeface="Arial"/>
                <a:cs typeface="Arial"/>
                <a:sym typeface="Arial"/>
              </a:rPr>
              <a:t>Read the ADC</a:t>
            </a:r>
            <a:endParaRPr/>
          </a:p>
        </p:txBody>
      </p:sp>
      <p:sp>
        <p:nvSpPr>
          <p:cNvPr id="322" name="Google Shape;322;p5"/>
          <p:cNvSpPr txBox="1"/>
          <p:nvPr/>
        </p:nvSpPr>
        <p:spPr>
          <a:xfrm>
            <a:off x="2862072" y="1998599"/>
            <a:ext cx="1892807" cy="38582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one blocking scan,</a:t>
            </a:r>
            <a:endParaRPr/>
          </a:p>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all four channels</a:t>
            </a:r>
            <a:endParaRPr/>
          </a:p>
        </p:txBody>
      </p:sp>
      <p:cxnSp>
        <p:nvCxnSpPr>
          <p:cNvPr id="323" name="Google Shape;323;p5"/>
          <p:cNvCxnSpPr/>
          <p:nvPr/>
        </p:nvCxnSpPr>
        <p:spPr>
          <a:xfrm>
            <a:off x="4869179" y="2061972"/>
            <a:ext cx="164592"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24" name="Google Shape;324;p5"/>
          <p:cNvSpPr/>
          <p:nvPr/>
        </p:nvSpPr>
        <p:spPr>
          <a:xfrm>
            <a:off x="5074920" y="1627632"/>
            <a:ext cx="2039112" cy="868680"/>
          </a:xfrm>
          <a:prstGeom prst="roundRect">
            <a:avLst>
              <a:gd fmla="val 6315"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5"/>
          <p:cNvSpPr txBox="1"/>
          <p:nvPr/>
        </p:nvSpPr>
        <p:spPr>
          <a:xfrm>
            <a:off x="5148072" y="1813115"/>
            <a:ext cx="1892807"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13657F"/>
                </a:solidFill>
                <a:latin typeface="Arial"/>
                <a:ea typeface="Arial"/>
                <a:cs typeface="Arial"/>
                <a:sym typeface="Arial"/>
              </a:rPr>
              <a:t>Which type?</a:t>
            </a:r>
            <a:endParaRPr/>
          </a:p>
        </p:txBody>
      </p:sp>
      <p:sp>
        <p:nvSpPr>
          <p:cNvPr id="326" name="Google Shape;326;p5"/>
          <p:cNvSpPr txBox="1"/>
          <p:nvPr/>
        </p:nvSpPr>
        <p:spPr>
          <a:xfrm>
            <a:off x="5148072" y="2072195"/>
            <a:ext cx="1892807"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look up the setting</a:t>
            </a:r>
            <a:endParaRPr/>
          </a:p>
        </p:txBody>
      </p:sp>
      <p:cxnSp>
        <p:nvCxnSpPr>
          <p:cNvPr id="327" name="Google Shape;327;p5"/>
          <p:cNvCxnSpPr/>
          <p:nvPr/>
        </p:nvCxnSpPr>
        <p:spPr>
          <a:xfrm>
            <a:off x="7155179" y="2061972"/>
            <a:ext cx="164592"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28" name="Google Shape;328;p5"/>
          <p:cNvSpPr/>
          <p:nvPr/>
        </p:nvSpPr>
        <p:spPr>
          <a:xfrm>
            <a:off x="7360920" y="1627632"/>
            <a:ext cx="2039112" cy="868680"/>
          </a:xfrm>
          <a:prstGeom prst="roundRect">
            <a:avLst>
              <a:gd fmla="val 6315"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5"/>
          <p:cNvSpPr txBox="1"/>
          <p:nvPr/>
        </p:nvSpPr>
        <p:spPr>
          <a:xfrm>
            <a:off x="7434072" y="1813115"/>
            <a:ext cx="1892807"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13657F"/>
                </a:solidFill>
                <a:latin typeface="Arial"/>
                <a:ea typeface="Arial"/>
                <a:cs typeface="Arial"/>
                <a:sym typeface="Arial"/>
              </a:rPr>
              <a:t>Convert + check</a:t>
            </a:r>
            <a:endParaRPr/>
          </a:p>
        </p:txBody>
      </p:sp>
      <p:sp>
        <p:nvSpPr>
          <p:cNvPr id="330" name="Google Shape;330;p5"/>
          <p:cNvSpPr txBox="1"/>
          <p:nvPr/>
        </p:nvSpPr>
        <p:spPr>
          <a:xfrm>
            <a:off x="7434072" y="2072195"/>
            <a:ext cx="1892807"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raw count → value</a:t>
            </a:r>
            <a:endParaRPr/>
          </a:p>
        </p:txBody>
      </p:sp>
      <p:cxnSp>
        <p:nvCxnSpPr>
          <p:cNvPr id="331" name="Google Shape;331;p5"/>
          <p:cNvCxnSpPr/>
          <p:nvPr/>
        </p:nvCxnSpPr>
        <p:spPr>
          <a:xfrm>
            <a:off x="9441180" y="2061972"/>
            <a:ext cx="164592"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32" name="Google Shape;332;p5"/>
          <p:cNvSpPr/>
          <p:nvPr/>
        </p:nvSpPr>
        <p:spPr>
          <a:xfrm>
            <a:off x="9646920" y="1627632"/>
            <a:ext cx="2039112" cy="868680"/>
          </a:xfrm>
          <a:prstGeom prst="roundRect">
            <a:avLst>
              <a:gd fmla="val 6315"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5"/>
          <p:cNvSpPr txBox="1"/>
          <p:nvPr/>
        </p:nvSpPr>
        <p:spPr>
          <a:xfrm>
            <a:off x="9720072" y="1813115"/>
            <a:ext cx="1892807"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2E75B6"/>
                </a:solidFill>
                <a:latin typeface="Arial"/>
                <a:ea typeface="Arial"/>
                <a:cs typeface="Arial"/>
                <a:sym typeface="Arial"/>
              </a:rPr>
              <a:t>Publish on CAN</a:t>
            </a:r>
            <a:endParaRPr/>
          </a:p>
        </p:txBody>
      </p:sp>
      <p:sp>
        <p:nvSpPr>
          <p:cNvPr id="334" name="Google Shape;334;p5"/>
          <p:cNvSpPr txBox="1"/>
          <p:nvPr/>
        </p:nvSpPr>
        <p:spPr>
          <a:xfrm>
            <a:off x="9720072" y="2072195"/>
            <a:ext cx="1892807"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value + status</a:t>
            </a:r>
            <a:endParaRPr/>
          </a:p>
        </p:txBody>
      </p:sp>
      <p:cxnSp>
        <p:nvCxnSpPr>
          <p:cNvPr id="335" name="Google Shape;335;p5"/>
          <p:cNvCxnSpPr/>
          <p:nvPr/>
        </p:nvCxnSpPr>
        <p:spPr>
          <a:xfrm>
            <a:off x="6094476" y="2496312"/>
            <a:ext cx="0" cy="265176"/>
          </a:xfrm>
          <a:prstGeom prst="straightConnector1">
            <a:avLst/>
          </a:prstGeom>
          <a:noFill/>
          <a:ln cap="flat" cmpd="sng" w="19050">
            <a:solidFill>
              <a:srgbClr val="13657F"/>
            </a:solidFill>
            <a:prstDash val="solid"/>
            <a:round/>
            <a:headEnd len="sm" w="sm" type="none"/>
            <a:tailEnd len="sm" w="sm" type="none"/>
          </a:ln>
          <a:effectLst>
            <a:outerShdw blurRad="40000" rotWithShape="0" dir="5400000" dist="20000">
              <a:srgbClr val="000000">
                <a:alpha val="38039"/>
              </a:srgbClr>
            </a:outerShdw>
          </a:effectLst>
        </p:spPr>
      </p:cxnSp>
      <p:cxnSp>
        <p:nvCxnSpPr>
          <p:cNvPr id="336" name="Google Shape;336;p5"/>
          <p:cNvCxnSpPr/>
          <p:nvPr/>
        </p:nvCxnSpPr>
        <p:spPr>
          <a:xfrm>
            <a:off x="6094476" y="2761488"/>
            <a:ext cx="1645920" cy="0"/>
          </a:xfrm>
          <a:prstGeom prst="straightConnector1">
            <a:avLst/>
          </a:prstGeom>
          <a:noFill/>
          <a:ln cap="flat" cmpd="sng" w="19050">
            <a:solidFill>
              <a:srgbClr val="13657F"/>
            </a:solidFill>
            <a:prstDash val="solid"/>
            <a:round/>
            <a:headEnd len="sm" w="sm" type="none"/>
            <a:tailEnd len="sm" w="sm" type="none"/>
          </a:ln>
          <a:effectLst>
            <a:outerShdw blurRad="40000" rotWithShape="0" dir="5400000" dist="20000">
              <a:srgbClr val="000000">
                <a:alpha val="38039"/>
              </a:srgbClr>
            </a:outerShdw>
          </a:effectLst>
        </p:spPr>
      </p:cxnSp>
      <p:cxnSp>
        <p:nvCxnSpPr>
          <p:cNvPr id="337" name="Google Shape;337;p5"/>
          <p:cNvCxnSpPr/>
          <p:nvPr/>
        </p:nvCxnSpPr>
        <p:spPr>
          <a:xfrm>
            <a:off x="7740396" y="2761488"/>
            <a:ext cx="0" cy="164592"/>
          </a:xfrm>
          <a:prstGeom prst="straightConnector1">
            <a:avLst/>
          </a:prstGeom>
          <a:noFill/>
          <a:ln cap="flat" cmpd="sng" w="19050">
            <a:solidFill>
              <a:srgbClr val="13657F"/>
            </a:solidFill>
            <a:prstDash val="solid"/>
            <a:round/>
            <a:headEnd len="sm" w="sm" type="none"/>
            <a:tailEnd len="med" w="med" type="triangle"/>
          </a:ln>
          <a:effectLst>
            <a:outerShdw blurRad="40000" rotWithShape="0" dir="5400000" dist="20000">
              <a:srgbClr val="000000">
                <a:alpha val="38039"/>
              </a:srgbClr>
            </a:outerShdw>
          </a:effectLst>
        </p:spPr>
      </p:cxnSp>
      <p:sp>
        <p:nvSpPr>
          <p:cNvPr id="338" name="Google Shape;338;p5"/>
          <p:cNvSpPr/>
          <p:nvPr/>
        </p:nvSpPr>
        <p:spPr>
          <a:xfrm>
            <a:off x="3794760" y="2971800"/>
            <a:ext cx="7891272" cy="1417320"/>
          </a:xfrm>
          <a:prstGeom prst="roundRect">
            <a:avLst>
              <a:gd fmla="val 4516" name="adj"/>
            </a:avLst>
          </a:prstGeom>
          <a:solidFill>
            <a:srgbClr val="EDF3F8"/>
          </a:solidFill>
          <a:ln cap="flat" cmpd="sng" w="9525">
            <a:solidFill>
              <a:srgbClr val="C4D8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5"/>
          <p:cNvSpPr txBox="1"/>
          <p:nvPr/>
        </p:nvSpPr>
        <p:spPr>
          <a:xfrm>
            <a:off x="3913632" y="3072384"/>
            <a:ext cx="731520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0F3A5F"/>
                </a:solidFill>
                <a:latin typeface="Arial"/>
                <a:ea typeface="Arial"/>
                <a:cs typeface="Arial"/>
                <a:sym typeface="Arial"/>
              </a:rPr>
              <a:t>THE CHANNEL SETTING DECIDES THE CONVERSION</a:t>
            </a:r>
            <a:endParaRPr/>
          </a:p>
        </p:txBody>
      </p:sp>
      <p:sp>
        <p:nvSpPr>
          <p:cNvPr id="340" name="Google Shape;340;p5"/>
          <p:cNvSpPr/>
          <p:nvPr/>
        </p:nvSpPr>
        <p:spPr>
          <a:xfrm>
            <a:off x="3959352" y="3364992"/>
            <a:ext cx="1764792" cy="914400"/>
          </a:xfrm>
          <a:prstGeom prst="roundRect">
            <a:avLst>
              <a:gd fmla="val 6000"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5"/>
          <p:cNvSpPr txBox="1"/>
          <p:nvPr/>
        </p:nvSpPr>
        <p:spPr>
          <a:xfrm>
            <a:off x="4032504" y="3526853"/>
            <a:ext cx="1618488"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E2721C"/>
                </a:solidFill>
                <a:latin typeface="Arial"/>
                <a:ea typeface="Arial"/>
                <a:cs typeface="Arial"/>
                <a:sym typeface="Arial"/>
              </a:rPr>
              <a:t>TEMPERATURE</a:t>
            </a:r>
            <a:endParaRPr/>
          </a:p>
        </p:txBody>
      </p:sp>
      <p:sp>
        <p:nvSpPr>
          <p:cNvPr id="342" name="Google Shape;342;p5"/>
          <p:cNvSpPr txBox="1"/>
          <p:nvPr/>
        </p:nvSpPr>
        <p:spPr>
          <a:xfrm>
            <a:off x="4032504" y="3762692"/>
            <a:ext cx="1618488" cy="35483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raw → input voltage →</a:t>
            </a:r>
            <a:endParaRPr/>
          </a:p>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temperature, by lookup</a:t>
            </a:r>
            <a:endParaRPr/>
          </a:p>
        </p:txBody>
      </p:sp>
      <p:sp>
        <p:nvSpPr>
          <p:cNvPr id="343" name="Google Shape;343;p5"/>
          <p:cNvSpPr/>
          <p:nvPr/>
        </p:nvSpPr>
        <p:spPr>
          <a:xfrm>
            <a:off x="5888736" y="3364992"/>
            <a:ext cx="1764792" cy="914400"/>
          </a:xfrm>
          <a:prstGeom prst="roundRect">
            <a:avLst>
              <a:gd fmla="val 6000"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5"/>
          <p:cNvSpPr txBox="1"/>
          <p:nvPr/>
        </p:nvSpPr>
        <p:spPr>
          <a:xfrm>
            <a:off x="5961888" y="3526853"/>
            <a:ext cx="1618488"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E2721C"/>
                </a:solidFill>
                <a:latin typeface="Arial"/>
                <a:ea typeface="Arial"/>
                <a:cs typeface="Arial"/>
                <a:sym typeface="Arial"/>
              </a:rPr>
              <a:t>CURRENT</a:t>
            </a:r>
            <a:endParaRPr/>
          </a:p>
        </p:txBody>
      </p:sp>
      <p:sp>
        <p:nvSpPr>
          <p:cNvPr id="345" name="Google Shape;345;p5"/>
          <p:cNvSpPr txBox="1"/>
          <p:nvPr/>
        </p:nvSpPr>
        <p:spPr>
          <a:xfrm>
            <a:off x="5961888" y="3762692"/>
            <a:ext cx="1618488" cy="35483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raw → input voltage →</a:t>
            </a:r>
            <a:endParaRPr/>
          </a:p>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amps, by fixed shunt model</a:t>
            </a:r>
            <a:endParaRPr/>
          </a:p>
        </p:txBody>
      </p:sp>
      <p:sp>
        <p:nvSpPr>
          <p:cNvPr id="346" name="Google Shape;346;p5"/>
          <p:cNvSpPr/>
          <p:nvPr/>
        </p:nvSpPr>
        <p:spPr>
          <a:xfrm>
            <a:off x="7818120" y="3364992"/>
            <a:ext cx="1764792" cy="914400"/>
          </a:xfrm>
          <a:prstGeom prst="roundRect">
            <a:avLst>
              <a:gd fmla="val 6000"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5"/>
          <p:cNvSpPr txBox="1"/>
          <p:nvPr/>
        </p:nvSpPr>
        <p:spPr>
          <a:xfrm>
            <a:off x="7891272" y="3526853"/>
            <a:ext cx="1618488"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E2721C"/>
                </a:solidFill>
                <a:latin typeface="Arial"/>
                <a:ea typeface="Arial"/>
                <a:cs typeface="Arial"/>
                <a:sym typeface="Arial"/>
              </a:rPr>
              <a:t>VOLTAGE</a:t>
            </a:r>
            <a:endParaRPr/>
          </a:p>
        </p:txBody>
      </p:sp>
      <p:sp>
        <p:nvSpPr>
          <p:cNvPr id="348" name="Google Shape;348;p5"/>
          <p:cNvSpPr txBox="1"/>
          <p:nvPr/>
        </p:nvSpPr>
        <p:spPr>
          <a:xfrm>
            <a:off x="7891272" y="3762692"/>
            <a:ext cx="1618488" cy="35483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raw → input voltage →</a:t>
            </a:r>
            <a:endParaRPr/>
          </a:p>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volts, by fixed divider ratio</a:t>
            </a:r>
            <a:endParaRPr/>
          </a:p>
        </p:txBody>
      </p:sp>
      <p:sp>
        <p:nvSpPr>
          <p:cNvPr id="349" name="Google Shape;349;p5"/>
          <p:cNvSpPr/>
          <p:nvPr/>
        </p:nvSpPr>
        <p:spPr>
          <a:xfrm>
            <a:off x="9747504" y="3364992"/>
            <a:ext cx="1764792" cy="914400"/>
          </a:xfrm>
          <a:prstGeom prst="roundRect">
            <a:avLst>
              <a:gd fmla="val 6000" name="adj"/>
            </a:avLst>
          </a:prstGeom>
          <a:solidFill>
            <a:srgbClr val="FFFFFF"/>
          </a:solidFill>
          <a:ln cap="flat" cmpd="sng" w="19050">
            <a:solidFill>
              <a:srgbClr val="5B6B7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5"/>
          <p:cNvSpPr txBox="1"/>
          <p:nvPr/>
        </p:nvSpPr>
        <p:spPr>
          <a:xfrm>
            <a:off x="9820656" y="3526853"/>
            <a:ext cx="1618488"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5B6B77"/>
                </a:solidFill>
                <a:latin typeface="Arial"/>
                <a:ea typeface="Arial"/>
                <a:cs typeface="Arial"/>
                <a:sym typeface="Arial"/>
              </a:rPr>
              <a:t>DISABLED</a:t>
            </a:r>
            <a:endParaRPr/>
          </a:p>
        </p:txBody>
      </p:sp>
      <p:sp>
        <p:nvSpPr>
          <p:cNvPr id="351" name="Google Shape;351;p5"/>
          <p:cNvSpPr txBox="1"/>
          <p:nvPr/>
        </p:nvSpPr>
        <p:spPr>
          <a:xfrm>
            <a:off x="9820656" y="3762692"/>
            <a:ext cx="1618488" cy="35483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no conversion runs;</a:t>
            </a:r>
            <a:endParaRPr/>
          </a:p>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status only, never a value</a:t>
            </a:r>
            <a:endParaRPr/>
          </a:p>
        </p:txBody>
      </p:sp>
      <p:sp>
        <p:nvSpPr>
          <p:cNvPr id="352" name="Google Shape;352;p5"/>
          <p:cNvSpPr/>
          <p:nvPr/>
        </p:nvSpPr>
        <p:spPr>
          <a:xfrm>
            <a:off x="502920" y="2971800"/>
            <a:ext cx="3063240" cy="1417320"/>
          </a:xfrm>
          <a:prstGeom prst="roundRect">
            <a:avLst>
              <a:gd fmla="val 4516"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5"/>
          <p:cNvSpPr txBox="1"/>
          <p:nvPr/>
        </p:nvSpPr>
        <p:spPr>
          <a:xfrm>
            <a:off x="658368" y="3132734"/>
            <a:ext cx="275234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E2721C"/>
                </a:solidFill>
                <a:latin typeface="Arial"/>
                <a:ea typeface="Arial"/>
                <a:cs typeface="Arial"/>
                <a:sym typeface="Arial"/>
              </a:rPr>
              <a:t>If a value is out of range</a:t>
            </a:r>
            <a:endParaRPr/>
          </a:p>
        </p:txBody>
      </p:sp>
      <p:sp>
        <p:nvSpPr>
          <p:cNvPr id="354" name="Google Shape;354;p5"/>
          <p:cNvSpPr txBox="1"/>
          <p:nvPr/>
        </p:nvSpPr>
        <p:spPr>
          <a:xfrm>
            <a:off x="658368" y="3374923"/>
            <a:ext cx="2752344"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Mark that channel invalid and report it. Never publish a wrong number as though it were good.</a:t>
            </a:r>
            <a:endParaRPr/>
          </a:p>
        </p:txBody>
      </p:sp>
      <p:sp>
        <p:nvSpPr>
          <p:cNvPr id="355" name="Google Shape;355;p5"/>
          <p:cNvSpPr/>
          <p:nvPr/>
        </p:nvSpPr>
        <p:spPr>
          <a:xfrm>
            <a:off x="502920" y="4617720"/>
            <a:ext cx="11186129" cy="1170432"/>
          </a:xfrm>
          <a:prstGeom prst="roundRect">
            <a:avLst>
              <a:gd fmla="val 5468"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5"/>
          <p:cNvSpPr txBox="1"/>
          <p:nvPr/>
        </p:nvSpPr>
        <p:spPr>
          <a:xfrm>
            <a:off x="658368" y="4718304"/>
            <a:ext cx="731520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WORKED EXAMPLE — CH2 CONFIGURED AS CURRENT</a:t>
            </a:r>
            <a:endParaRPr/>
          </a:p>
        </p:txBody>
      </p:sp>
      <p:sp>
        <p:nvSpPr>
          <p:cNvPr id="357" name="Google Shape;357;p5"/>
          <p:cNvSpPr/>
          <p:nvPr/>
        </p:nvSpPr>
        <p:spPr>
          <a:xfrm>
            <a:off x="704088" y="5010912"/>
            <a:ext cx="1936699" cy="621792"/>
          </a:xfrm>
          <a:prstGeom prst="roundRect">
            <a:avLst>
              <a:gd fmla="val 8823"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5"/>
          <p:cNvSpPr txBox="1"/>
          <p:nvPr/>
        </p:nvSpPr>
        <p:spPr>
          <a:xfrm>
            <a:off x="777240" y="5092319"/>
            <a:ext cx="1790395"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Shunt + amp</a:t>
            </a:r>
            <a:endParaRPr/>
          </a:p>
        </p:txBody>
      </p:sp>
      <p:sp>
        <p:nvSpPr>
          <p:cNvPr id="359" name="Google Shape;359;p5"/>
          <p:cNvSpPr txBox="1"/>
          <p:nvPr/>
        </p:nvSpPr>
        <p:spPr>
          <a:xfrm>
            <a:off x="777240" y="5328158"/>
            <a:ext cx="1790395" cy="22313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0.84 V at the pin</a:t>
            </a:r>
            <a:endParaRPr/>
          </a:p>
        </p:txBody>
      </p:sp>
      <p:cxnSp>
        <p:nvCxnSpPr>
          <p:cNvPr id="360" name="Google Shape;360;p5"/>
          <p:cNvCxnSpPr/>
          <p:nvPr/>
        </p:nvCxnSpPr>
        <p:spPr>
          <a:xfrm>
            <a:off x="2686507" y="5321808"/>
            <a:ext cx="182880"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61" name="Google Shape;361;p5"/>
          <p:cNvSpPr/>
          <p:nvPr/>
        </p:nvSpPr>
        <p:spPr>
          <a:xfrm>
            <a:off x="2915107" y="5010912"/>
            <a:ext cx="1936699" cy="621792"/>
          </a:xfrm>
          <a:prstGeom prst="roundRect">
            <a:avLst>
              <a:gd fmla="val 8823"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5"/>
          <p:cNvSpPr txBox="1"/>
          <p:nvPr/>
        </p:nvSpPr>
        <p:spPr>
          <a:xfrm>
            <a:off x="2988259" y="5092319"/>
            <a:ext cx="1790395"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ADC</a:t>
            </a:r>
            <a:endParaRPr/>
          </a:p>
        </p:txBody>
      </p:sp>
      <p:sp>
        <p:nvSpPr>
          <p:cNvPr id="363" name="Google Shape;363;p5"/>
          <p:cNvSpPr txBox="1"/>
          <p:nvPr/>
        </p:nvSpPr>
        <p:spPr>
          <a:xfrm>
            <a:off x="2988259" y="5328158"/>
            <a:ext cx="1790395" cy="22313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raw count 1042</a:t>
            </a:r>
            <a:endParaRPr/>
          </a:p>
        </p:txBody>
      </p:sp>
      <p:cxnSp>
        <p:nvCxnSpPr>
          <p:cNvPr id="364" name="Google Shape;364;p5"/>
          <p:cNvCxnSpPr/>
          <p:nvPr/>
        </p:nvCxnSpPr>
        <p:spPr>
          <a:xfrm>
            <a:off x="4897526" y="5321808"/>
            <a:ext cx="182880"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65" name="Google Shape;365;p5"/>
          <p:cNvSpPr/>
          <p:nvPr/>
        </p:nvSpPr>
        <p:spPr>
          <a:xfrm>
            <a:off x="5126126" y="5010912"/>
            <a:ext cx="1936699" cy="621792"/>
          </a:xfrm>
          <a:prstGeom prst="roundRect">
            <a:avLst>
              <a:gd fmla="val 8823"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5"/>
          <p:cNvSpPr txBox="1"/>
          <p:nvPr/>
        </p:nvSpPr>
        <p:spPr>
          <a:xfrm>
            <a:off x="5199278" y="5092319"/>
            <a:ext cx="1790395"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Sensor Converter</a:t>
            </a:r>
            <a:endParaRPr/>
          </a:p>
        </p:txBody>
      </p:sp>
      <p:sp>
        <p:nvSpPr>
          <p:cNvPr id="367" name="Google Shape;367;p5"/>
          <p:cNvSpPr txBox="1"/>
          <p:nvPr/>
        </p:nvSpPr>
        <p:spPr>
          <a:xfrm>
            <a:off x="5199278" y="5328158"/>
            <a:ext cx="1790395" cy="22313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fixed gain applied</a:t>
            </a:r>
            <a:endParaRPr/>
          </a:p>
        </p:txBody>
      </p:sp>
      <p:cxnSp>
        <p:nvCxnSpPr>
          <p:cNvPr id="368" name="Google Shape;368;p5"/>
          <p:cNvCxnSpPr/>
          <p:nvPr/>
        </p:nvCxnSpPr>
        <p:spPr>
          <a:xfrm>
            <a:off x="7108545" y="5321808"/>
            <a:ext cx="182880"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69" name="Google Shape;369;p5"/>
          <p:cNvSpPr/>
          <p:nvPr/>
        </p:nvSpPr>
        <p:spPr>
          <a:xfrm>
            <a:off x="7337145" y="5010912"/>
            <a:ext cx="1936699" cy="621792"/>
          </a:xfrm>
          <a:prstGeom prst="roundRect">
            <a:avLst>
              <a:gd fmla="val 8823"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5"/>
          <p:cNvSpPr txBox="1"/>
          <p:nvPr/>
        </p:nvSpPr>
        <p:spPr>
          <a:xfrm>
            <a:off x="7410297" y="5092319"/>
            <a:ext cx="1790395"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2E75B6"/>
                </a:solidFill>
                <a:latin typeface="Arial"/>
                <a:ea typeface="Arial"/>
                <a:cs typeface="Arial"/>
                <a:sym typeface="Arial"/>
              </a:rPr>
              <a:t>18.5 A</a:t>
            </a:r>
            <a:endParaRPr/>
          </a:p>
        </p:txBody>
      </p:sp>
      <p:sp>
        <p:nvSpPr>
          <p:cNvPr id="371" name="Google Shape;371;p5"/>
          <p:cNvSpPr txBox="1"/>
          <p:nvPr/>
        </p:nvSpPr>
        <p:spPr>
          <a:xfrm>
            <a:off x="7410297" y="5328158"/>
            <a:ext cx="1790395" cy="22313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status OK</a:t>
            </a:r>
            <a:endParaRPr/>
          </a:p>
        </p:txBody>
      </p:sp>
      <p:cxnSp>
        <p:nvCxnSpPr>
          <p:cNvPr id="372" name="Google Shape;372;p5"/>
          <p:cNvCxnSpPr/>
          <p:nvPr/>
        </p:nvCxnSpPr>
        <p:spPr>
          <a:xfrm>
            <a:off x="9319564" y="5321808"/>
            <a:ext cx="182880"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373" name="Google Shape;373;p5"/>
          <p:cNvSpPr/>
          <p:nvPr/>
        </p:nvSpPr>
        <p:spPr>
          <a:xfrm>
            <a:off x="9548164" y="5010912"/>
            <a:ext cx="1936699" cy="621792"/>
          </a:xfrm>
          <a:prstGeom prst="roundRect">
            <a:avLst>
              <a:gd fmla="val 8823"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5"/>
          <p:cNvSpPr txBox="1"/>
          <p:nvPr/>
        </p:nvSpPr>
        <p:spPr>
          <a:xfrm>
            <a:off x="9621316" y="5092319"/>
            <a:ext cx="1790395" cy="254127"/>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2E75B6"/>
                </a:solidFill>
                <a:latin typeface="Arial"/>
                <a:ea typeface="Arial"/>
                <a:cs typeface="Arial"/>
                <a:sym typeface="Arial"/>
              </a:rPr>
              <a:t>CAN frame</a:t>
            </a:r>
            <a:endParaRPr/>
          </a:p>
        </p:txBody>
      </p:sp>
      <p:sp>
        <p:nvSpPr>
          <p:cNvPr id="375" name="Google Shape;375;p5"/>
          <p:cNvSpPr txBox="1"/>
          <p:nvPr/>
        </p:nvSpPr>
        <p:spPr>
          <a:xfrm>
            <a:off x="9621316" y="5328158"/>
            <a:ext cx="1790395" cy="22313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value + status</a:t>
            </a:r>
            <a:endParaRPr/>
          </a:p>
        </p:txBody>
      </p:sp>
      <p:sp>
        <p:nvSpPr>
          <p:cNvPr id="376" name="Google Shape;376;p5"/>
          <p:cNvSpPr txBox="1"/>
          <p:nvPr/>
        </p:nvSpPr>
        <p:spPr>
          <a:xfrm>
            <a:off x="457200" y="5925312"/>
            <a:ext cx="11186129" cy="23774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0F3A5F"/>
                </a:solidFill>
                <a:latin typeface="Arial"/>
                <a:ea typeface="Arial"/>
                <a:cs typeface="Arial"/>
                <a:sym typeface="Arial"/>
              </a:rPr>
              <a:t>Disabled is a channel state, not a fourth conversion — a disabled channel publishes its status and no value at all.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05 · CONFIGURATION</a:t>
            </a:r>
            <a:endParaRPr/>
          </a:p>
        </p:txBody>
      </p:sp>
      <p:sp>
        <p:nvSpPr>
          <p:cNvPr id="383" name="Google Shape;383;p6"/>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Changing a channel type, safely</a:t>
            </a:r>
            <a:endParaRPr/>
          </a:p>
        </p:txBody>
      </p:sp>
      <p:sp>
        <p:nvSpPr>
          <p:cNvPr id="384" name="Google Shape;384;p6"/>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The acknowledgement is sent only after the new record is committed to non-volatile memory.</a:t>
            </a:r>
            <a:endParaRPr/>
          </a:p>
        </p:txBody>
      </p:sp>
      <p:sp>
        <p:nvSpPr>
          <p:cNvPr id="385" name="Google Shape;385;p6"/>
          <p:cNvSpPr/>
          <p:nvPr/>
        </p:nvSpPr>
        <p:spPr>
          <a:xfrm>
            <a:off x="502920" y="1572768"/>
            <a:ext cx="2011680" cy="530352"/>
          </a:xfrm>
          <a:prstGeom prst="roundRect">
            <a:avLst>
              <a:gd fmla="val 10344" name="adj"/>
            </a:avLst>
          </a:prstGeom>
          <a:solidFill>
            <a:srgbClr val="EDF3F8"/>
          </a:solidFill>
          <a:ln cap="flat" cmpd="sng" w="15875">
            <a:solidFill>
              <a:srgbClr val="0F3A5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6"/>
          <p:cNvSpPr txBox="1"/>
          <p:nvPr/>
        </p:nvSpPr>
        <p:spPr>
          <a:xfrm>
            <a:off x="557784" y="1572768"/>
            <a:ext cx="1901952" cy="530352"/>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0F3A5F"/>
                </a:solidFill>
                <a:latin typeface="Arial"/>
                <a:ea typeface="Arial"/>
                <a:cs typeface="Arial"/>
                <a:sym typeface="Arial"/>
              </a:rPr>
              <a:t>Fuel-cell</a:t>
            </a:r>
            <a:endParaRPr/>
          </a:p>
          <a:p>
            <a:pPr indent="0" lvl="0" marL="0" marR="0" rtl="0" algn="ctr">
              <a:lnSpc>
                <a:spcPct val="101666"/>
              </a:lnSpc>
              <a:spcBef>
                <a:spcPts val="0"/>
              </a:spcBef>
              <a:spcAft>
                <a:spcPts val="0"/>
              </a:spcAft>
              <a:buNone/>
            </a:pPr>
            <a:r>
              <a:rPr b="1" i="0" lang="en-US" sz="1050">
                <a:solidFill>
                  <a:srgbClr val="0F3A5F"/>
                </a:solidFill>
                <a:latin typeface="Arial"/>
                <a:ea typeface="Arial"/>
                <a:cs typeface="Arial"/>
                <a:sym typeface="Arial"/>
              </a:rPr>
              <a:t>controller</a:t>
            </a:r>
            <a:endParaRPr/>
          </a:p>
        </p:txBody>
      </p:sp>
      <p:cxnSp>
        <p:nvCxnSpPr>
          <p:cNvPr id="387" name="Google Shape;387;p6"/>
          <p:cNvCxnSpPr/>
          <p:nvPr/>
        </p:nvCxnSpPr>
        <p:spPr>
          <a:xfrm>
            <a:off x="1508760" y="2103120"/>
            <a:ext cx="0" cy="2487168"/>
          </a:xfrm>
          <a:prstGeom prst="straightConnector1">
            <a:avLst/>
          </a:prstGeom>
          <a:noFill/>
          <a:ln cap="flat" cmpd="sng" w="12700">
            <a:solidFill>
              <a:srgbClr val="D3DCE3"/>
            </a:solidFill>
            <a:prstDash val="dash"/>
            <a:round/>
            <a:headEnd len="sm" w="sm" type="none"/>
            <a:tailEnd len="sm" w="sm" type="none"/>
          </a:ln>
          <a:effectLst>
            <a:outerShdw blurRad="40000" rotWithShape="0" dir="5400000" dist="20000">
              <a:srgbClr val="000000">
                <a:alpha val="38039"/>
              </a:srgbClr>
            </a:outerShdw>
          </a:effectLst>
        </p:spPr>
      </p:cxnSp>
      <p:sp>
        <p:nvSpPr>
          <p:cNvPr id="388" name="Google Shape;388;p6"/>
          <p:cNvSpPr/>
          <p:nvPr/>
        </p:nvSpPr>
        <p:spPr>
          <a:xfrm>
            <a:off x="2788920" y="1572768"/>
            <a:ext cx="2011680" cy="530352"/>
          </a:xfrm>
          <a:prstGeom prst="roundRect">
            <a:avLst>
              <a:gd fmla="val 10344" name="adj"/>
            </a:avLst>
          </a:prstGeom>
          <a:solidFill>
            <a:srgbClr val="FFFFFF"/>
          </a:solidFill>
          <a:ln cap="flat" cmpd="sng" w="15875">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6"/>
          <p:cNvSpPr txBox="1"/>
          <p:nvPr/>
        </p:nvSpPr>
        <p:spPr>
          <a:xfrm>
            <a:off x="2843784" y="1572768"/>
            <a:ext cx="1901952" cy="530352"/>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CAN Protocol</a:t>
            </a:r>
            <a:endParaRPr/>
          </a:p>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Manager</a:t>
            </a:r>
            <a:endParaRPr/>
          </a:p>
        </p:txBody>
      </p:sp>
      <p:cxnSp>
        <p:nvCxnSpPr>
          <p:cNvPr id="390" name="Google Shape;390;p6"/>
          <p:cNvCxnSpPr/>
          <p:nvPr/>
        </p:nvCxnSpPr>
        <p:spPr>
          <a:xfrm>
            <a:off x="3794760" y="2103120"/>
            <a:ext cx="0" cy="2487168"/>
          </a:xfrm>
          <a:prstGeom prst="straightConnector1">
            <a:avLst/>
          </a:prstGeom>
          <a:noFill/>
          <a:ln cap="flat" cmpd="sng" w="12700">
            <a:solidFill>
              <a:srgbClr val="D3DCE3"/>
            </a:solidFill>
            <a:prstDash val="dash"/>
            <a:round/>
            <a:headEnd len="sm" w="sm" type="none"/>
            <a:tailEnd len="sm" w="sm" type="none"/>
          </a:ln>
          <a:effectLst>
            <a:outerShdw blurRad="40000" rotWithShape="0" dir="5400000" dist="20000">
              <a:srgbClr val="000000">
                <a:alpha val="38039"/>
              </a:srgbClr>
            </a:outerShdw>
          </a:effectLst>
        </p:spPr>
      </p:cxnSp>
      <p:sp>
        <p:nvSpPr>
          <p:cNvPr id="391" name="Google Shape;391;p6"/>
          <p:cNvSpPr/>
          <p:nvPr/>
        </p:nvSpPr>
        <p:spPr>
          <a:xfrm>
            <a:off x="5074920" y="1572768"/>
            <a:ext cx="2011680" cy="530352"/>
          </a:xfrm>
          <a:prstGeom prst="roundRect">
            <a:avLst>
              <a:gd fmla="val 10344" name="adj"/>
            </a:avLst>
          </a:prstGeom>
          <a:solidFill>
            <a:srgbClr val="FFFFFF"/>
          </a:solidFill>
          <a:ln cap="flat" cmpd="sng" w="15875">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6"/>
          <p:cNvSpPr txBox="1"/>
          <p:nvPr/>
        </p:nvSpPr>
        <p:spPr>
          <a:xfrm>
            <a:off x="5129783" y="1572768"/>
            <a:ext cx="1901952" cy="530352"/>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Configuration</a:t>
            </a:r>
            <a:endParaRPr/>
          </a:p>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Manager</a:t>
            </a:r>
            <a:endParaRPr/>
          </a:p>
        </p:txBody>
      </p:sp>
      <p:cxnSp>
        <p:nvCxnSpPr>
          <p:cNvPr id="393" name="Google Shape;393;p6"/>
          <p:cNvCxnSpPr/>
          <p:nvPr/>
        </p:nvCxnSpPr>
        <p:spPr>
          <a:xfrm>
            <a:off x="6080760" y="2103120"/>
            <a:ext cx="0" cy="2487168"/>
          </a:xfrm>
          <a:prstGeom prst="straightConnector1">
            <a:avLst/>
          </a:prstGeom>
          <a:noFill/>
          <a:ln cap="flat" cmpd="sng" w="12700">
            <a:solidFill>
              <a:srgbClr val="D3DCE3"/>
            </a:solidFill>
            <a:prstDash val="dash"/>
            <a:round/>
            <a:headEnd len="sm" w="sm" type="none"/>
            <a:tailEnd len="sm" w="sm" type="none"/>
          </a:ln>
          <a:effectLst>
            <a:outerShdw blurRad="40000" rotWithShape="0" dir="5400000" dist="20000">
              <a:srgbClr val="000000">
                <a:alpha val="38039"/>
              </a:srgbClr>
            </a:outerShdw>
          </a:effectLst>
        </p:spPr>
      </p:cxnSp>
      <p:sp>
        <p:nvSpPr>
          <p:cNvPr id="394" name="Google Shape;394;p6"/>
          <p:cNvSpPr/>
          <p:nvPr/>
        </p:nvSpPr>
        <p:spPr>
          <a:xfrm>
            <a:off x="7360920" y="1572768"/>
            <a:ext cx="2011680" cy="530352"/>
          </a:xfrm>
          <a:prstGeom prst="roundRect">
            <a:avLst>
              <a:gd fmla="val 10344" name="adj"/>
            </a:avLst>
          </a:prstGeom>
          <a:solidFill>
            <a:srgbClr val="FFFFFF"/>
          </a:solidFill>
          <a:ln cap="flat" cmpd="sng" w="15875">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6"/>
          <p:cNvSpPr txBox="1"/>
          <p:nvPr/>
        </p:nvSpPr>
        <p:spPr>
          <a:xfrm>
            <a:off x="7415784" y="1572768"/>
            <a:ext cx="1901952" cy="530352"/>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NVM</a:t>
            </a:r>
            <a:endParaRPr/>
          </a:p>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Manager</a:t>
            </a:r>
            <a:endParaRPr/>
          </a:p>
        </p:txBody>
      </p:sp>
      <p:cxnSp>
        <p:nvCxnSpPr>
          <p:cNvPr id="396" name="Google Shape;396;p6"/>
          <p:cNvCxnSpPr/>
          <p:nvPr/>
        </p:nvCxnSpPr>
        <p:spPr>
          <a:xfrm>
            <a:off x="8366760" y="2103120"/>
            <a:ext cx="0" cy="2487168"/>
          </a:xfrm>
          <a:prstGeom prst="straightConnector1">
            <a:avLst/>
          </a:prstGeom>
          <a:noFill/>
          <a:ln cap="flat" cmpd="sng" w="12700">
            <a:solidFill>
              <a:srgbClr val="D3DCE3"/>
            </a:solidFill>
            <a:prstDash val="dash"/>
            <a:round/>
            <a:headEnd len="sm" w="sm" type="none"/>
            <a:tailEnd len="sm" w="sm" type="none"/>
          </a:ln>
          <a:effectLst>
            <a:outerShdw blurRad="40000" rotWithShape="0" dir="5400000" dist="20000">
              <a:srgbClr val="000000">
                <a:alpha val="38039"/>
              </a:srgbClr>
            </a:outerShdw>
          </a:effectLst>
        </p:spPr>
      </p:cxnSp>
      <p:sp>
        <p:nvSpPr>
          <p:cNvPr id="397" name="Google Shape;397;p6"/>
          <p:cNvSpPr/>
          <p:nvPr/>
        </p:nvSpPr>
        <p:spPr>
          <a:xfrm>
            <a:off x="9646920" y="1572768"/>
            <a:ext cx="2011680" cy="530352"/>
          </a:xfrm>
          <a:prstGeom prst="roundRect">
            <a:avLst>
              <a:gd fmla="val 10344" name="adj"/>
            </a:avLst>
          </a:prstGeom>
          <a:solidFill>
            <a:srgbClr val="FFFFFF"/>
          </a:solidFill>
          <a:ln cap="flat" cmpd="sng" w="15875">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6"/>
          <p:cNvSpPr txBox="1"/>
          <p:nvPr/>
        </p:nvSpPr>
        <p:spPr>
          <a:xfrm>
            <a:off x="9701784" y="1572768"/>
            <a:ext cx="1901952" cy="530352"/>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Measurement</a:t>
            </a:r>
            <a:endParaRPr/>
          </a:p>
          <a:p>
            <a:pPr indent="0" lvl="0" marL="0" marR="0" rtl="0" algn="ctr">
              <a:lnSpc>
                <a:spcPct val="101666"/>
              </a:lnSpc>
              <a:spcBef>
                <a:spcPts val="0"/>
              </a:spcBef>
              <a:spcAft>
                <a:spcPts val="0"/>
              </a:spcAft>
              <a:buNone/>
            </a:pPr>
            <a:r>
              <a:rPr b="1" i="0" lang="en-US" sz="1050">
                <a:solidFill>
                  <a:srgbClr val="13657F"/>
                </a:solidFill>
                <a:latin typeface="Arial"/>
                <a:ea typeface="Arial"/>
                <a:cs typeface="Arial"/>
                <a:sym typeface="Arial"/>
              </a:rPr>
              <a:t>Manager</a:t>
            </a:r>
            <a:endParaRPr/>
          </a:p>
        </p:txBody>
      </p:sp>
      <p:cxnSp>
        <p:nvCxnSpPr>
          <p:cNvPr id="399" name="Google Shape;399;p6"/>
          <p:cNvCxnSpPr/>
          <p:nvPr/>
        </p:nvCxnSpPr>
        <p:spPr>
          <a:xfrm>
            <a:off x="10652760" y="2103120"/>
            <a:ext cx="0" cy="2487168"/>
          </a:xfrm>
          <a:prstGeom prst="straightConnector1">
            <a:avLst/>
          </a:prstGeom>
          <a:noFill/>
          <a:ln cap="flat" cmpd="sng" w="12700">
            <a:solidFill>
              <a:srgbClr val="D3DCE3"/>
            </a:solidFill>
            <a:prstDash val="dash"/>
            <a:round/>
            <a:headEnd len="sm" w="sm" type="none"/>
            <a:tailEnd len="sm" w="sm" type="none"/>
          </a:ln>
          <a:effectLst>
            <a:outerShdw blurRad="40000" rotWithShape="0" dir="5400000" dist="20000">
              <a:srgbClr val="000000">
                <a:alpha val="38039"/>
              </a:srgbClr>
            </a:outerShdw>
          </a:effectLst>
        </p:spPr>
      </p:cxnSp>
      <p:cxnSp>
        <p:nvCxnSpPr>
          <p:cNvPr id="400" name="Google Shape;400;p6"/>
          <p:cNvCxnSpPr/>
          <p:nvPr/>
        </p:nvCxnSpPr>
        <p:spPr>
          <a:xfrm>
            <a:off x="1508760" y="2304288"/>
            <a:ext cx="2286000" cy="0"/>
          </a:xfrm>
          <a:prstGeom prst="straightConnector1">
            <a:avLst/>
          </a:prstGeom>
          <a:noFill/>
          <a:ln cap="flat" cmpd="sng" w="15875">
            <a:solidFill>
              <a:srgbClr val="0F3A5F"/>
            </a:solidFill>
            <a:prstDash val="solid"/>
            <a:round/>
            <a:headEnd len="sm" w="sm" type="none"/>
            <a:tailEnd len="med" w="med" type="triangle"/>
          </a:ln>
          <a:effectLst>
            <a:outerShdw blurRad="40000" rotWithShape="0" dir="5400000" dist="20000">
              <a:srgbClr val="000000">
                <a:alpha val="38039"/>
              </a:srgbClr>
            </a:outerShdw>
          </a:effectLst>
        </p:spPr>
      </p:cxnSp>
      <p:sp>
        <p:nvSpPr>
          <p:cNvPr id="401" name="Google Shape;401;p6"/>
          <p:cNvSpPr txBox="1"/>
          <p:nvPr/>
        </p:nvSpPr>
        <p:spPr>
          <a:xfrm>
            <a:off x="1508760" y="2080260"/>
            <a:ext cx="2286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850">
                <a:solidFill>
                  <a:srgbClr val="0F3A5F"/>
                </a:solidFill>
                <a:latin typeface="Arial"/>
                <a:ea typeface="Arial"/>
                <a:cs typeface="Arial"/>
                <a:sym typeface="Arial"/>
              </a:rPr>
              <a:t>SET_CHANNEL_TYPE (ch, type)</a:t>
            </a:r>
            <a:endParaRPr/>
          </a:p>
        </p:txBody>
      </p:sp>
      <p:cxnSp>
        <p:nvCxnSpPr>
          <p:cNvPr id="402" name="Google Shape;402;p6"/>
          <p:cNvCxnSpPr/>
          <p:nvPr/>
        </p:nvCxnSpPr>
        <p:spPr>
          <a:xfrm>
            <a:off x="3794760" y="2578608"/>
            <a:ext cx="2286000" cy="0"/>
          </a:xfrm>
          <a:prstGeom prst="straightConnector1">
            <a:avLst/>
          </a:prstGeom>
          <a:noFill/>
          <a:ln cap="flat" cmpd="sng" w="15875">
            <a:solidFill>
              <a:srgbClr val="13657F"/>
            </a:solidFill>
            <a:prstDash val="solid"/>
            <a:round/>
            <a:headEnd len="sm" w="sm" type="none"/>
            <a:tailEnd len="med" w="med" type="triangle"/>
          </a:ln>
          <a:effectLst>
            <a:outerShdw blurRad="40000" rotWithShape="0" dir="5400000" dist="20000">
              <a:srgbClr val="000000">
                <a:alpha val="38039"/>
              </a:srgbClr>
            </a:outerShdw>
          </a:effectLst>
        </p:spPr>
      </p:cxnSp>
      <p:sp>
        <p:nvSpPr>
          <p:cNvPr id="403" name="Google Shape;403;p6"/>
          <p:cNvSpPr txBox="1"/>
          <p:nvPr/>
        </p:nvSpPr>
        <p:spPr>
          <a:xfrm>
            <a:off x="3794760" y="2354579"/>
            <a:ext cx="2286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850">
                <a:solidFill>
                  <a:srgbClr val="13657F"/>
                </a:solidFill>
                <a:latin typeface="Arial"/>
                <a:ea typeface="Arial"/>
                <a:cs typeface="Arial"/>
                <a:sym typeface="Arial"/>
              </a:rPr>
              <a:t>decoded, validated against the protocol</a:t>
            </a:r>
            <a:endParaRPr/>
          </a:p>
        </p:txBody>
      </p:sp>
      <p:cxnSp>
        <p:nvCxnSpPr>
          <p:cNvPr id="404" name="Google Shape;404;p6"/>
          <p:cNvCxnSpPr/>
          <p:nvPr/>
        </p:nvCxnSpPr>
        <p:spPr>
          <a:xfrm>
            <a:off x="6080760" y="3108960"/>
            <a:ext cx="2286000" cy="0"/>
          </a:xfrm>
          <a:prstGeom prst="straightConnector1">
            <a:avLst/>
          </a:prstGeom>
          <a:noFill/>
          <a:ln cap="flat" cmpd="sng" w="15875">
            <a:solidFill>
              <a:srgbClr val="13657F"/>
            </a:solidFill>
            <a:prstDash val="solid"/>
            <a:round/>
            <a:headEnd len="sm" w="sm" type="none"/>
            <a:tailEnd len="med" w="med" type="triangle"/>
          </a:ln>
          <a:effectLst>
            <a:outerShdw blurRad="40000" rotWithShape="0" dir="5400000" dist="20000">
              <a:srgbClr val="000000">
                <a:alpha val="38039"/>
              </a:srgbClr>
            </a:outerShdw>
          </a:effectLst>
        </p:spPr>
      </p:cxnSp>
      <p:sp>
        <p:nvSpPr>
          <p:cNvPr id="405" name="Google Shape;405;p6"/>
          <p:cNvSpPr txBox="1"/>
          <p:nvPr/>
        </p:nvSpPr>
        <p:spPr>
          <a:xfrm>
            <a:off x="6080760" y="2884932"/>
            <a:ext cx="2286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850">
                <a:solidFill>
                  <a:srgbClr val="13657F"/>
                </a:solidFill>
                <a:latin typeface="Arial"/>
                <a:ea typeface="Arial"/>
                <a:cs typeface="Arial"/>
                <a:sym typeface="Arial"/>
              </a:rPr>
              <a:t>write the spare record copy</a:t>
            </a:r>
            <a:endParaRPr/>
          </a:p>
        </p:txBody>
      </p:sp>
      <p:cxnSp>
        <p:nvCxnSpPr>
          <p:cNvPr id="406" name="Google Shape;406;p6"/>
          <p:cNvCxnSpPr/>
          <p:nvPr/>
        </p:nvCxnSpPr>
        <p:spPr>
          <a:xfrm rot="10800000">
            <a:off x="6080760" y="3383280"/>
            <a:ext cx="2286000" cy="0"/>
          </a:xfrm>
          <a:prstGeom prst="straightConnector1">
            <a:avLst/>
          </a:prstGeom>
          <a:noFill/>
          <a:ln cap="flat" cmpd="sng" w="15875">
            <a:solidFill>
              <a:srgbClr val="2E7D5B"/>
            </a:solidFill>
            <a:prstDash val="dash"/>
            <a:round/>
            <a:headEnd len="sm" w="sm" type="none"/>
            <a:tailEnd len="med" w="med" type="triangle"/>
          </a:ln>
          <a:effectLst>
            <a:outerShdw blurRad="40000" rotWithShape="0" dir="5400000" dist="20000">
              <a:srgbClr val="000000">
                <a:alpha val="38039"/>
              </a:srgbClr>
            </a:outerShdw>
          </a:effectLst>
        </p:spPr>
      </p:cxnSp>
      <p:sp>
        <p:nvSpPr>
          <p:cNvPr id="407" name="Google Shape;407;p6"/>
          <p:cNvSpPr txBox="1"/>
          <p:nvPr/>
        </p:nvSpPr>
        <p:spPr>
          <a:xfrm>
            <a:off x="6080760" y="3159252"/>
            <a:ext cx="2286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2E7D5B"/>
                </a:solidFill>
                <a:latin typeface="Arial"/>
                <a:ea typeface="Arial"/>
                <a:cs typeface="Arial"/>
                <a:sym typeface="Arial"/>
              </a:rPr>
              <a:t>read back · CRC verified</a:t>
            </a:r>
            <a:endParaRPr/>
          </a:p>
        </p:txBody>
      </p:sp>
      <p:cxnSp>
        <p:nvCxnSpPr>
          <p:cNvPr id="408" name="Google Shape;408;p6"/>
          <p:cNvCxnSpPr/>
          <p:nvPr/>
        </p:nvCxnSpPr>
        <p:spPr>
          <a:xfrm>
            <a:off x="6080760" y="3657600"/>
            <a:ext cx="2286000" cy="0"/>
          </a:xfrm>
          <a:prstGeom prst="straightConnector1">
            <a:avLst/>
          </a:prstGeom>
          <a:noFill/>
          <a:ln cap="flat" cmpd="sng" w="15875">
            <a:solidFill>
              <a:srgbClr val="13657F"/>
            </a:solidFill>
            <a:prstDash val="solid"/>
            <a:round/>
            <a:headEnd len="sm" w="sm" type="none"/>
            <a:tailEnd len="med" w="med" type="triangle"/>
          </a:ln>
          <a:effectLst>
            <a:outerShdw blurRad="40000" rotWithShape="0" dir="5400000" dist="20000">
              <a:srgbClr val="000000">
                <a:alpha val="38039"/>
              </a:srgbClr>
            </a:outerShdw>
          </a:effectLst>
        </p:spPr>
      </p:cxnSp>
      <p:sp>
        <p:nvSpPr>
          <p:cNvPr id="409" name="Google Shape;409;p6"/>
          <p:cNvSpPr txBox="1"/>
          <p:nvPr/>
        </p:nvSpPr>
        <p:spPr>
          <a:xfrm>
            <a:off x="6080760" y="3433572"/>
            <a:ext cx="2286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850">
                <a:solidFill>
                  <a:srgbClr val="13657F"/>
                </a:solidFill>
                <a:latin typeface="Arial"/>
                <a:ea typeface="Arial"/>
                <a:cs typeface="Arial"/>
                <a:sym typeface="Arial"/>
              </a:rPr>
              <a:t>move the commit marker + sequence</a:t>
            </a:r>
            <a:endParaRPr/>
          </a:p>
        </p:txBody>
      </p:sp>
      <p:cxnSp>
        <p:nvCxnSpPr>
          <p:cNvPr id="410" name="Google Shape;410;p6"/>
          <p:cNvCxnSpPr/>
          <p:nvPr/>
        </p:nvCxnSpPr>
        <p:spPr>
          <a:xfrm>
            <a:off x="6080760" y="3931920"/>
            <a:ext cx="4572000" cy="0"/>
          </a:xfrm>
          <a:prstGeom prst="straightConnector1">
            <a:avLst/>
          </a:prstGeom>
          <a:noFill/>
          <a:ln cap="flat" cmpd="sng" w="15875">
            <a:solidFill>
              <a:srgbClr val="13657F"/>
            </a:solidFill>
            <a:prstDash val="dash"/>
            <a:round/>
            <a:headEnd len="sm" w="sm" type="none"/>
            <a:tailEnd len="med" w="med" type="triangle"/>
          </a:ln>
          <a:effectLst>
            <a:outerShdw blurRad="40000" rotWithShape="0" dir="5400000" dist="20000">
              <a:srgbClr val="000000">
                <a:alpha val="38039"/>
              </a:srgbClr>
            </a:outerShdw>
          </a:effectLst>
        </p:spPr>
      </p:cxnSp>
      <p:sp>
        <p:nvSpPr>
          <p:cNvPr id="411" name="Google Shape;411;p6"/>
          <p:cNvSpPr txBox="1"/>
          <p:nvPr/>
        </p:nvSpPr>
        <p:spPr>
          <a:xfrm>
            <a:off x="6080760" y="3707891"/>
            <a:ext cx="4572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13657F"/>
                </a:solidFill>
                <a:latin typeface="Arial"/>
                <a:ea typeface="Arial"/>
                <a:cs typeface="Arial"/>
                <a:sym typeface="Arial"/>
              </a:rPr>
              <a:t>next scan uses the new type</a:t>
            </a:r>
            <a:endParaRPr/>
          </a:p>
        </p:txBody>
      </p:sp>
      <p:cxnSp>
        <p:nvCxnSpPr>
          <p:cNvPr id="412" name="Google Shape;412;p6"/>
          <p:cNvCxnSpPr/>
          <p:nvPr/>
        </p:nvCxnSpPr>
        <p:spPr>
          <a:xfrm rot="10800000">
            <a:off x="3794760" y="4206240"/>
            <a:ext cx="2286000" cy="0"/>
          </a:xfrm>
          <a:prstGeom prst="straightConnector1">
            <a:avLst/>
          </a:prstGeom>
          <a:noFill/>
          <a:ln cap="flat" cmpd="sng" w="15875">
            <a:solidFill>
              <a:srgbClr val="2E7D5B"/>
            </a:solidFill>
            <a:prstDash val="dash"/>
            <a:round/>
            <a:headEnd len="sm" w="sm" type="none"/>
            <a:tailEnd len="med" w="med" type="triangle"/>
          </a:ln>
          <a:effectLst>
            <a:outerShdw blurRad="40000" rotWithShape="0" dir="5400000" dist="20000">
              <a:srgbClr val="000000">
                <a:alpha val="38039"/>
              </a:srgbClr>
            </a:outerShdw>
          </a:effectLst>
        </p:spPr>
      </p:cxnSp>
      <p:sp>
        <p:nvSpPr>
          <p:cNvPr id="413" name="Google Shape;413;p6"/>
          <p:cNvSpPr txBox="1"/>
          <p:nvPr/>
        </p:nvSpPr>
        <p:spPr>
          <a:xfrm>
            <a:off x="3794760" y="3982212"/>
            <a:ext cx="2286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2E7D5B"/>
                </a:solidFill>
                <a:latin typeface="Arial"/>
                <a:ea typeface="Arial"/>
                <a:cs typeface="Arial"/>
                <a:sym typeface="Arial"/>
              </a:rPr>
              <a:t>result: accepted</a:t>
            </a:r>
            <a:endParaRPr/>
          </a:p>
        </p:txBody>
      </p:sp>
      <p:cxnSp>
        <p:nvCxnSpPr>
          <p:cNvPr id="414" name="Google Shape;414;p6"/>
          <p:cNvCxnSpPr/>
          <p:nvPr/>
        </p:nvCxnSpPr>
        <p:spPr>
          <a:xfrm rot="10800000">
            <a:off x="1508760" y="4480560"/>
            <a:ext cx="2286000" cy="0"/>
          </a:xfrm>
          <a:prstGeom prst="straightConnector1">
            <a:avLst/>
          </a:prstGeom>
          <a:noFill/>
          <a:ln cap="flat" cmpd="sng" w="15875">
            <a:solidFill>
              <a:srgbClr val="2E7D5B"/>
            </a:solidFill>
            <a:prstDash val="dash"/>
            <a:round/>
            <a:headEnd len="sm" w="sm" type="none"/>
            <a:tailEnd len="med" w="med" type="triangle"/>
          </a:ln>
          <a:effectLst>
            <a:outerShdw blurRad="40000" rotWithShape="0" dir="5400000" dist="20000">
              <a:srgbClr val="000000">
                <a:alpha val="38039"/>
              </a:srgbClr>
            </a:outerShdw>
          </a:effectLst>
        </p:spPr>
      </p:cxnSp>
      <p:sp>
        <p:nvSpPr>
          <p:cNvPr id="415" name="Google Shape;415;p6"/>
          <p:cNvSpPr txBox="1"/>
          <p:nvPr/>
        </p:nvSpPr>
        <p:spPr>
          <a:xfrm>
            <a:off x="1508760" y="4256532"/>
            <a:ext cx="2286000"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2E7D5B"/>
                </a:solidFill>
                <a:latin typeface="Arial"/>
                <a:ea typeface="Arial"/>
                <a:cs typeface="Arial"/>
                <a:sym typeface="Arial"/>
              </a:rPr>
              <a:t>ACK + channel status</a:t>
            </a:r>
            <a:endParaRPr/>
          </a:p>
        </p:txBody>
      </p:sp>
      <p:cxnSp>
        <p:nvCxnSpPr>
          <p:cNvPr id="416" name="Google Shape;416;p6"/>
          <p:cNvCxnSpPr/>
          <p:nvPr/>
        </p:nvCxnSpPr>
        <p:spPr>
          <a:xfrm>
            <a:off x="822960" y="2770632"/>
            <a:ext cx="10652760" cy="0"/>
          </a:xfrm>
          <a:prstGeom prst="straightConnector1">
            <a:avLst/>
          </a:prstGeom>
          <a:noFill/>
          <a:ln cap="flat" cmpd="sng" w="9525">
            <a:solidFill>
              <a:srgbClr val="8A99A5"/>
            </a:solidFill>
            <a:prstDash val="dash"/>
            <a:round/>
            <a:headEnd len="sm" w="sm" type="none"/>
            <a:tailEnd len="sm" w="sm" type="none"/>
          </a:ln>
          <a:effectLst>
            <a:outerShdw blurRad="40000" rotWithShape="0" dir="5400000" dist="20000">
              <a:srgbClr val="000000">
                <a:alpha val="38039"/>
              </a:srgbClr>
            </a:outerShdw>
          </a:effectLst>
        </p:spPr>
      </p:cxnSp>
      <p:sp>
        <p:nvSpPr>
          <p:cNvPr id="417" name="Google Shape;417;p6"/>
          <p:cNvSpPr/>
          <p:nvPr/>
        </p:nvSpPr>
        <p:spPr>
          <a:xfrm>
            <a:off x="4956048" y="2670048"/>
            <a:ext cx="2258568" cy="201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6"/>
          <p:cNvSpPr txBox="1"/>
          <p:nvPr/>
        </p:nvSpPr>
        <p:spPr>
          <a:xfrm>
            <a:off x="4956048" y="2670048"/>
            <a:ext cx="2258568" cy="201168"/>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0" i="0" lang="en-US" sz="850">
                <a:solidFill>
                  <a:srgbClr val="5B6B77"/>
                </a:solidFill>
                <a:latin typeface="Arial"/>
                <a:ea typeface="Arial"/>
                <a:cs typeface="Arial"/>
                <a:sym typeface="Arial"/>
              </a:rPr>
              <a:t>step 1 ends here — the rest runs in step 4</a:t>
            </a:r>
            <a:endParaRPr/>
          </a:p>
        </p:txBody>
      </p:sp>
      <p:sp>
        <p:nvSpPr>
          <p:cNvPr id="419" name="Google Shape;419;p6"/>
          <p:cNvSpPr/>
          <p:nvPr/>
        </p:nvSpPr>
        <p:spPr>
          <a:xfrm>
            <a:off x="502920" y="4800600"/>
            <a:ext cx="4892040" cy="1207008"/>
          </a:xfrm>
          <a:prstGeom prst="roundRect">
            <a:avLst>
              <a:gd fmla="val 5303"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6"/>
          <p:cNvSpPr txBox="1"/>
          <p:nvPr/>
        </p:nvSpPr>
        <p:spPr>
          <a:xfrm>
            <a:off x="640080" y="4892040"/>
            <a:ext cx="457200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0F3A5F"/>
                </a:solidFill>
                <a:latin typeface="Arial"/>
                <a:ea typeface="Arial"/>
                <a:cs typeface="Arial"/>
                <a:sym typeface="Arial"/>
              </a:rPr>
              <a:t>THE CONFIGURATION RECORD — TWO COPIES</a:t>
            </a:r>
            <a:endParaRPr/>
          </a:p>
        </p:txBody>
      </p:sp>
      <p:sp>
        <p:nvSpPr>
          <p:cNvPr id="421" name="Google Shape;421;p6"/>
          <p:cNvSpPr/>
          <p:nvPr/>
        </p:nvSpPr>
        <p:spPr>
          <a:xfrm>
            <a:off x="685800" y="5193792"/>
            <a:ext cx="1353312" cy="566928"/>
          </a:xfrm>
          <a:prstGeom prst="roundRect">
            <a:avLst>
              <a:gd fmla="val 8064" name="adj"/>
            </a:avLst>
          </a:prstGeom>
          <a:solidFill>
            <a:srgbClr val="FFFFFF"/>
          </a:solidFill>
          <a:ln cap="flat" cmpd="sng" w="1270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6"/>
          <p:cNvSpPr txBox="1"/>
          <p:nvPr/>
        </p:nvSpPr>
        <p:spPr>
          <a:xfrm>
            <a:off x="722376" y="5193792"/>
            <a:ext cx="1280160" cy="566928"/>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2E75B6"/>
                </a:solidFill>
                <a:latin typeface="Arial"/>
                <a:ea typeface="Arial"/>
                <a:cs typeface="Arial"/>
                <a:sym typeface="Arial"/>
              </a:rPr>
              <a:t>magic · version</a:t>
            </a:r>
            <a:endParaRPr/>
          </a:p>
        </p:txBody>
      </p:sp>
      <p:sp>
        <p:nvSpPr>
          <p:cNvPr id="423" name="Google Shape;423;p6"/>
          <p:cNvSpPr/>
          <p:nvPr/>
        </p:nvSpPr>
        <p:spPr>
          <a:xfrm>
            <a:off x="2176272" y="5193792"/>
            <a:ext cx="1618488" cy="566928"/>
          </a:xfrm>
          <a:prstGeom prst="roundRect">
            <a:avLst>
              <a:gd fmla="val 8064" name="adj"/>
            </a:avLst>
          </a:prstGeom>
          <a:solidFill>
            <a:srgbClr val="FFFFFF"/>
          </a:solidFill>
          <a:ln cap="flat" cmpd="sng" w="1270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6"/>
          <p:cNvSpPr txBox="1"/>
          <p:nvPr/>
        </p:nvSpPr>
        <p:spPr>
          <a:xfrm>
            <a:off x="2212848" y="5193792"/>
            <a:ext cx="1545336" cy="566928"/>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2E75B6"/>
                </a:solidFill>
                <a:latin typeface="Arial"/>
                <a:ea typeface="Arial"/>
                <a:cs typeface="Arial"/>
                <a:sym typeface="Arial"/>
              </a:rPr>
              <a:t>sequence · CH0–CH3</a:t>
            </a:r>
            <a:endParaRPr/>
          </a:p>
        </p:txBody>
      </p:sp>
      <p:sp>
        <p:nvSpPr>
          <p:cNvPr id="425" name="Google Shape;425;p6"/>
          <p:cNvSpPr/>
          <p:nvPr/>
        </p:nvSpPr>
        <p:spPr>
          <a:xfrm>
            <a:off x="3931920" y="5193792"/>
            <a:ext cx="1280160" cy="566928"/>
          </a:xfrm>
          <a:prstGeom prst="roundRect">
            <a:avLst>
              <a:gd fmla="val 8064" name="adj"/>
            </a:avLst>
          </a:prstGeom>
          <a:solidFill>
            <a:srgbClr val="FFFFFF"/>
          </a:solidFill>
          <a:ln cap="flat" cmpd="sng" w="1270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6"/>
          <p:cNvSpPr txBox="1"/>
          <p:nvPr/>
        </p:nvSpPr>
        <p:spPr>
          <a:xfrm>
            <a:off x="3968496" y="5193792"/>
            <a:ext cx="1207007" cy="566928"/>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2E75B6"/>
                </a:solidFill>
                <a:latin typeface="Arial"/>
                <a:ea typeface="Arial"/>
                <a:cs typeface="Arial"/>
                <a:sym typeface="Arial"/>
              </a:rPr>
              <a:t>CRC · commit</a:t>
            </a:r>
            <a:endParaRPr/>
          </a:p>
        </p:txBody>
      </p:sp>
      <p:sp>
        <p:nvSpPr>
          <p:cNvPr id="427" name="Google Shape;427;p6"/>
          <p:cNvSpPr/>
          <p:nvPr/>
        </p:nvSpPr>
        <p:spPr>
          <a:xfrm>
            <a:off x="5669280" y="4800600"/>
            <a:ext cx="2788920" cy="1207008"/>
          </a:xfrm>
          <a:prstGeom prst="roundRect">
            <a:avLst>
              <a:gd fmla="val 5303"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6"/>
          <p:cNvSpPr txBox="1"/>
          <p:nvPr/>
        </p:nvSpPr>
        <p:spPr>
          <a:xfrm>
            <a:off x="5824728" y="4961534"/>
            <a:ext cx="2478023"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E2721C"/>
                </a:solidFill>
                <a:latin typeface="Arial"/>
                <a:ea typeface="Arial"/>
                <a:cs typeface="Arial"/>
                <a:sym typeface="Arial"/>
              </a:rPr>
              <a:t>Invalid command</a:t>
            </a:r>
            <a:endParaRPr/>
          </a:p>
        </p:txBody>
      </p:sp>
      <p:sp>
        <p:nvSpPr>
          <p:cNvPr id="429" name="Google Shape;429;p6"/>
          <p:cNvSpPr txBox="1"/>
          <p:nvPr/>
        </p:nvSpPr>
        <p:spPr>
          <a:xfrm>
            <a:off x="5824728" y="5203723"/>
            <a:ext cx="2478023"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Rejected on arrival. A fault is reported and the active configuration is never touched.</a:t>
            </a:r>
            <a:endParaRPr/>
          </a:p>
        </p:txBody>
      </p:sp>
      <p:sp>
        <p:nvSpPr>
          <p:cNvPr id="430" name="Google Shape;430;p6"/>
          <p:cNvSpPr/>
          <p:nvPr/>
        </p:nvSpPr>
        <p:spPr>
          <a:xfrm>
            <a:off x="8732520" y="4800600"/>
            <a:ext cx="2953512" cy="1207008"/>
          </a:xfrm>
          <a:prstGeom prst="roundRect">
            <a:avLst>
              <a:gd fmla="val 5303"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6"/>
          <p:cNvSpPr txBox="1"/>
          <p:nvPr/>
        </p:nvSpPr>
        <p:spPr>
          <a:xfrm>
            <a:off x="8887968" y="4961534"/>
            <a:ext cx="2642615"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E2721C"/>
                </a:solidFill>
                <a:latin typeface="Arial"/>
                <a:ea typeface="Arial"/>
                <a:cs typeface="Arial"/>
                <a:sym typeface="Arial"/>
              </a:rPr>
              <a:t>NVM write or verify fails</a:t>
            </a:r>
            <a:endParaRPr/>
          </a:p>
        </p:txBody>
      </p:sp>
      <p:sp>
        <p:nvSpPr>
          <p:cNvPr id="432" name="Google Shape;432;p6"/>
          <p:cNvSpPr txBox="1"/>
          <p:nvPr/>
        </p:nvSpPr>
        <p:spPr>
          <a:xfrm>
            <a:off x="8887968" y="5203723"/>
            <a:ext cx="2642615"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The previously committed copy stays active. A diagnostic is raised and a NACK is returned.</a:t>
            </a:r>
            <a:endParaRPr/>
          </a:p>
        </p:txBody>
      </p:sp>
      <p:sp>
        <p:nvSpPr>
          <p:cNvPr id="433" name="Google Shape;433;p6"/>
          <p:cNvSpPr txBox="1"/>
          <p:nvPr/>
        </p:nvSpPr>
        <p:spPr>
          <a:xfrm>
            <a:off x="457200" y="6108192"/>
            <a:ext cx="11186129" cy="23774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0F3A5F"/>
                </a:solidFill>
                <a:latin typeface="Arial"/>
                <a:ea typeface="Arial"/>
                <a:cs typeface="Arial"/>
                <a:sym typeface="Arial"/>
              </a:rPr>
              <a:t>The controller is never told a change succeeded unless the module could still honour it after an immediate reset.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06 · START-UP</a:t>
            </a:r>
            <a:endParaRPr/>
          </a:p>
        </p:txBody>
      </p:sp>
      <p:sp>
        <p:nvSpPr>
          <p:cNvPr id="440" name="Google Shape;440;p7"/>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What happens after a power interruption</a:t>
            </a:r>
            <a:endParaRPr/>
          </a:p>
        </p:txBody>
      </p:sp>
      <p:sp>
        <p:nvSpPr>
          <p:cNvPr id="441" name="Google Shape;441;p7"/>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The boot path decides which configuration is in force; the state machine decides what the module is allowed to do with it.</a:t>
            </a:r>
            <a:endParaRPr/>
          </a:p>
        </p:txBody>
      </p:sp>
      <p:sp>
        <p:nvSpPr>
          <p:cNvPr id="442" name="Google Shape;442;p7"/>
          <p:cNvSpPr/>
          <p:nvPr/>
        </p:nvSpPr>
        <p:spPr>
          <a:xfrm>
            <a:off x="502920" y="1645920"/>
            <a:ext cx="2103120" cy="777240"/>
          </a:xfrm>
          <a:prstGeom prst="roundRect">
            <a:avLst>
              <a:gd fmla="val 7058" name="adj"/>
            </a:avLst>
          </a:prstGeom>
          <a:solidFill>
            <a:srgbClr val="FFFFFF"/>
          </a:solidFill>
          <a:ln cap="flat" cmpd="sng" w="19050">
            <a:solidFill>
              <a:srgbClr val="2E7D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7"/>
          <p:cNvSpPr txBox="1"/>
          <p:nvPr/>
        </p:nvSpPr>
        <p:spPr>
          <a:xfrm>
            <a:off x="576072" y="1645920"/>
            <a:ext cx="1956815" cy="777240"/>
          </a:xfrm>
          <a:prstGeom prst="rect">
            <a:avLst/>
          </a:prstGeom>
          <a:noFill/>
          <a:ln>
            <a:noFill/>
          </a:ln>
        </p:spPr>
        <p:txBody>
          <a:bodyPr anchorCtr="0" anchor="ctr"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2E7D5B"/>
                </a:solidFill>
                <a:latin typeface="Arial"/>
                <a:ea typeface="Arial"/>
                <a:cs typeface="Arial"/>
                <a:sym typeface="Arial"/>
              </a:rPr>
              <a:t>Power on</a:t>
            </a:r>
            <a:endParaRPr/>
          </a:p>
        </p:txBody>
      </p:sp>
      <p:cxnSp>
        <p:nvCxnSpPr>
          <p:cNvPr id="444" name="Google Shape;444;p7"/>
          <p:cNvCxnSpPr/>
          <p:nvPr/>
        </p:nvCxnSpPr>
        <p:spPr>
          <a:xfrm>
            <a:off x="2651760" y="2034540"/>
            <a:ext cx="182880"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445" name="Google Shape;445;p7"/>
          <p:cNvSpPr/>
          <p:nvPr/>
        </p:nvSpPr>
        <p:spPr>
          <a:xfrm>
            <a:off x="2880360" y="1645920"/>
            <a:ext cx="2286000" cy="777240"/>
          </a:xfrm>
          <a:prstGeom prst="roundRect">
            <a:avLst>
              <a:gd fmla="val 7058"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7"/>
          <p:cNvSpPr txBox="1"/>
          <p:nvPr/>
        </p:nvSpPr>
        <p:spPr>
          <a:xfrm>
            <a:off x="2953512" y="1785683"/>
            <a:ext cx="2139696"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E2721C"/>
                </a:solidFill>
                <a:latin typeface="Arial"/>
                <a:ea typeface="Arial"/>
                <a:cs typeface="Arial"/>
                <a:sym typeface="Arial"/>
              </a:rPr>
              <a:t>Read the NVM</a:t>
            </a:r>
            <a:endParaRPr/>
          </a:p>
        </p:txBody>
      </p:sp>
      <p:sp>
        <p:nvSpPr>
          <p:cNvPr id="447" name="Google Shape;447;p7"/>
          <p:cNvSpPr txBox="1"/>
          <p:nvPr/>
        </p:nvSpPr>
        <p:spPr>
          <a:xfrm>
            <a:off x="2953512" y="2044763"/>
            <a:ext cx="2139696"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both stored copies</a:t>
            </a:r>
            <a:endParaRPr/>
          </a:p>
        </p:txBody>
      </p:sp>
      <p:cxnSp>
        <p:nvCxnSpPr>
          <p:cNvPr id="448" name="Google Shape;448;p7"/>
          <p:cNvCxnSpPr/>
          <p:nvPr/>
        </p:nvCxnSpPr>
        <p:spPr>
          <a:xfrm>
            <a:off x="5212080" y="2034540"/>
            <a:ext cx="182880" cy="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449" name="Google Shape;449;p7"/>
          <p:cNvSpPr/>
          <p:nvPr/>
        </p:nvSpPr>
        <p:spPr>
          <a:xfrm>
            <a:off x="5440680" y="1645920"/>
            <a:ext cx="2286000" cy="777240"/>
          </a:xfrm>
          <a:prstGeom prst="roundRect">
            <a:avLst>
              <a:gd fmla="val 7058" name="adj"/>
            </a:avLst>
          </a:prstGeom>
          <a:solidFill>
            <a:srgbClr val="FFFFFF"/>
          </a:solidFill>
          <a:ln cap="flat" cmpd="sng" w="19050">
            <a:solidFill>
              <a:srgbClr val="1365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7"/>
          <p:cNvSpPr txBox="1"/>
          <p:nvPr/>
        </p:nvSpPr>
        <p:spPr>
          <a:xfrm>
            <a:off x="5513832" y="1785683"/>
            <a:ext cx="2139696"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13657F"/>
                </a:solidFill>
                <a:latin typeface="Arial"/>
                <a:ea typeface="Arial"/>
                <a:cs typeface="Arial"/>
                <a:sym typeface="Arial"/>
              </a:rPr>
              <a:t>Newest committed copy?</a:t>
            </a:r>
            <a:endParaRPr/>
          </a:p>
        </p:txBody>
      </p:sp>
      <p:sp>
        <p:nvSpPr>
          <p:cNvPr id="451" name="Google Shape;451;p7"/>
          <p:cNvSpPr txBox="1"/>
          <p:nvPr/>
        </p:nvSpPr>
        <p:spPr>
          <a:xfrm>
            <a:off x="5513832" y="2044763"/>
            <a:ext cx="2139696"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magic · sequence · CRC · commit</a:t>
            </a:r>
            <a:endParaRPr/>
          </a:p>
        </p:txBody>
      </p:sp>
      <p:cxnSp>
        <p:nvCxnSpPr>
          <p:cNvPr id="452" name="Google Shape;452;p7"/>
          <p:cNvCxnSpPr/>
          <p:nvPr/>
        </p:nvCxnSpPr>
        <p:spPr>
          <a:xfrm>
            <a:off x="7772400" y="2034540"/>
            <a:ext cx="365760" cy="0"/>
          </a:xfrm>
          <a:prstGeom prst="straightConnector1">
            <a:avLst/>
          </a:prstGeom>
          <a:noFill/>
          <a:ln cap="flat" cmpd="sng" w="19050">
            <a:solidFill>
              <a:srgbClr val="2E7D5B"/>
            </a:solidFill>
            <a:prstDash val="solid"/>
            <a:round/>
            <a:headEnd len="sm" w="sm" type="none"/>
            <a:tailEnd len="med" w="med" type="triangle"/>
          </a:ln>
          <a:effectLst>
            <a:outerShdw blurRad="40000" rotWithShape="0" dir="5400000" dist="20000">
              <a:srgbClr val="000000">
                <a:alpha val="38039"/>
              </a:srgbClr>
            </a:outerShdw>
          </a:effectLst>
        </p:spPr>
      </p:cxnSp>
      <p:sp>
        <p:nvSpPr>
          <p:cNvPr id="453" name="Google Shape;453;p7"/>
          <p:cNvSpPr txBox="1"/>
          <p:nvPr/>
        </p:nvSpPr>
        <p:spPr>
          <a:xfrm>
            <a:off x="7699248" y="1792224"/>
            <a:ext cx="512064" cy="2011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900">
                <a:solidFill>
                  <a:srgbClr val="2E7D5B"/>
                </a:solidFill>
                <a:latin typeface="Arial"/>
                <a:ea typeface="Arial"/>
                <a:cs typeface="Arial"/>
                <a:sym typeface="Arial"/>
              </a:rPr>
              <a:t>yes</a:t>
            </a:r>
            <a:endParaRPr/>
          </a:p>
        </p:txBody>
      </p:sp>
      <p:sp>
        <p:nvSpPr>
          <p:cNvPr id="454" name="Google Shape;454;p7"/>
          <p:cNvSpPr/>
          <p:nvPr/>
        </p:nvSpPr>
        <p:spPr>
          <a:xfrm>
            <a:off x="8183879" y="1645920"/>
            <a:ext cx="3502152" cy="777240"/>
          </a:xfrm>
          <a:prstGeom prst="roundRect">
            <a:avLst>
              <a:gd fmla="val 7058" name="adj"/>
            </a:avLst>
          </a:prstGeom>
          <a:solidFill>
            <a:srgbClr val="E8F2ED"/>
          </a:solidFill>
          <a:ln cap="flat" cmpd="sng" w="19050">
            <a:solidFill>
              <a:srgbClr val="2E7D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7"/>
          <p:cNvSpPr txBox="1"/>
          <p:nvPr/>
        </p:nvSpPr>
        <p:spPr>
          <a:xfrm>
            <a:off x="8257031" y="1785683"/>
            <a:ext cx="3355848"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2E7D5B"/>
                </a:solidFill>
                <a:latin typeface="Arial"/>
                <a:ea typeface="Arial"/>
                <a:cs typeface="Arial"/>
                <a:sym typeface="Arial"/>
              </a:rPr>
              <a:t>Use the stored configuration</a:t>
            </a:r>
            <a:endParaRPr/>
          </a:p>
        </p:txBody>
      </p:sp>
      <p:sp>
        <p:nvSpPr>
          <p:cNvPr id="456" name="Google Shape;456;p7"/>
          <p:cNvSpPr txBox="1"/>
          <p:nvPr/>
        </p:nvSpPr>
        <p:spPr>
          <a:xfrm>
            <a:off x="8257031" y="2044763"/>
            <a:ext cx="3355848"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the module carries on as before</a:t>
            </a:r>
            <a:endParaRPr/>
          </a:p>
        </p:txBody>
      </p:sp>
      <p:cxnSp>
        <p:nvCxnSpPr>
          <p:cNvPr id="457" name="Google Shape;457;p7"/>
          <p:cNvCxnSpPr/>
          <p:nvPr/>
        </p:nvCxnSpPr>
        <p:spPr>
          <a:xfrm>
            <a:off x="6583680" y="2423160"/>
            <a:ext cx="0" cy="662940"/>
          </a:xfrm>
          <a:prstGeom prst="straightConnector1">
            <a:avLst/>
          </a:prstGeom>
          <a:noFill/>
          <a:ln cap="flat" cmpd="sng" w="19050">
            <a:solidFill>
              <a:srgbClr val="E2721C"/>
            </a:solidFill>
            <a:prstDash val="solid"/>
            <a:round/>
            <a:headEnd len="sm" w="sm" type="none"/>
            <a:tailEnd len="sm" w="sm" type="none"/>
          </a:ln>
          <a:effectLst>
            <a:outerShdw blurRad="40000" rotWithShape="0" dir="5400000" dist="20000">
              <a:srgbClr val="000000">
                <a:alpha val="38039"/>
              </a:srgbClr>
            </a:outerShdw>
          </a:effectLst>
        </p:spPr>
      </p:cxnSp>
      <p:cxnSp>
        <p:nvCxnSpPr>
          <p:cNvPr id="458" name="Google Shape;458;p7"/>
          <p:cNvCxnSpPr/>
          <p:nvPr/>
        </p:nvCxnSpPr>
        <p:spPr>
          <a:xfrm>
            <a:off x="6583680" y="3086100"/>
            <a:ext cx="1554480" cy="0"/>
          </a:xfrm>
          <a:prstGeom prst="straightConnector1">
            <a:avLst/>
          </a:prstGeom>
          <a:noFill/>
          <a:ln cap="flat" cmpd="sng" w="19050">
            <a:solidFill>
              <a:srgbClr val="E2721C"/>
            </a:solidFill>
            <a:prstDash val="solid"/>
            <a:round/>
            <a:headEnd len="sm" w="sm" type="none"/>
            <a:tailEnd len="med" w="med" type="triangle"/>
          </a:ln>
          <a:effectLst>
            <a:outerShdw blurRad="40000" rotWithShape="0" dir="5400000" dist="20000">
              <a:srgbClr val="000000">
                <a:alpha val="38039"/>
              </a:srgbClr>
            </a:outerShdw>
          </a:effectLst>
        </p:spPr>
      </p:cxnSp>
      <p:sp>
        <p:nvSpPr>
          <p:cNvPr id="459" name="Google Shape;459;p7"/>
          <p:cNvSpPr txBox="1"/>
          <p:nvPr/>
        </p:nvSpPr>
        <p:spPr>
          <a:xfrm>
            <a:off x="6638544" y="2688336"/>
            <a:ext cx="548640"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no</a:t>
            </a:r>
            <a:endParaRPr/>
          </a:p>
        </p:txBody>
      </p:sp>
      <p:sp>
        <p:nvSpPr>
          <p:cNvPr id="460" name="Google Shape;460;p7"/>
          <p:cNvSpPr/>
          <p:nvPr/>
        </p:nvSpPr>
        <p:spPr>
          <a:xfrm>
            <a:off x="8183879" y="2697480"/>
            <a:ext cx="3502152" cy="777240"/>
          </a:xfrm>
          <a:prstGeom prst="roundRect">
            <a:avLst>
              <a:gd fmla="val 7058" name="adj"/>
            </a:avLst>
          </a:prstGeom>
          <a:solidFill>
            <a:srgbClr val="FDF0E4"/>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7"/>
          <p:cNvSpPr txBox="1"/>
          <p:nvPr/>
        </p:nvSpPr>
        <p:spPr>
          <a:xfrm>
            <a:off x="8257031" y="2837243"/>
            <a:ext cx="3355848" cy="277368"/>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200">
                <a:solidFill>
                  <a:srgbClr val="E2721C"/>
                </a:solidFill>
                <a:latin typeface="Arial"/>
                <a:ea typeface="Arial"/>
                <a:cs typeface="Arial"/>
                <a:sym typeface="Arial"/>
              </a:rPr>
              <a:t>Use safe defaults</a:t>
            </a:r>
            <a:endParaRPr/>
          </a:p>
        </p:txBody>
      </p:sp>
      <p:sp>
        <p:nvSpPr>
          <p:cNvPr id="462" name="Google Shape;462;p7"/>
          <p:cNvSpPr txBox="1"/>
          <p:nvPr/>
        </p:nvSpPr>
        <p:spPr>
          <a:xfrm>
            <a:off x="8257031" y="3096323"/>
            <a:ext cx="3355848" cy="238633"/>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50">
                <a:solidFill>
                  <a:srgbClr val="5B6B77"/>
                </a:solidFill>
                <a:latin typeface="Arial"/>
                <a:ea typeface="Arial"/>
                <a:cs typeface="Arial"/>
                <a:sym typeface="Arial"/>
              </a:rPr>
              <a:t>every channel disabled, and report it</a:t>
            </a:r>
            <a:endParaRPr/>
          </a:p>
        </p:txBody>
      </p:sp>
      <p:sp>
        <p:nvSpPr>
          <p:cNvPr id="463" name="Google Shape;463;p7"/>
          <p:cNvSpPr txBox="1"/>
          <p:nvPr/>
        </p:nvSpPr>
        <p:spPr>
          <a:xfrm>
            <a:off x="457200" y="2798064"/>
            <a:ext cx="5852160" cy="73152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50">
                <a:solidFill>
                  <a:srgbClr val="1C2B36"/>
                </a:solidFill>
                <a:latin typeface="Arial"/>
                <a:ea typeface="Arial"/>
                <a:cs typeface="Arial"/>
                <a:sym typeface="Arial"/>
              </a:rPr>
              <a:t>Two copies are kept. A new record is written to the spare copy and verified before the commit marker moves, so an interrupted write always leaves the previous good copy intact — and if neither copy verifies, the module starts safe rather than guessing.</a:t>
            </a:r>
            <a:endParaRPr/>
          </a:p>
        </p:txBody>
      </p:sp>
      <p:sp>
        <p:nvSpPr>
          <p:cNvPr id="464" name="Google Shape;464;p7"/>
          <p:cNvSpPr txBox="1"/>
          <p:nvPr/>
        </p:nvSpPr>
        <p:spPr>
          <a:xfrm>
            <a:off x="457200" y="3858768"/>
            <a:ext cx="1118612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2E7D5B"/>
                </a:solidFill>
                <a:latin typeface="Arial"/>
                <a:ea typeface="Arial"/>
                <a:cs typeface="Arial"/>
                <a:sym typeface="Arial"/>
              </a:rPr>
              <a:t>MODULE STATES</a:t>
            </a:r>
            <a:endParaRPr/>
          </a:p>
        </p:txBody>
      </p:sp>
      <p:sp>
        <p:nvSpPr>
          <p:cNvPr id="465" name="Google Shape;465;p7"/>
          <p:cNvSpPr/>
          <p:nvPr/>
        </p:nvSpPr>
        <p:spPr>
          <a:xfrm>
            <a:off x="502920" y="4133087"/>
            <a:ext cx="2606040" cy="1627632"/>
          </a:xfrm>
          <a:prstGeom prst="roundRect">
            <a:avLst>
              <a:gd fmla="val 3932" name="adj"/>
            </a:avLst>
          </a:prstGeom>
          <a:solidFill>
            <a:srgbClr val="EDF3F8"/>
          </a:solidFill>
          <a:ln cap="flat" cmpd="sng" w="9525">
            <a:solidFill>
              <a:srgbClr val="C4D8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7"/>
          <p:cNvSpPr txBox="1"/>
          <p:nvPr/>
        </p:nvSpPr>
        <p:spPr>
          <a:xfrm>
            <a:off x="658368" y="4294022"/>
            <a:ext cx="2295144" cy="285115"/>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250">
                <a:solidFill>
                  <a:srgbClr val="0F3A5F"/>
                </a:solidFill>
                <a:latin typeface="Arial"/>
                <a:ea typeface="Arial"/>
                <a:cs typeface="Arial"/>
                <a:sym typeface="Arial"/>
              </a:rPr>
              <a:t>INIT</a:t>
            </a:r>
            <a:endParaRPr/>
          </a:p>
        </p:txBody>
      </p:sp>
      <p:sp>
        <p:nvSpPr>
          <p:cNvPr id="467" name="Google Shape;467;p7"/>
          <p:cNvSpPr txBox="1"/>
          <p:nvPr/>
        </p:nvSpPr>
        <p:spPr>
          <a:xfrm>
            <a:off x="658368" y="4551705"/>
            <a:ext cx="2295144" cy="711199"/>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Entered on every reset. Loads and verifies the stored record. Nothing is sampled and nothing is published from this state.</a:t>
            </a:r>
            <a:endParaRPr/>
          </a:p>
        </p:txBody>
      </p:sp>
      <p:sp>
        <p:nvSpPr>
          <p:cNvPr id="468" name="Google Shape;468;p7"/>
          <p:cNvSpPr/>
          <p:nvPr/>
        </p:nvSpPr>
        <p:spPr>
          <a:xfrm>
            <a:off x="3364991" y="4133087"/>
            <a:ext cx="2606040" cy="1627632"/>
          </a:xfrm>
          <a:prstGeom prst="roundRect">
            <a:avLst>
              <a:gd fmla="val 3932" name="adj"/>
            </a:avLst>
          </a:prstGeom>
          <a:solidFill>
            <a:srgbClr val="E8F2ED"/>
          </a:solidFill>
          <a:ln cap="flat" cmpd="sng" w="9525">
            <a:solidFill>
              <a:srgbClr val="BFD9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7"/>
          <p:cNvSpPr txBox="1"/>
          <p:nvPr/>
        </p:nvSpPr>
        <p:spPr>
          <a:xfrm>
            <a:off x="3520440" y="4294022"/>
            <a:ext cx="2295144" cy="285115"/>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250">
                <a:solidFill>
                  <a:srgbClr val="2E7D5B"/>
                </a:solidFill>
                <a:latin typeface="Arial"/>
                <a:ea typeface="Arial"/>
                <a:cs typeface="Arial"/>
                <a:sym typeface="Arial"/>
              </a:rPr>
              <a:t>RUN</a:t>
            </a:r>
            <a:endParaRPr/>
          </a:p>
        </p:txBody>
      </p:sp>
      <p:sp>
        <p:nvSpPr>
          <p:cNvPr id="470" name="Google Shape;470;p7"/>
          <p:cNvSpPr txBox="1"/>
          <p:nvPr/>
        </p:nvSpPr>
        <p:spPr>
          <a:xfrm>
            <a:off x="3520440" y="4551705"/>
            <a:ext cx="2295144"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The normal cycle: acquire, convert, publish, commit. Every enabled channel reports a value and a status.</a:t>
            </a:r>
            <a:endParaRPr/>
          </a:p>
        </p:txBody>
      </p:sp>
      <p:sp>
        <p:nvSpPr>
          <p:cNvPr id="471" name="Google Shape;471;p7"/>
          <p:cNvSpPr/>
          <p:nvPr/>
        </p:nvSpPr>
        <p:spPr>
          <a:xfrm>
            <a:off x="6227064" y="4133087"/>
            <a:ext cx="2606040" cy="1627632"/>
          </a:xfrm>
          <a:prstGeom prst="roundRect">
            <a:avLst>
              <a:gd fmla="val 3932"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7"/>
          <p:cNvSpPr txBox="1"/>
          <p:nvPr/>
        </p:nvSpPr>
        <p:spPr>
          <a:xfrm>
            <a:off x="6382512" y="4294022"/>
            <a:ext cx="2295144" cy="285115"/>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250">
                <a:solidFill>
                  <a:srgbClr val="E2721C"/>
                </a:solidFill>
                <a:latin typeface="Arial"/>
                <a:ea typeface="Arial"/>
                <a:cs typeface="Arial"/>
                <a:sym typeface="Arial"/>
              </a:rPr>
              <a:t>DEGRADED</a:t>
            </a:r>
            <a:endParaRPr/>
          </a:p>
        </p:txBody>
      </p:sp>
      <p:sp>
        <p:nvSpPr>
          <p:cNvPr id="473" name="Google Shape;473;p7"/>
          <p:cNvSpPr txBox="1"/>
          <p:nvPr/>
        </p:nvSpPr>
        <p:spPr>
          <a:xfrm>
            <a:off x="6382512" y="4551705"/>
            <a:ext cx="2295144" cy="711199"/>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A channel, a conversion or the NVM has failed. Healthy channels keep publishing; faulty ones publish status only.</a:t>
            </a:r>
            <a:endParaRPr/>
          </a:p>
        </p:txBody>
      </p:sp>
      <p:sp>
        <p:nvSpPr>
          <p:cNvPr id="474" name="Google Shape;474;p7"/>
          <p:cNvSpPr/>
          <p:nvPr/>
        </p:nvSpPr>
        <p:spPr>
          <a:xfrm>
            <a:off x="9089136" y="4133087"/>
            <a:ext cx="2606040" cy="1627632"/>
          </a:xfrm>
          <a:prstGeom prst="roundRect">
            <a:avLst>
              <a:gd fmla="val 3932" name="adj"/>
            </a:avLst>
          </a:prstGeom>
          <a:solidFill>
            <a:srgbClr val="FBEDEA"/>
          </a:solidFill>
          <a:ln cap="flat" cmpd="sng" w="9525">
            <a:solidFill>
              <a:srgbClr val="EBC4B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7"/>
          <p:cNvSpPr txBox="1"/>
          <p:nvPr/>
        </p:nvSpPr>
        <p:spPr>
          <a:xfrm>
            <a:off x="9244584" y="4294022"/>
            <a:ext cx="2295143" cy="285115"/>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250">
                <a:solidFill>
                  <a:srgbClr val="B3341F"/>
                </a:solidFill>
                <a:latin typeface="Arial"/>
                <a:ea typeface="Arial"/>
                <a:cs typeface="Arial"/>
                <a:sym typeface="Arial"/>
              </a:rPr>
              <a:t>BUS-OFF RECOVERY</a:t>
            </a:r>
            <a:endParaRPr/>
          </a:p>
        </p:txBody>
      </p:sp>
      <p:sp>
        <p:nvSpPr>
          <p:cNvPr id="476" name="Google Shape;476;p7"/>
          <p:cNvSpPr txBox="1"/>
          <p:nvPr/>
        </p:nvSpPr>
        <p:spPr>
          <a:xfrm>
            <a:off x="9244584" y="4551705"/>
            <a:ext cx="2295143" cy="711199"/>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CAN bus-off was detected. Acquisition continues and transmission is retried under the protocol's recovery rules.</a:t>
            </a:r>
            <a:endParaRPr/>
          </a:p>
        </p:txBody>
      </p:sp>
      <p:sp>
        <p:nvSpPr>
          <p:cNvPr id="477" name="Google Shape;477;p7"/>
          <p:cNvSpPr txBox="1"/>
          <p:nvPr/>
        </p:nvSpPr>
        <p:spPr>
          <a:xfrm>
            <a:off x="457200" y="5925312"/>
            <a:ext cx="11186129" cy="23774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0F3A5F"/>
                </a:solidFill>
                <a:latin typeface="Arial"/>
                <a:ea typeface="Arial"/>
                <a:cs typeface="Arial"/>
                <a:sym typeface="Arial"/>
              </a:rPr>
              <a:t>No state can publish a value without a status, so an unavailable reading is always visible to the controller as unavailable — never as a plausible zero.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07 · EXECUTION MODEL</a:t>
            </a:r>
            <a:endParaRPr/>
          </a:p>
        </p:txBody>
      </p:sp>
      <p:sp>
        <p:nvSpPr>
          <p:cNvPr id="484" name="Google Shape;484;p8"/>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A deterministic main loop</a:t>
            </a:r>
            <a:endParaRPr/>
          </a:p>
        </p:txBody>
      </p:sp>
      <p:sp>
        <p:nvSpPr>
          <p:cNvPr id="485" name="Google Shape;485;p8"/>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The same five jobs, in the same order, on every pass. No operating system, no dynamic allocation, no unbounded wait.</a:t>
            </a:r>
            <a:endParaRPr/>
          </a:p>
        </p:txBody>
      </p:sp>
      <p:sp>
        <p:nvSpPr>
          <p:cNvPr id="486" name="Google Shape;486;p8"/>
          <p:cNvSpPr txBox="1"/>
          <p:nvPr/>
        </p:nvSpPr>
        <p:spPr>
          <a:xfrm>
            <a:off x="1005839" y="1554480"/>
            <a:ext cx="457200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2E7D5B"/>
                </a:solidFill>
                <a:latin typeface="Arial"/>
                <a:ea typeface="Arial"/>
                <a:cs typeface="Arial"/>
                <a:sym typeface="Arial"/>
              </a:rPr>
              <a:t>THE LOOP</a:t>
            </a:r>
            <a:endParaRPr/>
          </a:p>
        </p:txBody>
      </p:sp>
      <p:sp>
        <p:nvSpPr>
          <p:cNvPr id="487" name="Google Shape;487;p8"/>
          <p:cNvSpPr/>
          <p:nvPr/>
        </p:nvSpPr>
        <p:spPr>
          <a:xfrm>
            <a:off x="1051560" y="1847088"/>
            <a:ext cx="4206240" cy="502920"/>
          </a:xfrm>
          <a:prstGeom prst="roundRect">
            <a:avLst>
              <a:gd fmla="val 10909"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8"/>
          <p:cNvSpPr txBox="1"/>
          <p:nvPr/>
        </p:nvSpPr>
        <p:spPr>
          <a:xfrm>
            <a:off x="1124712" y="1857438"/>
            <a:ext cx="405993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2E75B6"/>
                </a:solidFill>
                <a:latin typeface="Arial"/>
                <a:ea typeface="Arial"/>
                <a:cs typeface="Arial"/>
                <a:sym typeface="Arial"/>
              </a:rPr>
              <a:t>Check CAN in</a:t>
            </a:r>
            <a:endParaRPr/>
          </a:p>
        </p:txBody>
      </p:sp>
      <p:sp>
        <p:nvSpPr>
          <p:cNvPr id="489" name="Google Shape;489;p8"/>
          <p:cNvSpPr txBox="1"/>
          <p:nvPr/>
        </p:nvSpPr>
        <p:spPr>
          <a:xfrm>
            <a:off x="1124712" y="2108771"/>
            <a:ext cx="4059935"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validate and stage a command</a:t>
            </a:r>
            <a:endParaRPr/>
          </a:p>
        </p:txBody>
      </p:sp>
      <p:cxnSp>
        <p:nvCxnSpPr>
          <p:cNvPr id="490" name="Google Shape;490;p8"/>
          <p:cNvCxnSpPr/>
          <p:nvPr/>
        </p:nvCxnSpPr>
        <p:spPr>
          <a:xfrm>
            <a:off x="3154680" y="2377440"/>
            <a:ext cx="0" cy="9144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491" name="Google Shape;491;p8"/>
          <p:cNvSpPr/>
          <p:nvPr/>
        </p:nvSpPr>
        <p:spPr>
          <a:xfrm>
            <a:off x="1051560" y="2496312"/>
            <a:ext cx="4206240" cy="502920"/>
          </a:xfrm>
          <a:prstGeom prst="roundRect">
            <a:avLst>
              <a:gd fmla="val 10909"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8"/>
          <p:cNvSpPr txBox="1"/>
          <p:nvPr/>
        </p:nvSpPr>
        <p:spPr>
          <a:xfrm>
            <a:off x="1124712" y="2506662"/>
            <a:ext cx="405993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Read + convert</a:t>
            </a:r>
            <a:endParaRPr/>
          </a:p>
        </p:txBody>
      </p:sp>
      <p:sp>
        <p:nvSpPr>
          <p:cNvPr id="493" name="Google Shape;493;p8"/>
          <p:cNvSpPr txBox="1"/>
          <p:nvPr/>
        </p:nvSpPr>
        <p:spPr>
          <a:xfrm>
            <a:off x="1124712" y="2757995"/>
            <a:ext cx="4059935"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all four channels, by type</a:t>
            </a:r>
            <a:endParaRPr/>
          </a:p>
        </p:txBody>
      </p:sp>
      <p:cxnSp>
        <p:nvCxnSpPr>
          <p:cNvPr id="494" name="Google Shape;494;p8"/>
          <p:cNvCxnSpPr/>
          <p:nvPr/>
        </p:nvCxnSpPr>
        <p:spPr>
          <a:xfrm>
            <a:off x="3154680" y="3026664"/>
            <a:ext cx="0" cy="9144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495" name="Google Shape;495;p8"/>
          <p:cNvSpPr/>
          <p:nvPr/>
        </p:nvSpPr>
        <p:spPr>
          <a:xfrm>
            <a:off x="1051560" y="3145536"/>
            <a:ext cx="4206240" cy="502920"/>
          </a:xfrm>
          <a:prstGeom prst="roundRect">
            <a:avLst>
              <a:gd fmla="val 10909"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8"/>
          <p:cNvSpPr txBox="1"/>
          <p:nvPr/>
        </p:nvSpPr>
        <p:spPr>
          <a:xfrm>
            <a:off x="1124712" y="3155886"/>
            <a:ext cx="405993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2E75B6"/>
                </a:solidFill>
                <a:latin typeface="Arial"/>
                <a:ea typeface="Arial"/>
                <a:cs typeface="Arial"/>
                <a:sym typeface="Arial"/>
              </a:rPr>
              <a:t>Publish values</a:t>
            </a:r>
            <a:endParaRPr/>
          </a:p>
        </p:txBody>
      </p:sp>
      <p:sp>
        <p:nvSpPr>
          <p:cNvPr id="497" name="Google Shape;497;p8"/>
          <p:cNvSpPr txBox="1"/>
          <p:nvPr/>
        </p:nvSpPr>
        <p:spPr>
          <a:xfrm>
            <a:off x="1124712" y="3407219"/>
            <a:ext cx="4059935"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value and status, on CAN</a:t>
            </a:r>
            <a:endParaRPr/>
          </a:p>
        </p:txBody>
      </p:sp>
      <p:cxnSp>
        <p:nvCxnSpPr>
          <p:cNvPr id="498" name="Google Shape;498;p8"/>
          <p:cNvCxnSpPr/>
          <p:nvPr/>
        </p:nvCxnSpPr>
        <p:spPr>
          <a:xfrm>
            <a:off x="3154680" y="3675887"/>
            <a:ext cx="0" cy="91441"/>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499" name="Google Shape;499;p8"/>
          <p:cNvSpPr/>
          <p:nvPr/>
        </p:nvSpPr>
        <p:spPr>
          <a:xfrm>
            <a:off x="1051560" y="3794760"/>
            <a:ext cx="4206240" cy="502920"/>
          </a:xfrm>
          <a:prstGeom prst="roundRect">
            <a:avLst>
              <a:gd fmla="val 10909"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8"/>
          <p:cNvSpPr txBox="1"/>
          <p:nvPr/>
        </p:nvSpPr>
        <p:spPr>
          <a:xfrm>
            <a:off x="1124712" y="3805110"/>
            <a:ext cx="405993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Commit if staged</a:t>
            </a:r>
            <a:endParaRPr/>
          </a:p>
        </p:txBody>
      </p:sp>
      <p:sp>
        <p:nvSpPr>
          <p:cNvPr id="501" name="Google Shape;501;p8"/>
          <p:cNvSpPr txBox="1"/>
          <p:nvPr/>
        </p:nvSpPr>
        <p:spPr>
          <a:xfrm>
            <a:off x="1124712" y="4056443"/>
            <a:ext cx="4059935"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only when a setting moved</a:t>
            </a:r>
            <a:endParaRPr/>
          </a:p>
        </p:txBody>
      </p:sp>
      <p:cxnSp>
        <p:nvCxnSpPr>
          <p:cNvPr id="502" name="Google Shape;502;p8"/>
          <p:cNvCxnSpPr/>
          <p:nvPr/>
        </p:nvCxnSpPr>
        <p:spPr>
          <a:xfrm>
            <a:off x="3154680" y="4325112"/>
            <a:ext cx="0" cy="91440"/>
          </a:xfrm>
          <a:prstGeom prst="straightConnector1">
            <a:avLst/>
          </a:prstGeom>
          <a:noFill/>
          <a:ln cap="flat" cmpd="sng" w="19050">
            <a:solidFill>
              <a:srgbClr val="8A99A5"/>
            </a:solidFill>
            <a:prstDash val="solid"/>
            <a:round/>
            <a:headEnd len="sm" w="sm" type="none"/>
            <a:tailEnd len="med" w="med" type="triangle"/>
          </a:ln>
          <a:effectLst>
            <a:outerShdw blurRad="40000" rotWithShape="0" dir="5400000" dist="20000">
              <a:srgbClr val="000000">
                <a:alpha val="38039"/>
              </a:srgbClr>
            </a:outerShdw>
          </a:effectLst>
        </p:spPr>
      </p:cxnSp>
      <p:sp>
        <p:nvSpPr>
          <p:cNvPr id="503" name="Google Shape;503;p8"/>
          <p:cNvSpPr/>
          <p:nvPr/>
        </p:nvSpPr>
        <p:spPr>
          <a:xfrm>
            <a:off x="1051560" y="4443983"/>
            <a:ext cx="4206240" cy="502920"/>
          </a:xfrm>
          <a:prstGeom prst="roundRect">
            <a:avLst>
              <a:gd fmla="val 10909" name="adj"/>
            </a:avLst>
          </a:prstGeom>
          <a:solidFill>
            <a:srgbClr val="FFFFFF"/>
          </a:solidFill>
          <a:ln cap="flat" cmpd="sng" w="19050">
            <a:solidFill>
              <a:srgbClr val="2E7D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8"/>
          <p:cNvSpPr txBox="1"/>
          <p:nvPr/>
        </p:nvSpPr>
        <p:spPr>
          <a:xfrm>
            <a:off x="1124712" y="4454334"/>
            <a:ext cx="405993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2E7D5B"/>
                </a:solidFill>
                <a:latin typeface="Arial"/>
                <a:ea typeface="Arial"/>
                <a:cs typeface="Arial"/>
                <a:sym typeface="Arial"/>
              </a:rPr>
              <a:t>Feed the watchdog</a:t>
            </a:r>
            <a:endParaRPr/>
          </a:p>
        </p:txBody>
      </p:sp>
      <p:sp>
        <p:nvSpPr>
          <p:cNvPr id="505" name="Google Shape;505;p8"/>
          <p:cNvSpPr txBox="1"/>
          <p:nvPr/>
        </p:nvSpPr>
        <p:spPr>
          <a:xfrm>
            <a:off x="1124712" y="4705667"/>
            <a:ext cx="4059935" cy="230886"/>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only on a clean pass</a:t>
            </a:r>
            <a:endParaRPr/>
          </a:p>
        </p:txBody>
      </p:sp>
      <p:cxnSp>
        <p:nvCxnSpPr>
          <p:cNvPr id="506" name="Google Shape;506;p8"/>
          <p:cNvCxnSpPr/>
          <p:nvPr/>
        </p:nvCxnSpPr>
        <p:spPr>
          <a:xfrm>
            <a:off x="3154680" y="4946904"/>
            <a:ext cx="0" cy="192024"/>
          </a:xfrm>
          <a:prstGeom prst="straightConnector1">
            <a:avLst/>
          </a:prstGeom>
          <a:noFill/>
          <a:ln cap="flat" cmpd="sng" w="19050">
            <a:solidFill>
              <a:srgbClr val="2E7D5B"/>
            </a:solidFill>
            <a:prstDash val="solid"/>
            <a:round/>
            <a:headEnd len="sm" w="sm" type="none"/>
            <a:tailEnd len="sm" w="sm" type="none"/>
          </a:ln>
          <a:effectLst>
            <a:outerShdw blurRad="40000" rotWithShape="0" dir="5400000" dist="20000">
              <a:srgbClr val="000000">
                <a:alpha val="38039"/>
              </a:srgbClr>
            </a:outerShdw>
          </a:effectLst>
        </p:spPr>
      </p:cxnSp>
      <p:cxnSp>
        <p:nvCxnSpPr>
          <p:cNvPr id="507" name="Google Shape;507;p8"/>
          <p:cNvCxnSpPr/>
          <p:nvPr/>
        </p:nvCxnSpPr>
        <p:spPr>
          <a:xfrm rot="10800000">
            <a:off x="731520" y="5138928"/>
            <a:ext cx="2423160" cy="0"/>
          </a:xfrm>
          <a:prstGeom prst="straightConnector1">
            <a:avLst/>
          </a:prstGeom>
          <a:noFill/>
          <a:ln cap="flat" cmpd="sng" w="19050">
            <a:solidFill>
              <a:srgbClr val="2E7D5B"/>
            </a:solidFill>
            <a:prstDash val="solid"/>
            <a:round/>
            <a:headEnd len="sm" w="sm" type="none"/>
            <a:tailEnd len="sm" w="sm" type="none"/>
          </a:ln>
          <a:effectLst>
            <a:outerShdw blurRad="40000" rotWithShape="0" dir="5400000" dist="20000">
              <a:srgbClr val="000000">
                <a:alpha val="38039"/>
              </a:srgbClr>
            </a:outerShdw>
          </a:effectLst>
        </p:spPr>
      </p:cxnSp>
      <p:cxnSp>
        <p:nvCxnSpPr>
          <p:cNvPr id="508" name="Google Shape;508;p8"/>
          <p:cNvCxnSpPr/>
          <p:nvPr/>
        </p:nvCxnSpPr>
        <p:spPr>
          <a:xfrm rot="10800000">
            <a:off x="731520" y="2103120"/>
            <a:ext cx="0" cy="3035808"/>
          </a:xfrm>
          <a:prstGeom prst="straightConnector1">
            <a:avLst/>
          </a:prstGeom>
          <a:noFill/>
          <a:ln cap="flat" cmpd="sng" w="19050">
            <a:solidFill>
              <a:srgbClr val="2E7D5B"/>
            </a:solidFill>
            <a:prstDash val="solid"/>
            <a:round/>
            <a:headEnd len="sm" w="sm" type="none"/>
            <a:tailEnd len="sm" w="sm" type="none"/>
          </a:ln>
          <a:effectLst>
            <a:outerShdw blurRad="40000" rotWithShape="0" dir="5400000" dist="20000">
              <a:srgbClr val="000000">
                <a:alpha val="38039"/>
              </a:srgbClr>
            </a:outerShdw>
          </a:effectLst>
        </p:spPr>
      </p:cxnSp>
      <p:cxnSp>
        <p:nvCxnSpPr>
          <p:cNvPr id="509" name="Google Shape;509;p8"/>
          <p:cNvCxnSpPr/>
          <p:nvPr/>
        </p:nvCxnSpPr>
        <p:spPr>
          <a:xfrm>
            <a:off x="731520" y="2103120"/>
            <a:ext cx="283464" cy="0"/>
          </a:xfrm>
          <a:prstGeom prst="straightConnector1">
            <a:avLst/>
          </a:prstGeom>
          <a:noFill/>
          <a:ln cap="flat" cmpd="sng" w="19050">
            <a:solidFill>
              <a:srgbClr val="2E7D5B"/>
            </a:solidFill>
            <a:prstDash val="solid"/>
            <a:round/>
            <a:headEnd len="sm" w="sm" type="none"/>
            <a:tailEnd len="med" w="med" type="triangle"/>
          </a:ln>
          <a:effectLst>
            <a:outerShdw blurRad="40000" rotWithShape="0" dir="5400000" dist="20000">
              <a:srgbClr val="000000">
                <a:alpha val="38039"/>
              </a:srgbClr>
            </a:outerShdw>
          </a:effectLst>
        </p:spPr>
      </p:cxnSp>
      <p:sp>
        <p:nvSpPr>
          <p:cNvPr id="510" name="Google Shape;510;p8"/>
          <p:cNvSpPr txBox="1"/>
          <p:nvPr/>
        </p:nvSpPr>
        <p:spPr>
          <a:xfrm>
            <a:off x="795528" y="5157216"/>
            <a:ext cx="2377440"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2E7D5B"/>
                </a:solidFill>
                <a:latin typeface="Arial"/>
                <a:ea typeface="Arial"/>
                <a:cs typeface="Arial"/>
                <a:sym typeface="Arial"/>
              </a:rPr>
              <a:t>repeat, for ever</a:t>
            </a:r>
            <a:endParaRPr/>
          </a:p>
        </p:txBody>
      </p:sp>
      <p:sp>
        <p:nvSpPr>
          <p:cNvPr id="511" name="Google Shape;511;p8"/>
          <p:cNvSpPr txBox="1"/>
          <p:nvPr/>
        </p:nvSpPr>
        <p:spPr>
          <a:xfrm>
            <a:off x="6400800" y="1554480"/>
            <a:ext cx="5239512"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13657F"/>
                </a:solidFill>
                <a:latin typeface="Arial"/>
                <a:ea typeface="Arial"/>
                <a:cs typeface="Arial"/>
                <a:sym typeface="Arial"/>
              </a:rPr>
              <a:t>IN PSEUDOCODE</a:t>
            </a:r>
            <a:endParaRPr/>
          </a:p>
        </p:txBody>
      </p:sp>
      <p:sp>
        <p:nvSpPr>
          <p:cNvPr id="512" name="Google Shape;512;p8"/>
          <p:cNvSpPr/>
          <p:nvPr/>
        </p:nvSpPr>
        <p:spPr>
          <a:xfrm>
            <a:off x="6446520" y="1847088"/>
            <a:ext cx="5239512" cy="2212848"/>
          </a:xfrm>
          <a:prstGeom prst="roundRect">
            <a:avLst>
              <a:gd fmla="val 2892"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8"/>
          <p:cNvSpPr txBox="1"/>
          <p:nvPr/>
        </p:nvSpPr>
        <p:spPr>
          <a:xfrm>
            <a:off x="6556248" y="201168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init_hardware();</a:t>
            </a:r>
            <a:endParaRPr/>
          </a:p>
        </p:txBody>
      </p:sp>
      <p:sp>
        <p:nvSpPr>
          <p:cNvPr id="514" name="Google Shape;514;p8"/>
          <p:cNvSpPr txBox="1"/>
          <p:nvPr/>
        </p:nvSpPr>
        <p:spPr>
          <a:xfrm>
            <a:off x="6556248" y="218186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config = load_committed_or_safe_defaults();</a:t>
            </a:r>
            <a:endParaRPr/>
          </a:p>
        </p:txBody>
      </p:sp>
      <p:sp>
        <p:nvSpPr>
          <p:cNvPr id="515" name="Google Shape;515;p8"/>
          <p:cNvSpPr txBox="1"/>
          <p:nvPr/>
        </p:nvSpPr>
        <p:spPr>
          <a:xfrm>
            <a:off x="6556248" y="235204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16" name="Google Shape;516;p8"/>
          <p:cNvSpPr txBox="1"/>
          <p:nvPr/>
        </p:nvSpPr>
        <p:spPr>
          <a:xfrm>
            <a:off x="6556248" y="252222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forever</a:t>
            </a:r>
            <a:endParaRPr/>
          </a:p>
        </p:txBody>
      </p:sp>
      <p:sp>
        <p:nvSpPr>
          <p:cNvPr id="517" name="Google Shape;517;p8"/>
          <p:cNvSpPr txBox="1"/>
          <p:nvPr/>
        </p:nvSpPr>
        <p:spPr>
          <a:xfrm>
            <a:off x="6556248" y="269240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18" name="Google Shape;518;p8"/>
          <p:cNvSpPr txBox="1"/>
          <p:nvPr/>
        </p:nvSpPr>
        <p:spPr>
          <a:xfrm>
            <a:off x="6556248" y="286258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(can_command_pending())    stage_command();</a:t>
            </a:r>
            <a:endParaRPr/>
          </a:p>
        </p:txBody>
      </p:sp>
      <p:sp>
        <p:nvSpPr>
          <p:cNvPr id="519" name="Google Shape;519;p8"/>
          <p:cNvSpPr txBox="1"/>
          <p:nvPr/>
        </p:nvSpPr>
        <p:spPr>
          <a:xfrm>
            <a:off x="6556248" y="303276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(time_to_measure())        read_and_convert_channels();</a:t>
            </a:r>
            <a:endParaRPr/>
          </a:p>
        </p:txBody>
      </p:sp>
      <p:sp>
        <p:nvSpPr>
          <p:cNvPr id="520" name="Google Shape;520;p8"/>
          <p:cNvSpPr txBox="1"/>
          <p:nvPr/>
        </p:nvSpPr>
        <p:spPr>
          <a:xfrm>
            <a:off x="6556248" y="320294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(time_to_publish())        publish_values_and_status();</a:t>
            </a:r>
            <a:endParaRPr/>
          </a:p>
        </p:txBody>
      </p:sp>
      <p:sp>
        <p:nvSpPr>
          <p:cNvPr id="521" name="Google Shape;521;p8"/>
          <p:cNvSpPr txBox="1"/>
          <p:nvPr/>
        </p:nvSpPr>
        <p:spPr>
          <a:xfrm>
            <a:off x="6556248" y="337312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(pending)                  commit_staged_config();</a:t>
            </a:r>
            <a:endParaRPr/>
          </a:p>
        </p:txBody>
      </p:sp>
      <p:sp>
        <p:nvSpPr>
          <p:cNvPr id="522" name="Google Shape;522;p8"/>
          <p:cNvSpPr txBox="1"/>
          <p:nvPr/>
        </p:nvSpPr>
        <p:spPr>
          <a:xfrm>
            <a:off x="6556248" y="354330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(pass_completed_cleanly()) service_watchdog();</a:t>
            </a:r>
            <a:endParaRPr/>
          </a:p>
        </p:txBody>
      </p:sp>
      <p:sp>
        <p:nvSpPr>
          <p:cNvPr id="523" name="Google Shape;523;p8"/>
          <p:cNvSpPr txBox="1"/>
          <p:nvPr/>
        </p:nvSpPr>
        <p:spPr>
          <a:xfrm>
            <a:off x="6556248" y="3713480"/>
            <a:ext cx="498348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24" name="Google Shape;524;p8"/>
          <p:cNvSpPr/>
          <p:nvPr/>
        </p:nvSpPr>
        <p:spPr>
          <a:xfrm>
            <a:off x="6446520" y="4224528"/>
            <a:ext cx="5239512" cy="1097280"/>
          </a:xfrm>
          <a:prstGeom prst="roundRect">
            <a:avLst>
              <a:gd fmla="val 5833"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8"/>
          <p:cNvSpPr txBox="1"/>
          <p:nvPr/>
        </p:nvSpPr>
        <p:spPr>
          <a:xfrm>
            <a:off x="6601968" y="4385462"/>
            <a:ext cx="4928616"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E2721C"/>
                </a:solidFill>
                <a:latin typeface="Arial"/>
                <a:ea typeface="Arial"/>
                <a:cs typeface="Arial"/>
                <a:sym typeface="Arial"/>
              </a:rPr>
              <a:t>Why step 1 stages instead of writing</a:t>
            </a:r>
            <a:endParaRPr/>
          </a:p>
        </p:txBody>
      </p:sp>
      <p:sp>
        <p:nvSpPr>
          <p:cNvPr id="526" name="Google Shape;526;p8"/>
          <p:cNvSpPr txBox="1"/>
          <p:nvPr/>
        </p:nvSpPr>
        <p:spPr>
          <a:xfrm>
            <a:off x="6601968" y="4627651"/>
            <a:ext cx="4928616" cy="5562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1C2B36"/>
                </a:solidFill>
                <a:latin typeface="Arial"/>
                <a:ea typeface="Arial"/>
                <a:cs typeface="Arial"/>
                <a:sym typeface="Arial"/>
              </a:rPr>
              <a:t>A flash page erase takes milliseconds. Writing it inside the command handler would make step 1 unbounded and quietly break the bounded-execution requirement. Step 1 validates and stages in RAM; step 5 writes, then acknowledges.</a:t>
            </a:r>
            <a:endParaRPr/>
          </a:p>
        </p:txBody>
      </p:sp>
      <p:sp>
        <p:nvSpPr>
          <p:cNvPr id="527" name="Google Shape;527;p8"/>
          <p:cNvSpPr/>
          <p:nvPr/>
        </p:nvSpPr>
        <p:spPr>
          <a:xfrm>
            <a:off x="502920" y="5486400"/>
            <a:ext cx="3545860" cy="868680"/>
          </a:xfrm>
          <a:prstGeom prst="roundRect">
            <a:avLst>
              <a:gd fmla="val 7368"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8"/>
          <p:cNvSpPr txBox="1"/>
          <p:nvPr/>
        </p:nvSpPr>
        <p:spPr>
          <a:xfrm>
            <a:off x="658368" y="5647334"/>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No unbounded waits</a:t>
            </a:r>
            <a:endParaRPr/>
          </a:p>
        </p:txBody>
      </p:sp>
      <p:sp>
        <p:nvSpPr>
          <p:cNvPr id="529" name="Google Shape;529;p8"/>
          <p:cNvSpPr txBox="1"/>
          <p:nvPr/>
        </p:nvSpPr>
        <p:spPr>
          <a:xfrm>
            <a:off x="658368" y="5889523"/>
            <a:ext cx="3234964" cy="38582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1C2B36"/>
                </a:solidFill>
                <a:latin typeface="Arial"/>
                <a:ea typeface="Arial"/>
                <a:cs typeface="Arial"/>
                <a:sym typeface="Arial"/>
              </a:rPr>
              <a:t>Every HAL wait has a timeout. The ADC scan is tens of microseconds, and the flash write has its own loop step.</a:t>
            </a:r>
            <a:endParaRPr/>
          </a:p>
        </p:txBody>
      </p:sp>
      <p:sp>
        <p:nvSpPr>
          <p:cNvPr id="530" name="Google Shape;530;p8"/>
          <p:cNvSpPr/>
          <p:nvPr/>
        </p:nvSpPr>
        <p:spPr>
          <a:xfrm>
            <a:off x="4323100" y="5486400"/>
            <a:ext cx="3545860" cy="868680"/>
          </a:xfrm>
          <a:prstGeom prst="roundRect">
            <a:avLst>
              <a:gd fmla="val 7368"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8"/>
          <p:cNvSpPr txBox="1"/>
          <p:nvPr/>
        </p:nvSpPr>
        <p:spPr>
          <a:xfrm>
            <a:off x="4478548" y="5647334"/>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The order is deliberate</a:t>
            </a:r>
            <a:endParaRPr/>
          </a:p>
        </p:txBody>
      </p:sp>
      <p:sp>
        <p:nvSpPr>
          <p:cNvPr id="532" name="Google Shape;532;p8"/>
          <p:cNvSpPr txBox="1"/>
          <p:nvPr/>
        </p:nvSpPr>
        <p:spPr>
          <a:xfrm>
            <a:off x="4478548" y="5889523"/>
            <a:ext cx="3234964" cy="38582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1C2B36"/>
                </a:solidFill>
                <a:latin typeface="Arial"/>
                <a:ea typeface="Arial"/>
                <a:cs typeface="Arial"/>
                <a:sym typeface="Arial"/>
              </a:rPr>
              <a:t>Staged early, committed late — a new type is in force from the pass after it is acknowledged.</a:t>
            </a:r>
            <a:endParaRPr/>
          </a:p>
        </p:txBody>
      </p:sp>
      <p:sp>
        <p:nvSpPr>
          <p:cNvPr id="533" name="Google Shape;533;p8"/>
          <p:cNvSpPr/>
          <p:nvPr/>
        </p:nvSpPr>
        <p:spPr>
          <a:xfrm>
            <a:off x="8143280" y="5486400"/>
            <a:ext cx="3545860" cy="868680"/>
          </a:xfrm>
          <a:prstGeom prst="roundRect">
            <a:avLst>
              <a:gd fmla="val 7368"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8"/>
          <p:cNvSpPr txBox="1"/>
          <p:nvPr/>
        </p:nvSpPr>
        <p:spPr>
          <a:xfrm>
            <a:off x="8298728" y="5647334"/>
            <a:ext cx="3234964"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0F3A5F"/>
                </a:solidFill>
                <a:latin typeface="Arial"/>
                <a:ea typeface="Arial"/>
                <a:cs typeface="Arial"/>
                <a:sym typeface="Arial"/>
              </a:rPr>
              <a:t>The watchdog is fed last</a:t>
            </a:r>
            <a:endParaRPr/>
          </a:p>
        </p:txBody>
      </p:sp>
      <p:sp>
        <p:nvSpPr>
          <p:cNvPr id="535" name="Google Shape;535;p8"/>
          <p:cNvSpPr txBox="1"/>
          <p:nvPr/>
        </p:nvSpPr>
        <p:spPr>
          <a:xfrm>
            <a:off x="8298728" y="5889523"/>
            <a:ext cx="3234964" cy="38582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1C2B36"/>
                </a:solidFill>
                <a:latin typeface="Arial"/>
                <a:ea typeface="Arial"/>
                <a:cs typeface="Arial"/>
                <a:sym typeface="Arial"/>
              </a:rPr>
              <a:t>Only a pass that completed every step cleanly feeds it; an overrun becomes a logged reset.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9"/>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08 · EXECUTION MODEL</a:t>
            </a:r>
            <a:endParaRPr/>
          </a:p>
        </p:txBody>
      </p:sp>
      <p:sp>
        <p:nvSpPr>
          <p:cNvPr id="542" name="Google Shape;542;p9"/>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The two routines that carry the requirements</a:t>
            </a:r>
            <a:endParaRPr/>
          </a:p>
        </p:txBody>
      </p:sp>
      <p:sp>
        <p:nvSpPr>
          <p:cNvPr id="543" name="Google Shape;543;p9"/>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Acquisition on the left, configuration change on the right. Both fail closed.</a:t>
            </a:r>
            <a:endParaRPr/>
          </a:p>
        </p:txBody>
      </p:sp>
      <p:sp>
        <p:nvSpPr>
          <p:cNvPr id="544" name="Google Shape;544;p9"/>
          <p:cNvSpPr txBox="1"/>
          <p:nvPr/>
        </p:nvSpPr>
        <p:spPr>
          <a:xfrm>
            <a:off x="457200" y="1554480"/>
            <a:ext cx="544068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READING THE CHANNELS — EVERY PASS</a:t>
            </a:r>
            <a:endParaRPr/>
          </a:p>
        </p:txBody>
      </p:sp>
      <p:sp>
        <p:nvSpPr>
          <p:cNvPr id="545" name="Google Shape;545;p9"/>
          <p:cNvSpPr/>
          <p:nvPr/>
        </p:nvSpPr>
        <p:spPr>
          <a:xfrm>
            <a:off x="502920" y="1847088"/>
            <a:ext cx="5440680" cy="3877056"/>
          </a:xfrm>
          <a:prstGeom prst="roundRect">
            <a:avLst>
              <a:gd fmla="val 1650"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9"/>
          <p:cNvSpPr txBox="1"/>
          <p:nvPr/>
        </p:nvSpPr>
        <p:spPr>
          <a:xfrm>
            <a:off x="667512" y="20116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read_and_convert_channels()</a:t>
            </a:r>
            <a:endParaRPr/>
          </a:p>
        </p:txBody>
      </p:sp>
      <p:sp>
        <p:nvSpPr>
          <p:cNvPr id="547" name="Google Shape;547;p9"/>
          <p:cNvSpPr txBox="1"/>
          <p:nvPr/>
        </p:nvSpPr>
        <p:spPr>
          <a:xfrm>
            <a:off x="667512" y="21818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48" name="Google Shape;548;p9"/>
          <p:cNvSpPr txBox="1"/>
          <p:nvPr/>
        </p:nvSpPr>
        <p:spPr>
          <a:xfrm>
            <a:off x="667512" y="23520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raw = adc_read_all();</a:t>
            </a:r>
            <a:endParaRPr/>
          </a:p>
        </p:txBody>
      </p:sp>
      <p:sp>
        <p:nvSpPr>
          <p:cNvPr id="549" name="Google Shape;549;p9"/>
          <p:cNvSpPr txBox="1"/>
          <p:nvPr/>
        </p:nvSpPr>
        <p:spPr>
          <a:xfrm>
            <a:off x="667512" y="252222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50" name="Google Shape;550;p9"/>
          <p:cNvSpPr txBox="1"/>
          <p:nvPr/>
        </p:nvSpPr>
        <p:spPr>
          <a:xfrm>
            <a:off x="667512" y="269240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for each channel ch</a:t>
            </a:r>
            <a:endParaRPr/>
          </a:p>
        </p:txBody>
      </p:sp>
      <p:sp>
        <p:nvSpPr>
          <p:cNvPr id="551" name="Google Shape;551;p9"/>
          <p:cNvSpPr txBox="1"/>
          <p:nvPr/>
        </p:nvSpPr>
        <p:spPr>
          <a:xfrm>
            <a:off x="667512" y="28625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52" name="Google Shape;552;p9"/>
          <p:cNvSpPr txBox="1"/>
          <p:nvPr/>
        </p:nvSpPr>
        <p:spPr>
          <a:xfrm>
            <a:off x="667512" y="30327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type = config.type[ch];</a:t>
            </a:r>
            <a:endParaRPr/>
          </a:p>
        </p:txBody>
      </p:sp>
      <p:sp>
        <p:nvSpPr>
          <p:cNvPr id="553" name="Google Shape;553;p9"/>
          <p:cNvSpPr txBox="1"/>
          <p:nvPr/>
        </p:nvSpPr>
        <p:spPr>
          <a:xfrm>
            <a:off x="667512" y="32029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54" name="Google Shape;554;p9"/>
          <p:cNvSpPr txBox="1"/>
          <p:nvPr/>
        </p:nvSpPr>
        <p:spPr>
          <a:xfrm>
            <a:off x="667512" y="337312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(type == DISABLED)</a:t>
            </a:r>
            <a:endParaRPr/>
          </a:p>
        </p:txBody>
      </p:sp>
      <p:sp>
        <p:nvSpPr>
          <p:cNvPr id="555" name="Google Shape;555;p9"/>
          <p:cNvSpPr txBox="1"/>
          <p:nvPr/>
        </p:nvSpPr>
        <p:spPr>
          <a:xfrm>
            <a:off x="667512" y="354330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56" name="Google Shape;556;p9"/>
          <p:cNvSpPr txBox="1"/>
          <p:nvPr/>
        </p:nvSpPr>
        <p:spPr>
          <a:xfrm>
            <a:off x="667512" y="37134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status[ch] = DISABLED;   /* never stale */</a:t>
            </a:r>
            <a:endParaRPr/>
          </a:p>
        </p:txBody>
      </p:sp>
      <p:sp>
        <p:nvSpPr>
          <p:cNvPr id="557" name="Google Shape;557;p9"/>
          <p:cNvSpPr txBox="1"/>
          <p:nvPr/>
        </p:nvSpPr>
        <p:spPr>
          <a:xfrm>
            <a:off x="667512" y="38836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continue;</a:t>
            </a:r>
            <a:endParaRPr/>
          </a:p>
        </p:txBody>
      </p:sp>
      <p:sp>
        <p:nvSpPr>
          <p:cNvPr id="558" name="Google Shape;558;p9"/>
          <p:cNvSpPr txBox="1"/>
          <p:nvPr/>
        </p:nvSpPr>
        <p:spPr>
          <a:xfrm>
            <a:off x="667512" y="40538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59" name="Google Shape;559;p9"/>
          <p:cNvSpPr txBox="1"/>
          <p:nvPr/>
        </p:nvSpPr>
        <p:spPr>
          <a:xfrm>
            <a:off x="667512" y="422402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60" name="Google Shape;560;p9"/>
          <p:cNvSpPr txBox="1"/>
          <p:nvPr/>
        </p:nvSpPr>
        <p:spPr>
          <a:xfrm>
            <a:off x="667512" y="439420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value[ch]  = convert(raw[ch], type);</a:t>
            </a:r>
            <a:endParaRPr/>
          </a:p>
        </p:txBody>
      </p:sp>
      <p:sp>
        <p:nvSpPr>
          <p:cNvPr id="561" name="Google Shape;561;p9"/>
          <p:cNvSpPr txBox="1"/>
          <p:nvPr/>
        </p:nvSpPr>
        <p:spPr>
          <a:xfrm>
            <a:off x="667512" y="45643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status[ch] = check_range(value[ch], type);</a:t>
            </a:r>
            <a:endParaRPr/>
          </a:p>
        </p:txBody>
      </p:sp>
      <p:sp>
        <p:nvSpPr>
          <p:cNvPr id="562" name="Google Shape;562;p9"/>
          <p:cNvSpPr txBox="1"/>
          <p:nvPr/>
        </p:nvSpPr>
        <p:spPr>
          <a:xfrm>
            <a:off x="667512" y="47345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63" name="Google Shape;563;p9"/>
          <p:cNvSpPr txBox="1"/>
          <p:nvPr/>
        </p:nvSpPr>
        <p:spPr>
          <a:xfrm>
            <a:off x="667512" y="49047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64" name="Google Shape;564;p9"/>
          <p:cNvSpPr txBox="1"/>
          <p:nvPr/>
        </p:nvSpPr>
        <p:spPr>
          <a:xfrm>
            <a:off x="6199632" y="1554480"/>
            <a:ext cx="544068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13657F"/>
                </a:solidFill>
                <a:latin typeface="Arial"/>
                <a:ea typeface="Arial"/>
                <a:cs typeface="Arial"/>
                <a:sym typeface="Arial"/>
              </a:rPr>
              <a:t>CHANGING A SETTING — STAGE, THEN COMMIT</a:t>
            </a:r>
            <a:endParaRPr/>
          </a:p>
        </p:txBody>
      </p:sp>
      <p:sp>
        <p:nvSpPr>
          <p:cNvPr id="565" name="Google Shape;565;p9"/>
          <p:cNvSpPr/>
          <p:nvPr/>
        </p:nvSpPr>
        <p:spPr>
          <a:xfrm>
            <a:off x="6245352" y="1847088"/>
            <a:ext cx="5440680" cy="3877056"/>
          </a:xfrm>
          <a:prstGeom prst="roundRect">
            <a:avLst>
              <a:gd fmla="val 1650"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9"/>
          <p:cNvSpPr txBox="1"/>
          <p:nvPr/>
        </p:nvSpPr>
        <p:spPr>
          <a:xfrm>
            <a:off x="6409944" y="20116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stage_command(cmd)</a:t>
            </a:r>
            <a:endParaRPr/>
          </a:p>
        </p:txBody>
      </p:sp>
      <p:sp>
        <p:nvSpPr>
          <p:cNvPr id="567" name="Google Shape;567;p9"/>
          <p:cNvSpPr txBox="1"/>
          <p:nvPr/>
        </p:nvSpPr>
        <p:spPr>
          <a:xfrm>
            <a:off x="6409944" y="21818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68" name="Google Shape;568;p9"/>
          <p:cNvSpPr txBox="1"/>
          <p:nvPr/>
        </p:nvSpPr>
        <p:spPr>
          <a:xfrm>
            <a:off x="6409944" y="23520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(!valid(cmd))</a:t>
            </a:r>
            <a:endParaRPr/>
          </a:p>
        </p:txBody>
      </p:sp>
      <p:sp>
        <p:nvSpPr>
          <p:cNvPr id="569" name="Google Shape;569;p9"/>
          <p:cNvSpPr txBox="1"/>
          <p:nvPr/>
        </p:nvSpPr>
        <p:spPr>
          <a:xfrm>
            <a:off x="6409944" y="252222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 send_nack(cmd, INVALID); return; }</a:t>
            </a:r>
            <a:endParaRPr/>
          </a:p>
        </p:txBody>
      </p:sp>
      <p:sp>
        <p:nvSpPr>
          <p:cNvPr id="570" name="Google Shape;570;p9"/>
          <p:cNvSpPr txBox="1"/>
          <p:nvPr/>
        </p:nvSpPr>
        <p:spPr>
          <a:xfrm>
            <a:off x="6409944" y="269240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staged              = config;    /* whole record */</a:t>
            </a:r>
            <a:endParaRPr/>
          </a:p>
        </p:txBody>
      </p:sp>
      <p:sp>
        <p:nvSpPr>
          <p:cNvPr id="571" name="Google Shape;571;p9"/>
          <p:cNvSpPr txBox="1"/>
          <p:nvPr/>
        </p:nvSpPr>
        <p:spPr>
          <a:xfrm>
            <a:off x="6409944" y="28625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staged.type[cmd.ch] = cmd.type;</a:t>
            </a:r>
            <a:endParaRPr/>
          </a:p>
        </p:txBody>
      </p:sp>
      <p:sp>
        <p:nvSpPr>
          <p:cNvPr id="572" name="Google Shape;572;p9"/>
          <p:cNvSpPr txBox="1"/>
          <p:nvPr/>
        </p:nvSpPr>
        <p:spPr>
          <a:xfrm>
            <a:off x="6409944" y="30327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pending             = true;      /* RAM only */</a:t>
            </a:r>
            <a:endParaRPr/>
          </a:p>
        </p:txBody>
      </p:sp>
      <p:sp>
        <p:nvSpPr>
          <p:cNvPr id="573" name="Google Shape;573;p9"/>
          <p:cNvSpPr txBox="1"/>
          <p:nvPr/>
        </p:nvSpPr>
        <p:spPr>
          <a:xfrm>
            <a:off x="6409944" y="32029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74" name="Google Shape;574;p9"/>
          <p:cNvSpPr txBox="1"/>
          <p:nvPr/>
        </p:nvSpPr>
        <p:spPr>
          <a:xfrm>
            <a:off x="6409944" y="337312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75" name="Google Shape;575;p9"/>
          <p:cNvSpPr txBox="1"/>
          <p:nvPr/>
        </p:nvSpPr>
        <p:spPr>
          <a:xfrm>
            <a:off x="6409944" y="354330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commit_staged_config()</a:t>
            </a:r>
            <a:endParaRPr/>
          </a:p>
        </p:txBody>
      </p:sp>
      <p:sp>
        <p:nvSpPr>
          <p:cNvPr id="576" name="Google Shape;576;p9"/>
          <p:cNvSpPr txBox="1"/>
          <p:nvPr/>
        </p:nvSpPr>
        <p:spPr>
          <a:xfrm>
            <a:off x="6409944" y="37134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77" name="Google Shape;577;p9"/>
          <p:cNvSpPr txBox="1"/>
          <p:nvPr/>
        </p:nvSpPr>
        <p:spPr>
          <a:xfrm>
            <a:off x="6409944" y="38836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write_spare_copy(staged);</a:t>
            </a:r>
            <a:endParaRPr/>
          </a:p>
        </p:txBody>
      </p:sp>
      <p:sp>
        <p:nvSpPr>
          <p:cNvPr id="578" name="Google Shape;578;p9"/>
          <p:cNvSpPr txBox="1"/>
          <p:nvPr/>
        </p:nvSpPr>
        <p:spPr>
          <a:xfrm>
            <a:off x="6409944" y="40538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if (!read_back_and_crc_ok())</a:t>
            </a:r>
            <a:endParaRPr/>
          </a:p>
        </p:txBody>
      </p:sp>
      <p:sp>
        <p:nvSpPr>
          <p:cNvPr id="579" name="Google Shape;579;p9"/>
          <p:cNvSpPr txBox="1"/>
          <p:nvPr/>
        </p:nvSpPr>
        <p:spPr>
          <a:xfrm>
            <a:off x="6409944" y="422402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   report_fault(NVM_WRITE);  send_nack(staged, NVM);</a:t>
            </a:r>
            <a:endParaRPr/>
          </a:p>
        </p:txBody>
      </p:sp>
      <p:sp>
        <p:nvSpPr>
          <p:cNvPr id="580" name="Google Shape;580;p9"/>
          <p:cNvSpPr txBox="1"/>
          <p:nvPr/>
        </p:nvSpPr>
        <p:spPr>
          <a:xfrm>
            <a:off x="6409944" y="439420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pending = false;  return;    /* old copy stays */</a:t>
            </a:r>
            <a:endParaRPr/>
          </a:p>
        </p:txBody>
      </p:sp>
      <p:sp>
        <p:nvSpPr>
          <p:cNvPr id="581" name="Google Shape;581;p9"/>
          <p:cNvSpPr txBox="1"/>
          <p:nvPr/>
        </p:nvSpPr>
        <p:spPr>
          <a:xfrm>
            <a:off x="6409944" y="45643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a:t>
            </a:r>
            <a:endParaRPr/>
          </a:p>
        </p:txBody>
      </p:sp>
      <p:sp>
        <p:nvSpPr>
          <p:cNvPr id="582" name="Google Shape;582;p9"/>
          <p:cNvSpPr txBox="1"/>
          <p:nvPr/>
        </p:nvSpPr>
        <p:spPr>
          <a:xfrm>
            <a:off x="6409944" y="473456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move_commit_marker();</a:t>
            </a:r>
            <a:endParaRPr/>
          </a:p>
        </p:txBody>
      </p:sp>
      <p:sp>
        <p:nvSpPr>
          <p:cNvPr id="583" name="Google Shape;583;p9"/>
          <p:cNvSpPr txBox="1"/>
          <p:nvPr/>
        </p:nvSpPr>
        <p:spPr>
          <a:xfrm>
            <a:off x="6409944" y="490474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config  = staged;                /* flash, then RAM */</a:t>
            </a:r>
            <a:endParaRPr/>
          </a:p>
        </p:txBody>
      </p:sp>
      <p:sp>
        <p:nvSpPr>
          <p:cNvPr id="584" name="Google Shape;584;p9"/>
          <p:cNvSpPr txBox="1"/>
          <p:nvPr/>
        </p:nvSpPr>
        <p:spPr>
          <a:xfrm>
            <a:off x="6409944" y="507492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pending = false;                 /* else we re-commit */</a:t>
            </a:r>
            <a:endParaRPr/>
          </a:p>
        </p:txBody>
      </p:sp>
      <p:sp>
        <p:nvSpPr>
          <p:cNvPr id="585" name="Google Shape;585;p9"/>
          <p:cNvSpPr txBox="1"/>
          <p:nvPr/>
        </p:nvSpPr>
        <p:spPr>
          <a:xfrm>
            <a:off x="6409944" y="524510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    send_ack(staged);                /* last, on purpose */</a:t>
            </a:r>
            <a:endParaRPr/>
          </a:p>
        </p:txBody>
      </p:sp>
      <p:sp>
        <p:nvSpPr>
          <p:cNvPr id="586" name="Google Shape;586;p9"/>
          <p:cNvSpPr txBox="1"/>
          <p:nvPr/>
        </p:nvSpPr>
        <p:spPr>
          <a:xfrm>
            <a:off x="6409944" y="5415280"/>
            <a:ext cx="5029200" cy="206756"/>
          </a:xfrm>
          <a:prstGeom prst="rect">
            <a:avLst/>
          </a:prstGeom>
          <a:noFill/>
          <a:ln>
            <a:noFill/>
          </a:ln>
        </p:spPr>
        <p:txBody>
          <a:bodyPr anchorCtr="0" anchor="t" bIns="45700" lIns="45700" spcFirstLastPara="1" rIns="45700" wrap="square" tIns="45700">
            <a:noAutofit/>
          </a:bodyPr>
          <a:lstStyle/>
          <a:p>
            <a:pPr indent="0" lvl="0" marL="0" marR="0" rtl="0" algn="l">
              <a:lnSpc>
                <a:spcPct val="111666"/>
              </a:lnSpc>
              <a:spcBef>
                <a:spcPts val="0"/>
              </a:spcBef>
              <a:spcAft>
                <a:spcPts val="0"/>
              </a:spcAft>
              <a:buNone/>
            </a:pPr>
            <a:r>
              <a:rPr b="0" i="0" lang="en-US" sz="1000">
                <a:solidFill>
                  <a:srgbClr val="1C2B36"/>
                </a:solidFill>
                <a:latin typeface="Courier New"/>
                <a:ea typeface="Courier New"/>
                <a:cs typeface="Courier New"/>
                <a:sym typeface="Courier New"/>
              </a:rPr>
              <a:t>}</a:t>
            </a:r>
            <a:endParaRPr/>
          </a:p>
        </p:txBody>
      </p:sp>
      <p:sp>
        <p:nvSpPr>
          <p:cNvPr id="587" name="Google Shape;587;p9"/>
          <p:cNvSpPr txBox="1"/>
          <p:nvPr/>
        </p:nvSpPr>
        <p:spPr>
          <a:xfrm>
            <a:off x="457200" y="5888736"/>
            <a:ext cx="11186129"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0F3A5F"/>
                </a:solidFill>
                <a:latin typeface="Arial"/>
                <a:ea typeface="Arial"/>
                <a:cs typeface="Arial"/>
                <a:sym typeface="Arial"/>
              </a:rPr>
              <a:t>Both routines fail closed: every early return leaves the previously committed configuration in force, a disabled channel publishes its status rather than a stale value, and send_ack is the last statement — so an accepted change is always a durable one.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09 · VERIFICATION</a:t>
            </a:r>
            <a:endParaRPr/>
          </a:p>
        </p:txBody>
      </p:sp>
      <p:sp>
        <p:nvSpPr>
          <p:cNvPr id="594" name="Google Shape;594;p10"/>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0F3A5F"/>
                </a:solidFill>
                <a:latin typeface="Arial"/>
                <a:ea typeface="Arial"/>
                <a:cs typeface="Arial"/>
                <a:sym typeface="Arial"/>
              </a:rPr>
              <a:t>Most of it is proven without hardware</a:t>
            </a:r>
            <a:endParaRPr/>
          </a:p>
        </p:txBody>
      </p:sp>
      <p:sp>
        <p:nvSpPr>
          <p:cNvPr id="595" name="Google Shape;595;p10"/>
          <p:cNvSpPr txBox="1"/>
          <p:nvPr/>
        </p:nvSpPr>
        <p:spPr>
          <a:xfrm>
            <a:off x="457200" y="1061212"/>
            <a:ext cx="11277569"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50">
                <a:solidFill>
                  <a:srgbClr val="5B6B77"/>
                </a:solidFill>
                <a:latin typeface="Arial"/>
                <a:ea typeface="Arial"/>
                <a:cs typeface="Arial"/>
                <a:sym typeface="Arial"/>
              </a:rPr>
              <a:t>Each level tests only what the level below it could not.</a:t>
            </a:r>
            <a:endParaRPr/>
          </a:p>
        </p:txBody>
      </p:sp>
      <p:sp>
        <p:nvSpPr>
          <p:cNvPr id="596" name="Google Shape;596;p10"/>
          <p:cNvSpPr/>
          <p:nvPr/>
        </p:nvSpPr>
        <p:spPr>
          <a:xfrm>
            <a:off x="502920" y="1700784"/>
            <a:ext cx="5486400" cy="1481328"/>
          </a:xfrm>
          <a:prstGeom prst="roundRect">
            <a:avLst>
              <a:gd fmla="val 4320" name="adj"/>
            </a:avLst>
          </a:prstGeom>
          <a:solidFill>
            <a:srgbClr val="EDF3F8"/>
          </a:solidFill>
          <a:ln cap="flat" cmpd="sng" w="9525">
            <a:solidFill>
              <a:srgbClr val="C4D8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0"/>
          <p:cNvSpPr txBox="1"/>
          <p:nvPr/>
        </p:nvSpPr>
        <p:spPr>
          <a:xfrm>
            <a:off x="640080" y="1801368"/>
            <a:ext cx="512064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0F3A5F"/>
                </a:solidFill>
                <a:latin typeface="Arial"/>
                <a:ea typeface="Arial"/>
                <a:cs typeface="Arial"/>
                <a:sym typeface="Arial"/>
              </a:rPr>
              <a:t>ON A HOST PC — NO HARDWARE NEEDED</a:t>
            </a:r>
            <a:endParaRPr/>
          </a:p>
        </p:txBody>
      </p:sp>
      <p:sp>
        <p:nvSpPr>
          <p:cNvPr id="598" name="Google Shape;598;p10"/>
          <p:cNvSpPr/>
          <p:nvPr/>
        </p:nvSpPr>
        <p:spPr>
          <a:xfrm>
            <a:off x="685800" y="2103120"/>
            <a:ext cx="2560320" cy="960120"/>
          </a:xfrm>
          <a:prstGeom prst="roundRect">
            <a:avLst>
              <a:gd fmla="val 5714"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10"/>
          <p:cNvSpPr txBox="1"/>
          <p:nvPr/>
        </p:nvSpPr>
        <p:spPr>
          <a:xfrm>
            <a:off x="758952" y="2272347"/>
            <a:ext cx="241401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2E75B6"/>
                </a:solidFill>
                <a:latin typeface="Arial"/>
                <a:ea typeface="Arial"/>
                <a:cs typeface="Arial"/>
                <a:sym typeface="Arial"/>
              </a:rPr>
              <a:t>Unit tests</a:t>
            </a:r>
            <a:endParaRPr/>
          </a:p>
        </p:txBody>
      </p:sp>
      <p:sp>
        <p:nvSpPr>
          <p:cNvPr id="600" name="Google Shape;600;p10"/>
          <p:cNvSpPr txBox="1"/>
          <p:nvPr/>
        </p:nvSpPr>
        <p:spPr>
          <a:xfrm>
            <a:off x="758952" y="2523680"/>
            <a:ext cx="241401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conversion boundaries · enum</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validation · CRC · tick wrap-around</a:t>
            </a:r>
            <a:endParaRPr/>
          </a:p>
        </p:txBody>
      </p:sp>
      <p:sp>
        <p:nvSpPr>
          <p:cNvPr id="601" name="Google Shape;601;p10"/>
          <p:cNvSpPr/>
          <p:nvPr/>
        </p:nvSpPr>
        <p:spPr>
          <a:xfrm>
            <a:off x="3429000" y="2103120"/>
            <a:ext cx="2377440" cy="960120"/>
          </a:xfrm>
          <a:prstGeom prst="roundRect">
            <a:avLst>
              <a:gd fmla="val 5714" name="adj"/>
            </a:avLst>
          </a:prstGeom>
          <a:solidFill>
            <a:srgbClr val="FFFFFF"/>
          </a:solidFill>
          <a:ln cap="flat" cmpd="sng" w="19050">
            <a:solidFill>
              <a:srgbClr val="2E75B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10"/>
          <p:cNvSpPr txBox="1"/>
          <p:nvPr/>
        </p:nvSpPr>
        <p:spPr>
          <a:xfrm>
            <a:off x="3502152" y="2272347"/>
            <a:ext cx="223113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2E75B6"/>
                </a:solidFill>
                <a:latin typeface="Arial"/>
                <a:ea typeface="Arial"/>
                <a:cs typeface="Arial"/>
                <a:sym typeface="Arial"/>
              </a:rPr>
              <a:t>Component tests</a:t>
            </a:r>
            <a:endParaRPr/>
          </a:p>
        </p:txBody>
      </p:sp>
      <p:sp>
        <p:nvSpPr>
          <p:cNvPr id="603" name="Google Shape;603;p10"/>
          <p:cNvSpPr txBox="1"/>
          <p:nvPr/>
        </p:nvSpPr>
        <p:spPr>
          <a:xfrm>
            <a:off x="3502152" y="2523680"/>
            <a:ext cx="2231136"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mock ADC / CAN / NVM · protocol</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encode and decode · every error path</a:t>
            </a:r>
            <a:endParaRPr/>
          </a:p>
        </p:txBody>
      </p:sp>
      <p:sp>
        <p:nvSpPr>
          <p:cNvPr id="604" name="Google Shape;604;p10"/>
          <p:cNvSpPr/>
          <p:nvPr/>
        </p:nvSpPr>
        <p:spPr>
          <a:xfrm>
            <a:off x="6199632" y="1700784"/>
            <a:ext cx="5486400" cy="1481328"/>
          </a:xfrm>
          <a:prstGeom prst="roundRect">
            <a:avLst>
              <a:gd fmla="val 4320" name="adj"/>
            </a:avLst>
          </a:prstGeom>
          <a:solidFill>
            <a:srgbClr val="FDF0E4"/>
          </a:solidFill>
          <a:ln cap="flat" cmpd="sng" w="9525">
            <a:solidFill>
              <a:srgbClr val="F2CF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10"/>
          <p:cNvSpPr txBox="1"/>
          <p:nvPr/>
        </p:nvSpPr>
        <p:spPr>
          <a:xfrm>
            <a:off x="6336792" y="1801368"/>
            <a:ext cx="5120640"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ON THE REAL MODULE</a:t>
            </a:r>
            <a:endParaRPr/>
          </a:p>
        </p:txBody>
      </p:sp>
      <p:sp>
        <p:nvSpPr>
          <p:cNvPr id="606" name="Google Shape;606;p10"/>
          <p:cNvSpPr/>
          <p:nvPr/>
        </p:nvSpPr>
        <p:spPr>
          <a:xfrm>
            <a:off x="6382512" y="2103120"/>
            <a:ext cx="2560320" cy="960120"/>
          </a:xfrm>
          <a:prstGeom prst="roundRect">
            <a:avLst>
              <a:gd fmla="val 5714"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10"/>
          <p:cNvSpPr txBox="1"/>
          <p:nvPr/>
        </p:nvSpPr>
        <p:spPr>
          <a:xfrm>
            <a:off x="6455664" y="2272347"/>
            <a:ext cx="2414015"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Integration tests</a:t>
            </a:r>
            <a:endParaRPr/>
          </a:p>
        </p:txBody>
      </p:sp>
      <p:sp>
        <p:nvSpPr>
          <p:cNvPr id="608" name="Google Shape;608;p10"/>
          <p:cNvSpPr txBox="1"/>
          <p:nvPr/>
        </p:nvSpPr>
        <p:spPr>
          <a:xfrm>
            <a:off x="6455664" y="2523680"/>
            <a:ext cx="2414015"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configure → commit → reset →</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measure → publish, on the target</a:t>
            </a:r>
            <a:endParaRPr/>
          </a:p>
        </p:txBody>
      </p:sp>
      <p:sp>
        <p:nvSpPr>
          <p:cNvPr id="609" name="Google Shape;609;p10"/>
          <p:cNvSpPr/>
          <p:nvPr/>
        </p:nvSpPr>
        <p:spPr>
          <a:xfrm>
            <a:off x="9125712" y="2103120"/>
            <a:ext cx="2377440" cy="960120"/>
          </a:xfrm>
          <a:prstGeom prst="roundRect">
            <a:avLst>
              <a:gd fmla="val 5714" name="adj"/>
            </a:avLst>
          </a:prstGeom>
          <a:solidFill>
            <a:srgbClr val="FFFFFF"/>
          </a:solidFill>
          <a:ln cap="flat" cmpd="sng" w="19050">
            <a:solidFill>
              <a:srgbClr val="E272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10"/>
          <p:cNvSpPr txBox="1"/>
          <p:nvPr/>
        </p:nvSpPr>
        <p:spPr>
          <a:xfrm>
            <a:off x="9198864" y="2272347"/>
            <a:ext cx="2231136" cy="269621"/>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1" i="0" lang="en-US" sz="1150">
                <a:solidFill>
                  <a:srgbClr val="E2721C"/>
                </a:solidFill>
                <a:latin typeface="Arial"/>
                <a:ea typeface="Arial"/>
                <a:cs typeface="Arial"/>
                <a:sym typeface="Arial"/>
              </a:rPr>
              <a:t>Hardware in the loop</a:t>
            </a:r>
            <a:endParaRPr/>
          </a:p>
        </p:txBody>
      </p:sp>
      <p:sp>
        <p:nvSpPr>
          <p:cNvPr id="611" name="Google Shape;611;p10"/>
          <p:cNvSpPr txBox="1"/>
          <p:nvPr/>
        </p:nvSpPr>
        <p:spPr>
          <a:xfrm>
            <a:off x="9198864" y="2523680"/>
            <a:ext cx="2231136" cy="370332"/>
          </a:xfrm>
          <a:prstGeom prst="rect">
            <a:avLst/>
          </a:prstGeom>
          <a:noFill/>
          <a:ln>
            <a:noFill/>
          </a:ln>
        </p:spPr>
        <p:txBody>
          <a:bodyPr anchorCtr="0" anchor="t" bIns="45700" lIns="45700" spcFirstLastPara="1" rIns="45700" wrap="square" tIns="45700">
            <a:noAutofit/>
          </a:bodyPr>
          <a:lstStyle/>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real analogue signals · a live CAN</a:t>
            </a:r>
            <a:endParaRPr/>
          </a:p>
          <a:p>
            <a:pPr indent="0" lvl="0" marL="0" marR="0" rtl="0" algn="ctr">
              <a:lnSpc>
                <a:spcPct val="101666"/>
              </a:lnSpc>
              <a:spcBef>
                <a:spcPts val="0"/>
              </a:spcBef>
              <a:spcAft>
                <a:spcPts val="0"/>
              </a:spcAft>
              <a:buNone/>
            </a:pPr>
            <a:r>
              <a:rPr b="0" i="0" lang="en-US" sz="900">
                <a:solidFill>
                  <a:srgbClr val="5B6B77"/>
                </a:solidFill>
                <a:latin typeface="Arial"/>
                <a:ea typeface="Arial"/>
                <a:cs typeface="Arial"/>
                <a:sym typeface="Arial"/>
              </a:rPr>
              <a:t>network · real power interruption</a:t>
            </a:r>
            <a:endParaRPr/>
          </a:p>
        </p:txBody>
      </p:sp>
      <p:sp>
        <p:nvSpPr>
          <p:cNvPr id="612" name="Google Shape;612;p10"/>
          <p:cNvSpPr txBox="1"/>
          <p:nvPr/>
        </p:nvSpPr>
        <p:spPr>
          <a:xfrm>
            <a:off x="457200" y="3401568"/>
            <a:ext cx="1118612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B3341F"/>
                </a:solidFill>
                <a:latin typeface="Arial"/>
                <a:ea typeface="Arial"/>
                <a:cs typeface="Arial"/>
                <a:sym typeface="Arial"/>
              </a:rPr>
              <a:t>FAULTS WE INJECT ON PURPOSE</a:t>
            </a:r>
            <a:endParaRPr/>
          </a:p>
        </p:txBody>
      </p:sp>
      <p:sp>
        <p:nvSpPr>
          <p:cNvPr id="613" name="Google Shape;613;p10"/>
          <p:cNvSpPr/>
          <p:nvPr/>
        </p:nvSpPr>
        <p:spPr>
          <a:xfrm>
            <a:off x="502920" y="3694176"/>
            <a:ext cx="11186129" cy="2139696"/>
          </a:xfrm>
          <a:prstGeom prst="roundRect">
            <a:avLst>
              <a:gd fmla="val 2991" name="adj"/>
            </a:avLst>
          </a:prstGeom>
          <a:solidFill>
            <a:srgbClr val="F5F8FA"/>
          </a:solidFill>
          <a:ln cap="flat" cmpd="sng" w="9525">
            <a:solidFill>
              <a:srgbClr val="D3DC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10"/>
          <p:cNvSpPr txBox="1"/>
          <p:nvPr/>
        </p:nvSpPr>
        <p:spPr>
          <a:xfrm>
            <a:off x="731520" y="3950208"/>
            <a:ext cx="2487168"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1C2B36"/>
                </a:solidFill>
                <a:latin typeface="Arial"/>
                <a:ea typeface="Arial"/>
                <a:cs typeface="Arial"/>
                <a:sym typeface="Arial"/>
              </a:rPr>
              <a:t>a value leaves its valid range</a:t>
            </a:r>
            <a:endParaRPr/>
          </a:p>
        </p:txBody>
      </p:sp>
      <p:sp>
        <p:nvSpPr>
          <p:cNvPr id="615" name="Google Shape;615;p10"/>
          <p:cNvSpPr txBox="1"/>
          <p:nvPr/>
        </p:nvSpPr>
        <p:spPr>
          <a:xfrm>
            <a:off x="3255264" y="3950208"/>
            <a:ext cx="265176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5B6B77"/>
                </a:solidFill>
                <a:latin typeface="Arial"/>
                <a:ea typeface="Arial"/>
                <a:cs typeface="Arial"/>
                <a:sym typeface="Arial"/>
              </a:rPr>
              <a:t>→  channel marked invalid, no value published</a:t>
            </a:r>
            <a:endParaRPr/>
          </a:p>
        </p:txBody>
      </p:sp>
      <p:sp>
        <p:nvSpPr>
          <p:cNvPr id="616" name="Google Shape;616;p10"/>
          <p:cNvSpPr txBox="1"/>
          <p:nvPr/>
        </p:nvSpPr>
        <p:spPr>
          <a:xfrm>
            <a:off x="6236207" y="3950208"/>
            <a:ext cx="2487168"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1C2B36"/>
                </a:solidFill>
                <a:latin typeface="Arial"/>
                <a:ea typeface="Arial"/>
                <a:cs typeface="Arial"/>
                <a:sym typeface="Arial"/>
              </a:rPr>
              <a:t>an unknown or malformed command</a:t>
            </a:r>
            <a:endParaRPr/>
          </a:p>
        </p:txBody>
      </p:sp>
      <p:sp>
        <p:nvSpPr>
          <p:cNvPr id="617" name="Google Shape;617;p10"/>
          <p:cNvSpPr txBox="1"/>
          <p:nvPr/>
        </p:nvSpPr>
        <p:spPr>
          <a:xfrm>
            <a:off x="8759951" y="3950208"/>
            <a:ext cx="265176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5B6B77"/>
                </a:solidFill>
                <a:latin typeface="Arial"/>
                <a:ea typeface="Arial"/>
                <a:cs typeface="Arial"/>
                <a:sym typeface="Arial"/>
              </a:rPr>
              <a:t>→  rejected; the previous setting stays in force</a:t>
            </a:r>
            <a:endParaRPr/>
          </a:p>
        </p:txBody>
      </p:sp>
      <p:sp>
        <p:nvSpPr>
          <p:cNvPr id="618" name="Google Shape;618;p10"/>
          <p:cNvSpPr txBox="1"/>
          <p:nvPr/>
        </p:nvSpPr>
        <p:spPr>
          <a:xfrm>
            <a:off x="731520" y="4572000"/>
            <a:ext cx="2487168"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1C2B36"/>
                </a:solidFill>
                <a:latin typeface="Arial"/>
                <a:ea typeface="Arial"/>
                <a:cs typeface="Arial"/>
                <a:sym typeface="Arial"/>
              </a:rPr>
              <a:t>power is cut mid-commit</a:t>
            </a:r>
            <a:endParaRPr/>
          </a:p>
        </p:txBody>
      </p:sp>
      <p:sp>
        <p:nvSpPr>
          <p:cNvPr id="619" name="Google Shape;619;p10"/>
          <p:cNvSpPr txBox="1"/>
          <p:nvPr/>
        </p:nvSpPr>
        <p:spPr>
          <a:xfrm>
            <a:off x="3255264" y="4572000"/>
            <a:ext cx="265176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5B6B77"/>
                </a:solidFill>
                <a:latin typeface="Arial"/>
                <a:ea typeface="Arial"/>
                <a:cs typeface="Arial"/>
                <a:sym typeface="Arial"/>
              </a:rPr>
              <a:t>→  the previously committed copy is still active</a:t>
            </a:r>
            <a:endParaRPr/>
          </a:p>
        </p:txBody>
      </p:sp>
      <p:sp>
        <p:nvSpPr>
          <p:cNvPr id="620" name="Google Shape;620;p10"/>
          <p:cNvSpPr txBox="1"/>
          <p:nvPr/>
        </p:nvSpPr>
        <p:spPr>
          <a:xfrm>
            <a:off x="6236207" y="4572000"/>
            <a:ext cx="2487168"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1C2B36"/>
                </a:solidFill>
                <a:latin typeface="Arial"/>
                <a:ea typeface="Arial"/>
                <a:cs typeface="Arial"/>
                <a:sym typeface="Arial"/>
              </a:rPr>
              <a:t>both stored copies fail their CRC</a:t>
            </a:r>
            <a:endParaRPr/>
          </a:p>
        </p:txBody>
      </p:sp>
      <p:sp>
        <p:nvSpPr>
          <p:cNvPr id="621" name="Google Shape;621;p10"/>
          <p:cNvSpPr txBox="1"/>
          <p:nvPr/>
        </p:nvSpPr>
        <p:spPr>
          <a:xfrm>
            <a:off x="8759951" y="4572000"/>
            <a:ext cx="265176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5B6B77"/>
                </a:solidFill>
                <a:latin typeface="Arial"/>
                <a:ea typeface="Arial"/>
                <a:cs typeface="Arial"/>
                <a:sym typeface="Arial"/>
              </a:rPr>
              <a:t>→  safe defaults, and the fault is reported</a:t>
            </a:r>
            <a:endParaRPr/>
          </a:p>
        </p:txBody>
      </p:sp>
      <p:sp>
        <p:nvSpPr>
          <p:cNvPr id="622" name="Google Shape;622;p10"/>
          <p:cNvSpPr txBox="1"/>
          <p:nvPr/>
        </p:nvSpPr>
        <p:spPr>
          <a:xfrm>
            <a:off x="731520" y="5193792"/>
            <a:ext cx="2487168"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1C2B36"/>
                </a:solidFill>
                <a:latin typeface="Arial"/>
                <a:ea typeface="Arial"/>
                <a:cs typeface="Arial"/>
                <a:sym typeface="Arial"/>
              </a:rPr>
              <a:t>the CAN bus goes bus-off</a:t>
            </a:r>
            <a:endParaRPr/>
          </a:p>
        </p:txBody>
      </p:sp>
      <p:sp>
        <p:nvSpPr>
          <p:cNvPr id="623" name="Google Shape;623;p10"/>
          <p:cNvSpPr txBox="1"/>
          <p:nvPr/>
        </p:nvSpPr>
        <p:spPr>
          <a:xfrm>
            <a:off x="3255264" y="5193792"/>
            <a:ext cx="265176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5B6B77"/>
                </a:solidFill>
                <a:latin typeface="Arial"/>
                <a:ea typeface="Arial"/>
                <a:cs typeface="Arial"/>
                <a:sym typeface="Arial"/>
              </a:rPr>
              <a:t>→  acquisition continues; transmission recovers</a:t>
            </a:r>
            <a:endParaRPr/>
          </a:p>
        </p:txBody>
      </p:sp>
      <p:sp>
        <p:nvSpPr>
          <p:cNvPr id="624" name="Google Shape;624;p10"/>
          <p:cNvSpPr txBox="1"/>
          <p:nvPr/>
        </p:nvSpPr>
        <p:spPr>
          <a:xfrm>
            <a:off x="6236207" y="5193792"/>
            <a:ext cx="2487168"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1C2B36"/>
                </a:solidFill>
                <a:latin typeface="Arial"/>
                <a:ea typeface="Arial"/>
                <a:cs typeface="Arial"/>
                <a:sym typeface="Arial"/>
              </a:rPr>
              <a:t>a loop job overruns</a:t>
            </a:r>
            <a:endParaRPr/>
          </a:p>
        </p:txBody>
      </p:sp>
      <p:sp>
        <p:nvSpPr>
          <p:cNvPr id="625" name="Google Shape;625;p10"/>
          <p:cNvSpPr txBox="1"/>
          <p:nvPr/>
        </p:nvSpPr>
        <p:spPr>
          <a:xfrm>
            <a:off x="8759951" y="5193792"/>
            <a:ext cx="265176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00">
                <a:solidFill>
                  <a:srgbClr val="5B6B77"/>
                </a:solidFill>
                <a:latin typeface="Arial"/>
                <a:ea typeface="Arial"/>
                <a:cs typeface="Arial"/>
                <a:sym typeface="Arial"/>
              </a:rPr>
              <a:t>→  watchdog reset, with the reason recorded</a:t>
            </a:r>
            <a:endParaRPr/>
          </a:p>
        </p:txBody>
      </p:sp>
      <p:sp>
        <p:nvSpPr>
          <p:cNvPr id="626" name="Google Shape;626;p10"/>
          <p:cNvSpPr txBox="1"/>
          <p:nvPr/>
        </p:nvSpPr>
        <p:spPr>
          <a:xfrm>
            <a:off x="457200" y="5998464"/>
            <a:ext cx="11186129" cy="23774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000">
                <a:solidFill>
                  <a:srgbClr val="0F3A5F"/>
                </a:solidFill>
                <a:latin typeface="Arial"/>
                <a:ea typeface="Arial"/>
                <a:cs typeface="Arial"/>
                <a:sym typeface="Arial"/>
              </a:rPr>
              <a:t>Every fault response written into the architecture is a test case — if the design claims a behaviour, something exercises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740"/>
        </a:solidFill>
      </p:bgPr>
    </p:bg>
    <p:spTree>
      <p:nvGrpSpPr>
        <p:cNvPr id="631" name="Shape 631"/>
        <p:cNvGrpSpPr/>
        <p:nvPr/>
      </p:nvGrpSpPr>
      <p:grpSpPr>
        <a:xfrm>
          <a:off x="0" y="0"/>
          <a:ext cx="0" cy="0"/>
          <a:chOff x="0" y="0"/>
          <a:chExt cx="0" cy="0"/>
        </a:xfrm>
      </p:grpSpPr>
      <p:sp>
        <p:nvSpPr>
          <p:cNvPr id="632" name="Google Shape;632;p11"/>
          <p:cNvSpPr/>
          <p:nvPr/>
        </p:nvSpPr>
        <p:spPr>
          <a:xfrm>
            <a:off x="0" y="0"/>
            <a:ext cx="12191969" cy="6858000"/>
          </a:xfrm>
          <a:prstGeom prst="rect">
            <a:avLst/>
          </a:prstGeom>
          <a:solidFill>
            <a:srgbClr val="0A274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11"/>
          <p:cNvSpPr txBox="1"/>
          <p:nvPr/>
        </p:nvSpPr>
        <p:spPr>
          <a:xfrm>
            <a:off x="457200" y="365760"/>
            <a:ext cx="11186129" cy="201168"/>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10 · CONCLUSION</a:t>
            </a:r>
            <a:endParaRPr/>
          </a:p>
        </p:txBody>
      </p:sp>
      <p:sp>
        <p:nvSpPr>
          <p:cNvPr id="634" name="Google Shape;634;p11"/>
          <p:cNvSpPr txBox="1"/>
          <p:nvPr/>
        </p:nvSpPr>
        <p:spPr>
          <a:xfrm>
            <a:off x="457200" y="603504"/>
            <a:ext cx="11277569" cy="49428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2600">
                <a:solidFill>
                  <a:srgbClr val="FFFFFF"/>
                </a:solidFill>
                <a:latin typeface="Arial"/>
                <a:ea typeface="Arial"/>
                <a:cs typeface="Arial"/>
                <a:sym typeface="Arial"/>
              </a:rPr>
              <a:t>What the design guarantees — and what it does not</a:t>
            </a:r>
            <a:endParaRPr/>
          </a:p>
        </p:txBody>
      </p:sp>
      <p:sp>
        <p:nvSpPr>
          <p:cNvPr id="635" name="Google Shape;635;p11"/>
          <p:cNvSpPr txBox="1"/>
          <p:nvPr/>
        </p:nvSpPr>
        <p:spPr>
          <a:xfrm>
            <a:off x="457200" y="1481328"/>
            <a:ext cx="1118612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WHAT THE DESIGN GUARANTEES</a:t>
            </a:r>
            <a:endParaRPr/>
          </a:p>
        </p:txBody>
      </p:sp>
      <p:sp>
        <p:nvSpPr>
          <p:cNvPr id="636" name="Google Shape;636;p11"/>
          <p:cNvSpPr/>
          <p:nvPr/>
        </p:nvSpPr>
        <p:spPr>
          <a:xfrm>
            <a:off x="502920" y="1773936"/>
            <a:ext cx="2076328" cy="1481328"/>
          </a:xfrm>
          <a:prstGeom prst="roundRect">
            <a:avLst>
              <a:gd fmla="val 4320"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11"/>
          <p:cNvSpPr txBox="1"/>
          <p:nvPr/>
        </p:nvSpPr>
        <p:spPr>
          <a:xfrm>
            <a:off x="658368" y="1934870"/>
            <a:ext cx="1765432"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FFFFFF"/>
                </a:solidFill>
                <a:latin typeface="Arial"/>
                <a:ea typeface="Arial"/>
                <a:cs typeface="Arial"/>
                <a:sym typeface="Arial"/>
              </a:rPr>
              <a:t>One pipeline</a:t>
            </a:r>
            <a:endParaRPr/>
          </a:p>
        </p:txBody>
      </p:sp>
      <p:sp>
        <p:nvSpPr>
          <p:cNvPr id="638" name="Google Shape;638;p11"/>
          <p:cNvSpPr txBox="1"/>
          <p:nvPr/>
        </p:nvSpPr>
        <p:spPr>
          <a:xfrm>
            <a:off x="658368" y="2177059"/>
            <a:ext cx="1765432" cy="68021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C6D6E4"/>
                </a:solidFill>
                <a:latin typeface="Arial"/>
                <a:ea typeface="Arial"/>
                <a:cs typeface="Arial"/>
                <a:sym typeface="Arial"/>
              </a:rPr>
              <a:t>Four channels, one scan. The configured type chooses the meaning, not the code path.</a:t>
            </a:r>
            <a:endParaRPr/>
          </a:p>
        </p:txBody>
      </p:sp>
      <p:sp>
        <p:nvSpPr>
          <p:cNvPr id="639" name="Google Shape;639;p11"/>
          <p:cNvSpPr/>
          <p:nvPr/>
        </p:nvSpPr>
        <p:spPr>
          <a:xfrm>
            <a:off x="2780416" y="1773936"/>
            <a:ext cx="2076328" cy="1481328"/>
          </a:xfrm>
          <a:prstGeom prst="roundRect">
            <a:avLst>
              <a:gd fmla="val 4320"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11"/>
          <p:cNvSpPr txBox="1"/>
          <p:nvPr/>
        </p:nvSpPr>
        <p:spPr>
          <a:xfrm>
            <a:off x="2935864" y="1934870"/>
            <a:ext cx="1765432"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FFFFFF"/>
                </a:solidFill>
                <a:latin typeface="Arial"/>
                <a:ea typeface="Arial"/>
                <a:cs typeface="Arial"/>
                <a:sym typeface="Arial"/>
              </a:rPr>
              <a:t>One owner per state</a:t>
            </a:r>
            <a:endParaRPr/>
          </a:p>
        </p:txBody>
      </p:sp>
      <p:sp>
        <p:nvSpPr>
          <p:cNvPr id="641" name="Google Shape;641;p11"/>
          <p:cNvSpPr txBox="1"/>
          <p:nvPr/>
        </p:nvSpPr>
        <p:spPr>
          <a:xfrm>
            <a:off x="2935864" y="2177059"/>
            <a:ext cx="1765432" cy="38582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C6D6E4"/>
                </a:solidFill>
                <a:latin typeface="Arial"/>
                <a:ea typeface="Arial"/>
                <a:cs typeface="Arial"/>
                <a:sym typeface="Arial"/>
              </a:rPr>
              <a:t>No service writes another service's data.</a:t>
            </a:r>
            <a:endParaRPr/>
          </a:p>
        </p:txBody>
      </p:sp>
      <p:sp>
        <p:nvSpPr>
          <p:cNvPr id="642" name="Google Shape;642;p11"/>
          <p:cNvSpPr/>
          <p:nvPr/>
        </p:nvSpPr>
        <p:spPr>
          <a:xfrm>
            <a:off x="5057912" y="1773936"/>
            <a:ext cx="2076328" cy="1481328"/>
          </a:xfrm>
          <a:prstGeom prst="roundRect">
            <a:avLst>
              <a:gd fmla="val 4320"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11"/>
          <p:cNvSpPr txBox="1"/>
          <p:nvPr/>
        </p:nvSpPr>
        <p:spPr>
          <a:xfrm>
            <a:off x="5213360" y="1934870"/>
            <a:ext cx="1765432"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FFFFFF"/>
                </a:solidFill>
                <a:latin typeface="Arial"/>
                <a:ea typeface="Arial"/>
                <a:cs typeface="Arial"/>
                <a:sym typeface="Arial"/>
              </a:rPr>
              <a:t>Interfaces, not registers</a:t>
            </a:r>
            <a:endParaRPr/>
          </a:p>
        </p:txBody>
      </p:sp>
      <p:sp>
        <p:nvSpPr>
          <p:cNvPr id="644" name="Google Shape;644;p11"/>
          <p:cNvSpPr txBox="1"/>
          <p:nvPr/>
        </p:nvSpPr>
        <p:spPr>
          <a:xfrm>
            <a:off x="5213360" y="2355240"/>
            <a:ext cx="1765432" cy="533019"/>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C6D6E4"/>
                </a:solidFill>
                <a:latin typeface="Arial"/>
                <a:ea typeface="Arial"/>
                <a:cs typeface="Arial"/>
                <a:sym typeface="Arial"/>
              </a:rPr>
              <a:t>IAdc / ICan / INvm / ITimer, so every service runs on a host with mocks.</a:t>
            </a:r>
            <a:endParaRPr/>
          </a:p>
        </p:txBody>
      </p:sp>
      <p:sp>
        <p:nvSpPr>
          <p:cNvPr id="645" name="Google Shape;645;p11"/>
          <p:cNvSpPr/>
          <p:nvPr/>
        </p:nvSpPr>
        <p:spPr>
          <a:xfrm>
            <a:off x="7335408" y="1773936"/>
            <a:ext cx="2076328" cy="1481328"/>
          </a:xfrm>
          <a:prstGeom prst="roundRect">
            <a:avLst>
              <a:gd fmla="val 4320"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11"/>
          <p:cNvSpPr txBox="1"/>
          <p:nvPr/>
        </p:nvSpPr>
        <p:spPr>
          <a:xfrm>
            <a:off x="7490856" y="1934870"/>
            <a:ext cx="1765432" cy="44780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FFFFFF"/>
                </a:solidFill>
                <a:latin typeface="Arial"/>
                <a:ea typeface="Arial"/>
                <a:cs typeface="Arial"/>
                <a:sym typeface="Arial"/>
              </a:rPr>
              <a:t>Committed, not written</a:t>
            </a:r>
            <a:endParaRPr/>
          </a:p>
        </p:txBody>
      </p:sp>
      <p:sp>
        <p:nvSpPr>
          <p:cNvPr id="647" name="Google Shape;647;p11"/>
          <p:cNvSpPr txBox="1"/>
          <p:nvPr/>
        </p:nvSpPr>
        <p:spPr>
          <a:xfrm>
            <a:off x="7490856" y="2355240"/>
            <a:ext cx="1765432" cy="533019"/>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C6D6E4"/>
                </a:solidFill>
                <a:latin typeface="Arial"/>
                <a:ea typeface="Arial"/>
                <a:cs typeface="Arial"/>
                <a:sym typeface="Arial"/>
              </a:rPr>
              <a:t>CRC, a sequence number and a commit marker survive a power cut.</a:t>
            </a:r>
            <a:endParaRPr/>
          </a:p>
        </p:txBody>
      </p:sp>
      <p:sp>
        <p:nvSpPr>
          <p:cNvPr id="648" name="Google Shape;648;p11"/>
          <p:cNvSpPr/>
          <p:nvPr/>
        </p:nvSpPr>
        <p:spPr>
          <a:xfrm>
            <a:off x="9612904" y="1773936"/>
            <a:ext cx="2076328" cy="1481328"/>
          </a:xfrm>
          <a:prstGeom prst="roundRect">
            <a:avLst>
              <a:gd fmla="val 4320"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11"/>
          <p:cNvSpPr txBox="1"/>
          <p:nvPr/>
        </p:nvSpPr>
        <p:spPr>
          <a:xfrm>
            <a:off x="9768352" y="1934870"/>
            <a:ext cx="1765432"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FFFFFF"/>
                </a:solidFill>
                <a:latin typeface="Arial"/>
                <a:ea typeface="Arial"/>
                <a:cs typeface="Arial"/>
                <a:sym typeface="Arial"/>
              </a:rPr>
              <a:t>Faults stay visible</a:t>
            </a:r>
            <a:endParaRPr/>
          </a:p>
        </p:txBody>
      </p:sp>
      <p:sp>
        <p:nvSpPr>
          <p:cNvPr id="650" name="Google Shape;650;p11"/>
          <p:cNvSpPr txBox="1"/>
          <p:nvPr/>
        </p:nvSpPr>
        <p:spPr>
          <a:xfrm>
            <a:off x="9768352" y="2177059"/>
            <a:ext cx="1765432" cy="38582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950">
                <a:solidFill>
                  <a:srgbClr val="C6D6E4"/>
                </a:solidFill>
                <a:latin typeface="Arial"/>
                <a:ea typeface="Arial"/>
                <a:cs typeface="Arial"/>
                <a:sym typeface="Arial"/>
              </a:rPr>
              <a:t>A reading is never published without its status.</a:t>
            </a:r>
            <a:endParaRPr/>
          </a:p>
        </p:txBody>
      </p:sp>
      <p:sp>
        <p:nvSpPr>
          <p:cNvPr id="651" name="Google Shape;651;p11"/>
          <p:cNvSpPr txBox="1"/>
          <p:nvPr/>
        </p:nvSpPr>
        <p:spPr>
          <a:xfrm>
            <a:off x="457200" y="3511296"/>
            <a:ext cx="11186129" cy="219456"/>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900">
                <a:solidFill>
                  <a:srgbClr val="E2721C"/>
                </a:solidFill>
                <a:latin typeface="Arial"/>
                <a:ea typeface="Arial"/>
                <a:cs typeface="Arial"/>
                <a:sym typeface="Arial"/>
              </a:rPr>
              <a:t>OPEN QUESTIONS FOR THE SYSTEM OWNER</a:t>
            </a:r>
            <a:endParaRPr/>
          </a:p>
        </p:txBody>
      </p:sp>
      <p:sp>
        <p:nvSpPr>
          <p:cNvPr id="652" name="Google Shape;652;p11"/>
          <p:cNvSpPr txBox="1"/>
          <p:nvPr/>
        </p:nvSpPr>
        <p:spPr>
          <a:xfrm>
            <a:off x="457200" y="3822191"/>
            <a:ext cx="5486400" cy="3657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00">
                <a:solidFill>
                  <a:srgbClr val="C6D6E4"/>
                </a:solidFill>
                <a:latin typeface="Arial"/>
                <a:ea typeface="Arial"/>
                <a:cs typeface="Arial"/>
                <a:sym typeface="Arial"/>
              </a:rPr>
              <a:t>·   Exact CAN identifiers, cycle times and command/response layout.</a:t>
            </a:r>
            <a:endParaRPr/>
          </a:p>
        </p:txBody>
      </p:sp>
      <p:sp>
        <p:nvSpPr>
          <p:cNvPr id="653" name="Google Shape;653;p11"/>
          <p:cNvSpPr txBox="1"/>
          <p:nvPr/>
        </p:nvSpPr>
        <p:spPr>
          <a:xfrm>
            <a:off x="457200" y="4224528"/>
            <a:ext cx="5486400" cy="3657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00">
                <a:solidFill>
                  <a:srgbClr val="C6D6E4"/>
                </a:solidFill>
                <a:latin typeface="Arial"/>
                <a:ea typeface="Arial"/>
                <a:cs typeface="Arial"/>
                <a:sym typeface="Arial"/>
              </a:rPr>
              <a:t>·   Required accuracy and update rate for each sensor type.</a:t>
            </a:r>
            <a:endParaRPr/>
          </a:p>
        </p:txBody>
      </p:sp>
      <p:sp>
        <p:nvSpPr>
          <p:cNvPr id="654" name="Google Shape;654;p11"/>
          <p:cNvSpPr txBox="1"/>
          <p:nvPr/>
        </p:nvSpPr>
        <p:spPr>
          <a:xfrm>
            <a:off x="457200" y="4626864"/>
            <a:ext cx="5486400" cy="3657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00">
                <a:solidFill>
                  <a:srgbClr val="C6D6E4"/>
                </a:solidFill>
                <a:latin typeface="Arial"/>
                <a:ea typeface="Arial"/>
                <a:cs typeface="Arial"/>
                <a:sym typeface="Arial"/>
              </a:rPr>
              <a:t>·   Does the chosen MCU and front end support open / short detection?</a:t>
            </a:r>
            <a:endParaRPr/>
          </a:p>
        </p:txBody>
      </p:sp>
      <p:sp>
        <p:nvSpPr>
          <p:cNvPr id="655" name="Google Shape;655;p11"/>
          <p:cNvSpPr txBox="1"/>
          <p:nvPr/>
        </p:nvSpPr>
        <p:spPr>
          <a:xfrm>
            <a:off x="6199632" y="3822191"/>
            <a:ext cx="5486400" cy="3657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00">
                <a:solidFill>
                  <a:srgbClr val="C6D6E4"/>
                </a:solidFill>
                <a:latin typeface="Arial"/>
                <a:ea typeface="Arial"/>
                <a:cs typeface="Arial"/>
                <a:sym typeface="Arial"/>
              </a:rPr>
              <a:t>·   Expected configuration writes over life — this sizes NVM wear handling.</a:t>
            </a:r>
            <a:endParaRPr/>
          </a:p>
        </p:txBody>
      </p:sp>
      <p:sp>
        <p:nvSpPr>
          <p:cNvPr id="656" name="Google Shape;656;p11"/>
          <p:cNvSpPr txBox="1"/>
          <p:nvPr/>
        </p:nvSpPr>
        <p:spPr>
          <a:xfrm>
            <a:off x="6199632" y="4224528"/>
            <a:ext cx="5486400" cy="3657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00">
                <a:solidFill>
                  <a:srgbClr val="C6D6E4"/>
                </a:solidFill>
                <a:latin typeface="Arial"/>
                <a:ea typeface="Arial"/>
                <a:cs typeface="Arial"/>
                <a:sym typeface="Arial"/>
              </a:rPr>
              <a:t>·   Must the module accept a firmware update over CAN?</a:t>
            </a:r>
            <a:endParaRPr/>
          </a:p>
        </p:txBody>
      </p:sp>
      <p:sp>
        <p:nvSpPr>
          <p:cNvPr id="657" name="Google Shape;657;p11"/>
          <p:cNvSpPr txBox="1"/>
          <p:nvPr/>
        </p:nvSpPr>
        <p:spPr>
          <a:xfrm>
            <a:off x="6199632" y="4626864"/>
            <a:ext cx="5486400" cy="365760"/>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100">
                <a:solidFill>
                  <a:srgbClr val="C6D6E4"/>
                </a:solidFill>
                <a:latin typeface="Arial"/>
                <a:ea typeface="Arial"/>
                <a:cs typeface="Arial"/>
                <a:sym typeface="Arial"/>
              </a:rPr>
              <a:t>·   May a channel change type while the system is running?</a:t>
            </a:r>
            <a:endParaRPr/>
          </a:p>
        </p:txBody>
      </p:sp>
      <p:sp>
        <p:nvSpPr>
          <p:cNvPr id="658" name="Google Shape;658;p11"/>
          <p:cNvSpPr/>
          <p:nvPr/>
        </p:nvSpPr>
        <p:spPr>
          <a:xfrm>
            <a:off x="502920" y="5138928"/>
            <a:ext cx="11186129" cy="1005840"/>
          </a:xfrm>
          <a:prstGeom prst="roundRect">
            <a:avLst>
              <a:gd fmla="val 6363" name="adj"/>
            </a:avLst>
          </a:prstGeom>
          <a:solidFill>
            <a:srgbClr val="14395C"/>
          </a:solidFill>
          <a:ln cap="flat" cmpd="sng" w="9525">
            <a:solidFill>
              <a:srgbClr val="2756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11"/>
          <p:cNvSpPr txBox="1"/>
          <p:nvPr/>
        </p:nvSpPr>
        <p:spPr>
          <a:xfrm>
            <a:off x="658368" y="5299862"/>
            <a:ext cx="10875233" cy="269621"/>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1" i="0" lang="en-US" sz="1150">
                <a:solidFill>
                  <a:srgbClr val="FFFFFF"/>
                </a:solidFill>
                <a:latin typeface="Arial"/>
                <a:ea typeface="Arial"/>
                <a:cs typeface="Arial"/>
                <a:sym typeface="Arial"/>
              </a:rPr>
              <a:t>Honest limits</a:t>
            </a:r>
            <a:endParaRPr/>
          </a:p>
        </p:txBody>
      </p:sp>
      <p:sp>
        <p:nvSpPr>
          <p:cNvPr id="660" name="Google Shape;660;p11"/>
          <p:cNvSpPr txBox="1"/>
          <p:nvPr/>
        </p:nvSpPr>
        <p:spPr>
          <a:xfrm>
            <a:off x="658368" y="5542051"/>
            <a:ext cx="10875233" cy="416814"/>
          </a:xfrm>
          <a:prstGeom prst="rect">
            <a:avLst/>
          </a:prstGeom>
          <a:noFill/>
          <a:ln>
            <a:noFill/>
          </a:ln>
        </p:spPr>
        <p:txBody>
          <a:bodyPr anchorCtr="0" anchor="t" bIns="45700" lIns="45700" spcFirstLastPara="1" rIns="45700" wrap="square" tIns="45700">
            <a:noAutofit/>
          </a:bodyPr>
          <a:lstStyle/>
          <a:p>
            <a:pPr indent="0" lvl="0" marL="0" marR="0" rtl="0" algn="l">
              <a:lnSpc>
                <a:spcPct val="101666"/>
              </a:lnSpc>
              <a:spcBef>
                <a:spcPts val="0"/>
              </a:spcBef>
              <a:spcAft>
                <a:spcPts val="0"/>
              </a:spcAft>
              <a:buNone/>
            </a:pPr>
            <a:r>
              <a:rPr b="0" i="0" lang="en-US" sz="1050">
                <a:solidFill>
                  <a:srgbClr val="C6D6E4"/>
                </a:solidFill>
                <a:latin typeface="Arial"/>
                <a:ea typeface="Arial"/>
                <a:cs typeface="Arial"/>
                <a:sym typeface="Arial"/>
              </a:rPr>
              <a:t>Cycle times in this deck are illustrative — the real periods come from the system requirements. The flash programming detail follows the chosen microcontroller's data sheet, and open / short diagnostics are claimed only where the silicon actually supports them.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